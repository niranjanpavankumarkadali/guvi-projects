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Arim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792">
          <p15:clr>
            <a:srgbClr val="A4A3A4"/>
          </p15:clr>
        </p15:guide>
        <p15:guide id="2" pos="528">
          <p15:clr>
            <a:srgbClr val="A4A3A4"/>
          </p15:clr>
        </p15:guide>
        <p15:guide id="3" pos="7128">
          <p15:clr>
            <a:srgbClr val="A4A3A4"/>
          </p15:clr>
        </p15:guide>
        <p15:guide id="4" orient="horz" pos="2808">
          <p15:clr>
            <a:srgbClr val="A4A3A4"/>
          </p15:clr>
        </p15:guide>
        <p15:guide id="5" pos="2976">
          <p15:clr>
            <a:srgbClr val="A4A3A4"/>
          </p15:clr>
        </p15:guide>
        <p15:guide id="6" orient="horz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SUT0wMzARKr+TOjJmvbeCLUU5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92" orient="horz"/>
        <p:guide pos="528"/>
        <p:guide pos="7128"/>
        <p:guide pos="2808" orient="horz"/>
        <p:guide pos="2976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rgbClr val="0A4CA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7"/>
          <p:cNvPicPr preferRelativeResize="0"/>
          <p:nvPr/>
        </p:nvPicPr>
        <p:blipFill rotWithShape="1">
          <a:blip r:embed="rId3">
            <a:alphaModFix/>
          </a:blip>
          <a:srcRect b="49858" l="0" r="0" t="0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7"/>
          <p:cNvPicPr preferRelativeResize="0"/>
          <p:nvPr/>
        </p:nvPicPr>
        <p:blipFill rotWithShape="1">
          <a:blip r:embed="rId3">
            <a:alphaModFix/>
          </a:blip>
          <a:srcRect b="49858" l="0" r="34180" t="0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7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7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7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b="1" sz="2000" cap="none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41247" y="1536192"/>
            <a:ext cx="10479215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  <a:defRPr sz="8000">
                <a:solidFill>
                  <a:srgbClr val="F2F2F2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01">
  <p:cSld name="Title and content 0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 b="49999" l="50000" r="0" t="1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8"/>
          <p:cNvPicPr preferRelativeResize="0"/>
          <p:nvPr/>
        </p:nvPicPr>
        <p:blipFill rotWithShape="1">
          <a:blip r:embed="rId2">
            <a:alphaModFix/>
          </a:blip>
          <a:srcRect b="0" l="0" r="87659" t="83283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9452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8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8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8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41248" y="1536827"/>
            <a:ext cx="6556375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Char char="•"/>
              <a:defRPr sz="2800"/>
            </a:lvl1pPr>
            <a:lvl2pPr indent="-3619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24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2400"/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ith image 01">
  <p:cSld name="Section break with image 01">
    <p:bg>
      <p:bgPr>
        <a:solidFill>
          <a:srgbClr val="0A4CA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9"/>
          <p:cNvPicPr preferRelativeResize="0"/>
          <p:nvPr/>
        </p:nvPicPr>
        <p:blipFill rotWithShape="1">
          <a:blip r:embed="rId2">
            <a:alphaModFix/>
          </a:blip>
          <a:srcRect b="49999" l="50000" r="0" t="1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9"/>
          <p:cNvPicPr preferRelativeResize="0"/>
          <p:nvPr/>
        </p:nvPicPr>
        <p:blipFill rotWithShape="1">
          <a:blip r:embed="rId2">
            <a:alphaModFix/>
          </a:blip>
          <a:srcRect b="0" l="0" r="50000" t="83283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9452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9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9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9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9"/>
          <p:cNvSpPr/>
          <p:nvPr>
            <p:ph idx="2" type="pic"/>
          </p:nvPr>
        </p:nvSpPr>
        <p:spPr>
          <a:xfrm>
            <a:off x="6111240" y="2231136"/>
            <a:ext cx="6080760" cy="4626864"/>
          </a:xfrm>
          <a:prstGeom prst="rect">
            <a:avLst/>
          </a:prstGeom>
          <a:solidFill>
            <a:srgbClr val="0A4CA0"/>
          </a:solidFill>
          <a:ln>
            <a:noFill/>
          </a:ln>
        </p:spPr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841248" y="841248"/>
            <a:ext cx="6931152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b="1" sz="2000" cap="none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841247" y="1536192"/>
            <a:ext cx="6931152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  <a:defRPr sz="8000">
                <a:solidFill>
                  <a:srgbClr val="F2F2F2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02">
  <p:cSld name="Title and content 0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0"/>
          <p:cNvPicPr preferRelativeResize="0"/>
          <p:nvPr/>
        </p:nvPicPr>
        <p:blipFill rotWithShape="1">
          <a:blip r:embed="rId2">
            <a:alphaModFix/>
          </a:blip>
          <a:srcRect b="0" l="68908" r="0" t="0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2297076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0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9452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0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0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841248" y="1536827"/>
            <a:ext cx="6556375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02">
  <p:cSld name="Two content 0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1"/>
          <p:cNvPicPr preferRelativeResize="0"/>
          <p:nvPr/>
        </p:nvPicPr>
        <p:blipFill rotWithShape="1">
          <a:blip r:embed="rId2">
            <a:alphaModFix/>
          </a:blip>
          <a:srcRect b="0" l="87659" r="0" t="0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1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1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1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1"/>
          <p:cNvPicPr preferRelativeResize="0"/>
          <p:nvPr/>
        </p:nvPicPr>
        <p:blipFill rotWithShape="1">
          <a:blip r:embed="rId2">
            <a:alphaModFix/>
          </a:blip>
          <a:srcRect b="0" l="0" r="50000" t="83283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1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1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1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2" type="body"/>
          </p:nvPr>
        </p:nvSpPr>
        <p:spPr>
          <a:xfrm>
            <a:off x="4791456" y="1536827"/>
            <a:ext cx="5650992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03">
  <p:cSld name="Two content 03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2"/>
          <p:cNvPicPr preferRelativeResize="0"/>
          <p:nvPr/>
        </p:nvPicPr>
        <p:blipFill rotWithShape="1">
          <a:blip r:embed="rId2">
            <a:alphaModFix/>
          </a:blip>
          <a:srcRect b="0" l="0" r="50000" t="83283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2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2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2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2" type="body"/>
          </p:nvPr>
        </p:nvSpPr>
        <p:spPr>
          <a:xfrm>
            <a:off x="4727448" y="1536827"/>
            <a:ext cx="6592824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22"/>
          <p:cNvPicPr preferRelativeResize="0"/>
          <p:nvPr/>
        </p:nvPicPr>
        <p:blipFill rotWithShape="1">
          <a:blip r:embed="rId2">
            <a:alphaModFix/>
          </a:blip>
          <a:srcRect b="83148" l="87659" r="0" t="0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2"/>
          <p:cNvPicPr preferRelativeResize="0"/>
          <p:nvPr/>
        </p:nvPicPr>
        <p:blipFill rotWithShape="1">
          <a:blip r:embed="rId3">
            <a:alphaModFix/>
          </a:blip>
          <a:srcRect b="49444" l="0" r="34180" t="0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03">
  <p:cSld name="Title and content 0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3"/>
          <p:cNvPicPr preferRelativeResize="0"/>
          <p:nvPr/>
        </p:nvPicPr>
        <p:blipFill rotWithShape="1">
          <a:blip r:embed="rId2">
            <a:alphaModFix/>
          </a:blip>
          <a:srcRect b="49999" l="50000" r="0" t="1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3"/>
          <p:cNvPicPr preferRelativeResize="0"/>
          <p:nvPr/>
        </p:nvPicPr>
        <p:blipFill rotWithShape="1">
          <a:blip r:embed="rId2">
            <a:alphaModFix/>
          </a:blip>
          <a:srcRect b="0" l="0" r="50000" t="83283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9452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3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3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3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3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841248" y="1527048"/>
            <a:ext cx="10479024" cy="4498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04">
  <p:cSld name="Two content 0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4"/>
          <p:cNvPicPr preferRelativeResize="0"/>
          <p:nvPr/>
        </p:nvPicPr>
        <p:blipFill rotWithShape="1">
          <a:blip r:embed="rId2">
            <a:alphaModFix/>
          </a:blip>
          <a:srcRect b="0" l="87659" r="0" t="0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4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4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4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4"/>
          <p:cNvPicPr preferRelativeResize="0"/>
          <p:nvPr/>
        </p:nvPicPr>
        <p:blipFill rotWithShape="1">
          <a:blip r:embed="rId2">
            <a:alphaModFix/>
          </a:blip>
          <a:srcRect b="0" l="0" r="50000" t="83283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4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4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4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791456" y="1536827"/>
            <a:ext cx="5650992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AutoNum type="alphaLcPeriod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AutoNum type="romanLcPeriod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AutoNum type="arabicParenR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AutoNum type="alphaLcParenR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rgbClr val="0A4CA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5"/>
          <p:cNvPicPr preferRelativeResize="0"/>
          <p:nvPr/>
        </p:nvPicPr>
        <p:blipFill rotWithShape="1">
          <a:blip r:embed="rId3">
            <a:alphaModFix/>
          </a:blip>
          <a:srcRect b="49858" l="0" r="0" t="0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5"/>
          <p:cNvPicPr preferRelativeResize="0"/>
          <p:nvPr/>
        </p:nvPicPr>
        <p:blipFill rotWithShape="1">
          <a:blip r:embed="rId3">
            <a:alphaModFix/>
          </a:blip>
          <a:srcRect b="49858" l="0" r="34180" t="0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5"/>
          <p:cNvPicPr preferRelativeResize="0"/>
          <p:nvPr/>
        </p:nvPicPr>
        <p:blipFill rotWithShape="1">
          <a:blip r:embed="rId3">
            <a:alphaModFix/>
          </a:blip>
          <a:srcRect b="50186" l="0" r="0" t="1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5"/>
          <p:cNvPicPr preferRelativeResize="0"/>
          <p:nvPr/>
        </p:nvPicPr>
        <p:blipFill rotWithShape="1">
          <a:blip r:embed="rId3">
            <a:alphaModFix/>
          </a:blip>
          <a:srcRect b="50186" l="0" r="34180" t="0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5"/>
          <p:cNvSpPr txBox="1"/>
          <p:nvPr>
            <p:ph type="title"/>
          </p:nvPr>
        </p:nvSpPr>
        <p:spPr>
          <a:xfrm>
            <a:off x="841243" y="832104"/>
            <a:ext cx="10479088" cy="258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841375" y="3705309"/>
            <a:ext cx="10479088" cy="258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ith image 02">
  <p:cSld name="Section break with image 02">
    <p:bg>
      <p:bgPr>
        <a:solidFill>
          <a:srgbClr val="0A4CA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2">
            <a:alphaModFix/>
          </a:blip>
          <a:srcRect b="0" l="50000" r="0" t="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2297076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6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1354" y="9452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6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b="1" sz="2000" cap="none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841247" y="1536192"/>
            <a:ext cx="10479024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  <a:defRPr sz="8000">
                <a:solidFill>
                  <a:srgbClr val="F2F2F2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6"/>
          <p:cNvSpPr/>
          <p:nvPr>
            <p:ph idx="2" type="pic"/>
          </p:nvPr>
        </p:nvSpPr>
        <p:spPr>
          <a:xfrm>
            <a:off x="0" y="4462272"/>
            <a:ext cx="12188952" cy="2395728"/>
          </a:xfrm>
          <a:prstGeom prst="rect">
            <a:avLst/>
          </a:prstGeom>
          <a:solidFill>
            <a:srgbClr val="0F73EF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01">
  <p:cSld name="Two content 0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7"/>
          <p:cNvPicPr preferRelativeResize="0"/>
          <p:nvPr/>
        </p:nvPicPr>
        <p:blipFill rotWithShape="1">
          <a:blip r:embed="rId2">
            <a:alphaModFix/>
          </a:blip>
          <a:srcRect b="0" l="87659" r="0" t="0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7"/>
          <p:cNvPicPr preferRelativeResize="0"/>
          <p:nvPr/>
        </p:nvPicPr>
        <p:blipFill rotWithShape="1">
          <a:blip r:embed="rId3">
            <a:alphaModFix/>
          </a:blip>
          <a:srcRect b="50556" l="0" r="34180" t="0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7"/>
          <p:cNvPicPr preferRelativeResize="0"/>
          <p:nvPr/>
        </p:nvPicPr>
        <p:blipFill rotWithShape="1">
          <a:blip r:embed="rId3">
            <a:alphaModFix/>
          </a:blip>
          <a:srcRect b="0" l="0" r="34180" t="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7"/>
          <p:cNvPicPr preferRelativeResize="0"/>
          <p:nvPr/>
        </p:nvPicPr>
        <p:blipFill rotWithShape="1">
          <a:blip r:embed="rId3">
            <a:alphaModFix/>
          </a:blip>
          <a:srcRect b="0" l="0" r="34180" t="49515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2" type="body"/>
          </p:nvPr>
        </p:nvSpPr>
        <p:spPr>
          <a:xfrm>
            <a:off x="4791455" y="1536826"/>
            <a:ext cx="5650992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3" type="body"/>
          </p:nvPr>
        </p:nvSpPr>
        <p:spPr>
          <a:xfrm>
            <a:off x="4791456" y="2267712"/>
            <a:ext cx="5650992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 rotWithShape="1">
          <a:blip r:embed="rId2">
            <a:alphaModFix/>
          </a:blip>
          <a:srcRect b="0" l="0" r="0"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8"/>
          <p:cNvPicPr preferRelativeResize="0"/>
          <p:nvPr/>
        </p:nvPicPr>
        <p:blipFill rotWithShape="1">
          <a:blip r:embed="rId2">
            <a:alphaModFix/>
          </a:blip>
          <a:srcRect b="83396" l="0" r="68854" t="0"/>
          <a:stretch/>
        </p:blipFill>
        <p:spPr>
          <a:xfrm>
            <a:off x="0" y="12700"/>
            <a:ext cx="3797300" cy="113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8"/>
          <p:cNvPicPr preferRelativeResize="0"/>
          <p:nvPr/>
        </p:nvPicPr>
        <p:blipFill rotWithShape="1">
          <a:blip r:embed="rId3">
            <a:alphaModFix/>
          </a:blip>
          <a:srcRect b="49858" l="33598" r="0" t="0"/>
          <a:stretch/>
        </p:blipFill>
        <p:spPr>
          <a:xfrm>
            <a:off x="0" y="9452"/>
            <a:ext cx="1517954" cy="114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/>
          <p:cNvSpPr txBox="1"/>
          <p:nvPr>
            <p:ph type="title"/>
          </p:nvPr>
        </p:nvSpPr>
        <p:spPr>
          <a:xfrm>
            <a:off x="4764024" y="841248"/>
            <a:ext cx="6556248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/>
          <p:nvPr>
            <p:ph idx="2" type="pic"/>
          </p:nvPr>
        </p:nvSpPr>
        <p:spPr>
          <a:xfrm>
            <a:off x="0" y="836676"/>
            <a:ext cx="3785616" cy="5184648"/>
          </a:xfrm>
          <a:prstGeom prst="rect">
            <a:avLst/>
          </a:prstGeom>
          <a:solidFill>
            <a:srgbClr val="0F73EF"/>
          </a:solidFill>
          <a:ln>
            <a:noFill/>
          </a:ln>
        </p:spPr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4764023" y="1536827"/>
            <a:ext cx="6556247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ith image 03">
  <p:cSld name="Section break with image 03">
    <p:bg>
      <p:bgPr>
        <a:solidFill>
          <a:srgbClr val="0A4CA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/>
          <p:nvPr>
            <p:ph idx="2" type="pic"/>
          </p:nvPr>
        </p:nvSpPr>
        <p:spPr>
          <a:xfrm>
            <a:off x="6092952" y="0"/>
            <a:ext cx="6099048" cy="6876288"/>
          </a:xfrm>
          <a:prstGeom prst="rect">
            <a:avLst/>
          </a:prstGeom>
          <a:solidFill>
            <a:srgbClr val="0F73EF"/>
          </a:solidFill>
          <a:ln>
            <a:noFill/>
          </a:ln>
        </p:spPr>
      </p:sp>
      <p:sp>
        <p:nvSpPr>
          <p:cNvPr id="139" name="Google Shape;139;p29"/>
          <p:cNvSpPr txBox="1"/>
          <p:nvPr>
            <p:ph type="title"/>
          </p:nvPr>
        </p:nvSpPr>
        <p:spPr>
          <a:xfrm>
            <a:off x="841244" y="832104"/>
            <a:ext cx="6099048" cy="521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8401353" y="-1"/>
            <a:ext cx="3790650" cy="1155691"/>
          </a:xfrm>
          <a:prstGeom prst="rect">
            <a:avLst/>
          </a:prstGeom>
          <a:solidFill>
            <a:srgbClr val="0F73E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3" type="body"/>
          </p:nvPr>
        </p:nvSpPr>
        <p:spPr>
          <a:xfrm>
            <a:off x="-3" y="5727700"/>
            <a:ext cx="12192003" cy="1130300"/>
          </a:xfrm>
          <a:prstGeom prst="rect">
            <a:avLst/>
          </a:prstGeom>
          <a:solidFill>
            <a:srgbClr val="0F73E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4" type="body"/>
          </p:nvPr>
        </p:nvSpPr>
        <p:spPr>
          <a:xfrm>
            <a:off x="0" y="5724189"/>
            <a:ext cx="1503729" cy="1133811"/>
          </a:xfrm>
          <a:prstGeom prst="rect">
            <a:avLst/>
          </a:prstGeom>
          <a:solidFill>
            <a:srgbClr val="9EC7F9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5" type="body"/>
          </p:nvPr>
        </p:nvSpPr>
        <p:spPr>
          <a:xfrm>
            <a:off x="8401353" y="0"/>
            <a:ext cx="3790647" cy="1143002"/>
          </a:xfrm>
          <a:prstGeom prst="rect">
            <a:avLst/>
          </a:prstGeom>
          <a:solidFill>
            <a:srgbClr val="9EC7F9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indent="-314325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4" name="Google Shape;144;p29"/>
          <p:cNvPicPr preferRelativeResize="0"/>
          <p:nvPr/>
        </p:nvPicPr>
        <p:blipFill rotWithShape="1">
          <a:blip r:embed="rId2">
            <a:alphaModFix/>
          </a:blip>
          <a:srcRect b="83148" l="68908" r="0" t="0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ECF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1" type="ftr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</a:pPr>
            <a:br>
              <a:rPr lang="en-US"/>
            </a:br>
            <a:endParaRPr/>
          </a:p>
        </p:txBody>
      </p:sp>
      <p:sp>
        <p:nvSpPr>
          <p:cNvPr id="150" name="Google Shape;150;p1"/>
          <p:cNvSpPr txBox="1"/>
          <p:nvPr>
            <p:ph idx="1" type="body"/>
          </p:nvPr>
        </p:nvSpPr>
        <p:spPr>
          <a:xfrm>
            <a:off x="841247" y="1536192"/>
            <a:ext cx="10479215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</a:pPr>
            <a:r>
              <a:rPr lang="en-US"/>
              <a:t>Sales Performance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56" name="Google Shape;156;p2"/>
          <p:cNvSpPr txBox="1"/>
          <p:nvPr>
            <p:ph idx="1" type="body"/>
          </p:nvPr>
        </p:nvSpPr>
        <p:spPr>
          <a:xfrm>
            <a:off x="841248" y="1536827"/>
            <a:ext cx="6556375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47472" lvl="0" marL="347472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75000"/>
              <a:buChar char="•"/>
            </a:pPr>
            <a:r>
              <a:rPr lang="en-US"/>
              <a:t>ABC Electronics wants to assess its sales performance across different regions and product categories. The management needs a summarized report with visual insights to identify top-performing regions, products, and trends. </a:t>
            </a:r>
            <a:endParaRPr/>
          </a:p>
          <a:p>
            <a:pPr indent="-347472" lvl="0" marL="347472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75000"/>
              <a:buChar char="•"/>
            </a:pPr>
            <a:r>
              <a:rPr lang="en-US"/>
              <a:t>The task is to clean the data, analyze it using formulas, and create a basic dashboard that provides actionable insights</a:t>
            </a:r>
            <a:endParaRPr/>
          </a:p>
        </p:txBody>
      </p:sp>
      <p:sp>
        <p:nvSpPr>
          <p:cNvPr id="157" name="Google Shape;157;p2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841247" y="1536192"/>
            <a:ext cx="6931152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</a:pPr>
            <a:r>
              <a:rPr lang="en-US"/>
              <a:t>Business use cases </a:t>
            </a:r>
            <a:endParaRPr/>
          </a:p>
        </p:txBody>
      </p:sp>
      <p:pic>
        <p:nvPicPr>
          <p:cNvPr descr="Group of people looking at laptop" id="163" name="Google Shape;163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" l="0" r="0" t="12"/>
          <a:stretch/>
        </p:blipFill>
        <p:spPr>
          <a:xfrm>
            <a:off x="6111240" y="2231136"/>
            <a:ext cx="6080760" cy="4626864"/>
          </a:xfrm>
          <a:prstGeom prst="rect">
            <a:avLst/>
          </a:prstGeom>
          <a:solidFill>
            <a:srgbClr val="0A4CA0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CURRENT MARKET ANALYSIS</a:t>
            </a:r>
            <a:br>
              <a:rPr lang="en-US"/>
            </a:br>
            <a:endParaRPr/>
          </a:p>
        </p:txBody>
      </p:sp>
      <p:sp>
        <p:nvSpPr>
          <p:cNvPr id="169" name="Google Shape;169;p4"/>
          <p:cNvSpPr txBox="1"/>
          <p:nvPr>
            <p:ph idx="1" type="body"/>
          </p:nvPr>
        </p:nvSpPr>
        <p:spPr>
          <a:xfrm>
            <a:off x="841248" y="1536827"/>
            <a:ext cx="6556375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7472" lvl="0" marL="3474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lang="en-US"/>
              <a:t>Identifying top-performing regions and product categories.</a:t>
            </a:r>
            <a:endParaRPr/>
          </a:p>
          <a:p>
            <a:pPr indent="-347472" lvl="0" marL="347472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lang="en-US"/>
              <a:t>Understanding the impact of discounts on sales and profit margins.</a:t>
            </a:r>
            <a:endParaRPr/>
          </a:p>
          <a:p>
            <a:pPr indent="-347472" lvl="0" marL="347472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lang="en-US"/>
              <a:t>Providing actionable insights for marketing and inventory management.</a:t>
            </a:r>
            <a:endParaRPr/>
          </a:p>
          <a:p>
            <a:pPr indent="-347472" lvl="0" marL="347472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lang="en-US"/>
              <a:t>Monitoring key sales metrics for strategic decision-making.</a:t>
            </a:r>
            <a:endParaRPr/>
          </a:p>
        </p:txBody>
      </p:sp>
      <p:sp>
        <p:nvSpPr>
          <p:cNvPr id="170" name="Google Shape;170;p4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1: SEARCHING AND FILTERING DATA</a:t>
            </a:r>
            <a:br>
              <a:rPr b="0" lang="en-US"/>
            </a:br>
            <a:endParaRPr/>
          </a:p>
        </p:txBody>
      </p:sp>
      <p:sp>
        <p:nvSpPr>
          <p:cNvPr id="176" name="Google Shape;176;p5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Used filter option under sort and filter to search data in each column.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Filtered the dataset to find all orders placed in the "South" region for the "Electronics" category within the last year.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2130" y="1357019"/>
            <a:ext cx="7962280" cy="483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2: DATA CLEANING WITH TEXT FUNCTIONS</a:t>
            </a:r>
            <a:br>
              <a:rPr lang="en-US"/>
            </a:br>
            <a:endParaRPr/>
          </a:p>
        </p:txBody>
      </p:sp>
      <p:sp>
        <p:nvSpPr>
          <p:cNvPr id="183" name="Google Shape;183;p6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/>
              <a:t>Used TRIM, UPPER, PROPER functions to clean the data.</a:t>
            </a:r>
            <a:endParaRPr/>
          </a:p>
        </p:txBody>
      </p:sp>
      <p:sp>
        <p:nvSpPr>
          <p:cNvPr id="184" name="Google Shape;184;p6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screenshot of a spreadsheet&#10;&#10;AI-generated content may be incorrect."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658" y="1218614"/>
            <a:ext cx="7910245" cy="516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3:MERGING DATA</a:t>
            </a:r>
            <a:br>
              <a:rPr b="0" lang="en-US"/>
            </a:br>
            <a:br>
              <a:rPr lang="en-US"/>
            </a:br>
            <a:endParaRPr/>
          </a:p>
        </p:txBody>
      </p: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screenshot of a computer&#10;&#10;AI-generated content may be incorrect." id="192" name="Google Shape;19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338" y="1691149"/>
            <a:ext cx="6855230" cy="3266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841248" y="1582994"/>
            <a:ext cx="31309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the below formula to calculate avgsalesbyregion and merged it back to data set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=XLOOKUP([@[Region]], tblRegionAvg[Region], tblRegionAvg[AvgSales])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4: EXCEL FORMULAS</a:t>
            </a:r>
            <a:br>
              <a:rPr b="0" lang="en-US"/>
            </a:br>
            <a:endParaRPr/>
          </a:p>
        </p:txBody>
      </p:sp>
      <p:pic>
        <p:nvPicPr>
          <p:cNvPr descr="A screenshot of a computer&#10;&#10;AI-generated content may be incorrect." id="199" name="Google Shape;199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8726" y="1510798"/>
            <a:ext cx="5651500" cy="2265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916" y="4056120"/>
            <a:ext cx="7728155" cy="113475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334297" y="2163294"/>
            <a:ext cx="289068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sales by region: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=SUMIFS(tblSales[Sales Amount], tblSales[Region], "North")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discount for Furniture: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=AVERAGEIFS(tblSales[Discount (%)], tblSales[Product Category], "Furniture")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r>
              <a:t/>
            </a:r>
            <a:endParaRPr b="0"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profit for Furniture: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=AVERAGEIFS(tblSales[Profit], tblSales[Product Category], "Furniture")</a:t>
            </a:r>
            <a:endParaRPr b="0"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orders: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=COUNTIFS(tblSales[Region], "South", tblSales[Product Category], "Electronics")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5:PIVOT TABLES</a:t>
            </a:r>
            <a:br>
              <a:rPr b="0" lang="en-US"/>
            </a:br>
            <a:endParaRPr/>
          </a:p>
        </p:txBody>
      </p:sp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841248" y="1536828"/>
            <a:ext cx="2862072" cy="285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Created a Pivot Table to summarize total sales and profit by region and product category. Added slicers to filter by region or category dynamically.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spreadsheet&#10;&#10;AI-generated content may be incorrect." id="208" name="Google Shape;208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2249" y="1630731"/>
            <a:ext cx="5651500" cy="275803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6:CHARTS</a:t>
            </a:r>
            <a:br>
              <a:rPr b="0" lang="en-US"/>
            </a:br>
            <a:endParaRPr/>
          </a:p>
        </p:txBody>
      </p:sp>
      <p:sp>
        <p:nvSpPr>
          <p:cNvPr id="215" name="Google Shape;215;p10"/>
          <p:cNvSpPr txBox="1"/>
          <p:nvPr>
            <p:ph idx="1" type="body"/>
          </p:nvPr>
        </p:nvSpPr>
        <p:spPr>
          <a:xfrm>
            <a:off x="841248" y="1536827"/>
            <a:ext cx="2862072" cy="3251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Created a </a:t>
            </a:r>
            <a:r>
              <a:rPr lang="en-US"/>
              <a:t>bar chart</a:t>
            </a:r>
            <a:r>
              <a:rPr b="0" lang="en-US"/>
              <a:t> showing total sales for each region.</a:t>
            </a:r>
            <a:br>
              <a:rPr b="0" lang="en-US"/>
            </a:br>
            <a:endParaRPr b="0"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Created a </a:t>
            </a:r>
            <a:r>
              <a:rPr lang="en-US"/>
              <a:t>pie chart</a:t>
            </a:r>
            <a:r>
              <a:rPr b="0" lang="en-US"/>
              <a:t> showing the percentage contribution of each product category to total sales.</a:t>
            </a:r>
            <a:endParaRPr/>
          </a:p>
        </p:txBody>
      </p:sp>
      <p:pic>
        <p:nvPicPr>
          <p:cNvPr descr="A screenshot of a spreadsheet&#10;&#10;AI-generated content may be incorrect." id="216" name="Google Shape;216;p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3006" y="1721292"/>
            <a:ext cx="5929569" cy="411074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7: REGRESSION ANALYSIS</a:t>
            </a:r>
            <a:br>
              <a:rPr b="0" lang="en-US"/>
            </a:br>
            <a:endParaRPr/>
          </a:p>
        </p:txBody>
      </p:sp>
      <p:sp>
        <p:nvSpPr>
          <p:cNvPr id="223" name="Google Shape;223;p11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Performed a simple regression analysis to understand the impact of Discount (%) on Sales Amount. Used a scatter plot to visualize the relationship.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224" name="Google Shape;224;p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256" y="1493005"/>
            <a:ext cx="5651500" cy="239922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8:STACKED BAR CHART</a:t>
            </a:r>
            <a:br>
              <a:rPr b="0" lang="en-US"/>
            </a:br>
            <a:endParaRPr/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Created a stacked bar chart showing total sales by region and product category.</a:t>
            </a:r>
            <a:endParaRPr/>
          </a:p>
        </p:txBody>
      </p:sp>
      <p:pic>
        <p:nvPicPr>
          <p:cNvPr descr="A screenshot of a spreadsheet&#10;&#10;AI-generated content may be incorrect." id="232" name="Google Shape;232;p1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074" y="1536827"/>
            <a:ext cx="6126861" cy="324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9:BASIC DASHBOARD</a:t>
            </a:r>
            <a:br>
              <a:rPr b="0" lang="en-US"/>
            </a:br>
            <a:endParaRPr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841248" y="1536827"/>
            <a:ext cx="2862072" cy="447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Created a dashboard showing key metrics (total sales, total profit, highest-selling product category).</a:t>
            </a:r>
            <a:br>
              <a:rPr b="0" lang="en-US"/>
            </a:br>
            <a:endParaRPr b="0"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Added interactive elements like slicers or dropdowns for dynamic filtering.</a:t>
            </a:r>
            <a:endParaRPr/>
          </a:p>
        </p:txBody>
      </p:sp>
      <p:pic>
        <p:nvPicPr>
          <p:cNvPr descr="A screenshot of a computer&#10;&#10;AI-generated content may be incorrect." id="240" name="Google Shape;240;p1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074" y="1248697"/>
            <a:ext cx="7086293" cy="476805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841248" y="841248"/>
            <a:ext cx="1047902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</a:pPr>
            <a:r>
              <a:rPr lang="en-US"/>
              <a:t>TASK 10:HIGHLIGHT HIGH PERFORMERS (CONDITIONAL FORMATTING)</a:t>
            </a:r>
            <a:br>
              <a:rPr b="0" lang="en-US"/>
            </a:br>
            <a:endParaRPr/>
          </a:p>
        </p:txBody>
      </p:sp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841248" y="1536827"/>
            <a:ext cx="2862072" cy="219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lang="en-US"/>
              <a:t>Used conditional formatting to highlight orders with a profit margin greater than 50% or sales amounts above ₹4000.</a:t>
            </a:r>
            <a:endParaRPr/>
          </a:p>
        </p:txBody>
      </p:sp>
      <p:pic>
        <p:nvPicPr>
          <p:cNvPr descr="A screenshot of a spreadsheet&#10;&#10;AI-generated content may be incorrect." id="248" name="Google Shape;248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075" y="1238865"/>
            <a:ext cx="7076460" cy="464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4"/>
          <p:cNvSpPr txBox="1"/>
          <p:nvPr>
            <p:ph idx="12" type="sldNum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959230" y="2660904"/>
            <a:ext cx="10479088" cy="258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2025-12-22T10:43:17Z</dcterms:created>
  <dc:creator>praveena relangi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