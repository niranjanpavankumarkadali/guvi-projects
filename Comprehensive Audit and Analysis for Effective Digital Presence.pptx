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43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5658FB-8132-432C-8EB2-3DD1CE2FAB08}"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2687980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658FB-8132-432C-8EB2-3DD1CE2FAB08}"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28389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5658FB-8132-432C-8EB2-3DD1CE2FAB08}"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32715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3402415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5658FB-8132-432C-8EB2-3DD1CE2FAB08}" type="datetimeFigureOut">
              <a:rPr lang="en-IN" smtClean="0"/>
              <a:t>11-08-2026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2405369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5658FB-8132-432C-8EB2-3DD1CE2FAB08}" type="datetimeFigureOut">
              <a:rPr lang="en-IN" smtClean="0"/>
              <a:t>11-08-2026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3265664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55658FB-8132-432C-8EB2-3DD1CE2FAB08}" type="datetimeFigureOut">
              <a:rPr lang="en-IN" smtClean="0"/>
              <a:t>11-08-2026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1348093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231175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3115158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2185300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601868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29704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5658FB-8132-432C-8EB2-3DD1CE2FAB08}"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3310026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55658FB-8132-432C-8EB2-3DD1CE2FAB08}" type="datetimeFigureOut">
              <a:rPr lang="en-IN" smtClean="0"/>
              <a:t>11-08-2026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1030842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55658FB-8132-432C-8EB2-3DD1CE2FAB08}" type="datetimeFigureOut">
              <a:rPr lang="en-IN" smtClean="0"/>
              <a:t>11-08-2026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1772043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658FB-8132-432C-8EB2-3DD1CE2FAB08}"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3288470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658FB-8132-432C-8EB2-3DD1CE2FAB08}"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7D21E8-AA4D-4ED9-92C9-6C4A8C721F39}" type="slidenum">
              <a:rPr lang="en-IN" smtClean="0"/>
              <a:t>‹#›</a:t>
            </a:fld>
            <a:endParaRPr lang="en-IN"/>
          </a:p>
        </p:txBody>
      </p:sp>
    </p:spTree>
    <p:extLst>
      <p:ext uri="{BB962C8B-B14F-4D97-AF65-F5344CB8AC3E}">
        <p14:creationId xmlns:p14="http://schemas.microsoft.com/office/powerpoint/2010/main" val="620244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55658FB-8132-432C-8EB2-3DD1CE2FAB08}" type="datetimeFigureOut">
              <a:rPr lang="en-IN" smtClean="0"/>
              <a:t>11-08-2026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47D21E8-AA4D-4ED9-92C9-6C4A8C721F39}" type="slidenum">
              <a:rPr lang="en-IN" smtClean="0"/>
              <a:t>‹#›</a:t>
            </a:fld>
            <a:endParaRPr lang="en-IN"/>
          </a:p>
        </p:txBody>
      </p:sp>
    </p:spTree>
    <p:extLst>
      <p:ext uri="{BB962C8B-B14F-4D97-AF65-F5344CB8AC3E}">
        <p14:creationId xmlns:p14="http://schemas.microsoft.com/office/powerpoint/2010/main" val="40790970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bing.com/ck/a?!&amp;&amp;p=c0bb2687585363f4e64e60655a044212f1d1f95ea3d079f84a48cb7119fec353JmltdHM9MTc3MzcwNTYwMA&amp;ptn=3&amp;ver=2&amp;hsh=4&amp;fclid=26cdaf22-3301-609e-0928-b973329a6190&amp;psq=zoho+company+details&amp;u=a1aHR0cHM6Ly9lbi53aWtpcGVkaWEub3JnL3dpa2kvWm9ob19Db3Jwb3JhdGlvbg&amp;ntb=1"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9C1C5-CB39-6B98-0AF5-7E4EE0292463}"/>
              </a:ext>
            </a:extLst>
          </p:cNvPr>
          <p:cNvSpPr>
            <a:spLocks noGrp="1"/>
          </p:cNvSpPr>
          <p:nvPr>
            <p:ph type="ctrTitle"/>
          </p:nvPr>
        </p:nvSpPr>
        <p:spPr>
          <a:xfrm>
            <a:off x="1974532" y="1463345"/>
            <a:ext cx="8689976" cy="2509213"/>
          </a:xfrm>
        </p:spPr>
        <p:txBody>
          <a:bodyPr>
            <a:normAutofit fontScale="90000"/>
          </a:bodyPr>
          <a:lstStyle/>
          <a:p>
            <a:r>
              <a:rPr lang="en-IN" b="1" dirty="0">
                <a:solidFill>
                  <a:schemeClr val="accent5"/>
                </a:solidFill>
              </a:rPr>
              <a:t>Comprehensive Audit and Analysis for Effective Digital Presence</a:t>
            </a:r>
            <a:br>
              <a:rPr lang="en-IN" b="1" dirty="0"/>
            </a:br>
            <a:endParaRPr lang="en-IN" dirty="0"/>
          </a:p>
        </p:txBody>
      </p:sp>
    </p:spTree>
    <p:extLst>
      <p:ext uri="{BB962C8B-B14F-4D97-AF65-F5344CB8AC3E}">
        <p14:creationId xmlns:p14="http://schemas.microsoft.com/office/powerpoint/2010/main" val="1361483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2B5695-42B3-A0C1-E025-216F770C8F89}"/>
              </a:ext>
            </a:extLst>
          </p:cNvPr>
          <p:cNvSpPr txBox="1"/>
          <p:nvPr/>
        </p:nvSpPr>
        <p:spPr>
          <a:xfrm>
            <a:off x="1002889" y="1309018"/>
            <a:ext cx="10048569" cy="3094758"/>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Description: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Symbol" panose="05050102010706020507" pitchFamily="18" charset="2"/>
              <a:buChar char=""/>
              <a:tabLst>
                <a:tab pos="457200" algn="l"/>
              </a:tabLst>
            </a:pPr>
            <a:r>
              <a:rPr lang="en-IN" sz="1600" kern="100" dirty="0">
                <a:solidFill>
                  <a:schemeClr val="tx1">
                    <a:lumMod val="85000"/>
                    <a:lumOff val="15000"/>
                  </a:schemeClr>
                </a:solidFill>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Zoho Corporation, originally founded as </a:t>
            </a:r>
            <a:r>
              <a:rPr lang="en-IN" sz="1600" kern="100" dirty="0" err="1">
                <a:solidFill>
                  <a:schemeClr val="tx1">
                    <a:lumMod val="85000"/>
                    <a:lumOff val="15000"/>
                  </a:schemeClr>
                </a:solidFill>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AdventNet</a:t>
            </a:r>
            <a:r>
              <a:rPr lang="en-IN" sz="1600" kern="100" dirty="0">
                <a:solidFill>
                  <a:schemeClr val="tx1">
                    <a:lumMod val="85000"/>
                    <a:lumOff val="15000"/>
                  </a:schemeClr>
                </a:solidFill>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 Inc. in 1996 by Sridhar Vembu and Tony Thomas in New Jersey, USA, is now headquartered in Chennai, Tamil Nadu, India, with offices in over 80 countries and its US headquarters in Austin, Texas.</a:t>
            </a:r>
            <a:endParaRPr lang="en-IN" sz="1600" kern="100" dirty="0">
              <a:solidFill>
                <a:schemeClr val="tx1">
                  <a:lumMod val="85000"/>
                  <a:lumOff val="15000"/>
                </a:schemeClr>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rPr>
              <a:t>Zoho is an Indian multinational technology company.</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rPr>
              <a:t>It develops cloud-based software for businesses.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rPr>
              <a:t>Popular products include CRM, email services, accounting software, and project management tools.</a:t>
            </a:r>
          </a:p>
          <a:p>
            <a:pPr marL="342900" lvl="0" indent="-342900">
              <a:lnSpc>
                <a:spcPct val="107000"/>
              </a:lnSpc>
              <a:spcAft>
                <a:spcPts val="800"/>
              </a:spcAft>
              <a:buSzPts val="1000"/>
              <a:buFont typeface="Symbol" panose="05050102010706020507" pitchFamily="18" charset="2"/>
              <a:buChar char=""/>
              <a:tabLst>
                <a:tab pos="457200" algn="l"/>
              </a:tabLst>
            </a:pPr>
            <a:r>
              <a:rPr lang="en-IN" sz="1600" kern="1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rPr>
              <a:t>Zoho helps companies manage operations digitally.</a:t>
            </a:r>
          </a:p>
          <a:p>
            <a:pPr marL="285750" indent="-285750">
              <a:buFont typeface="Arial" panose="020B0604020202020204" pitchFamily="34" charset="0"/>
              <a:buChar char="•"/>
            </a:pPr>
            <a:r>
              <a:rPr lang="en-IN" sz="16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Zoho employs over 10,000 people globally.</a:t>
            </a:r>
            <a:endParaRPr lang="en-IN" sz="1600" dirty="0">
              <a:solidFill>
                <a:schemeClr val="tx1">
                  <a:lumMod val="85000"/>
                  <a:lumOff val="15000"/>
                </a:schemeClr>
              </a:solidFill>
            </a:endParaRPr>
          </a:p>
        </p:txBody>
      </p:sp>
    </p:spTree>
    <p:extLst>
      <p:ext uri="{BB962C8B-B14F-4D97-AF65-F5344CB8AC3E}">
        <p14:creationId xmlns:p14="http://schemas.microsoft.com/office/powerpoint/2010/main" val="3760498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F3226-8C84-E49F-AD07-6AABF9523D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F1D337-F456-2D48-831A-5E03E51ED29D}"/>
              </a:ext>
            </a:extLst>
          </p:cNvPr>
          <p:cNvSpPr txBox="1"/>
          <p:nvPr/>
        </p:nvSpPr>
        <p:spPr>
          <a:xfrm>
            <a:off x="4493342" y="265471"/>
            <a:ext cx="3931383" cy="461665"/>
          </a:xfrm>
          <a:prstGeom prst="rect">
            <a:avLst/>
          </a:prstGeom>
          <a:noFill/>
        </p:spPr>
        <p:txBody>
          <a:bodyPr wrap="square" rtlCol="0">
            <a:spAutoFit/>
          </a:bodyPr>
          <a:lstStyle/>
          <a:p>
            <a:r>
              <a:rPr lang="en-IN" sz="2400" b="1" dirty="0"/>
              <a:t>Task -2 Website Audit Report</a:t>
            </a:r>
          </a:p>
        </p:txBody>
      </p:sp>
      <p:sp>
        <p:nvSpPr>
          <p:cNvPr id="3" name="TextBox 2">
            <a:extLst>
              <a:ext uri="{FF2B5EF4-FFF2-40B4-BE49-F238E27FC236}">
                <a16:creationId xmlns:a16="http://schemas.microsoft.com/office/drawing/2014/main" id="{736B8932-859F-7428-CC43-DB90868F83BD}"/>
              </a:ext>
            </a:extLst>
          </p:cNvPr>
          <p:cNvSpPr txBox="1"/>
          <p:nvPr/>
        </p:nvSpPr>
        <p:spPr>
          <a:xfrm>
            <a:off x="1661652" y="1415845"/>
            <a:ext cx="1763624" cy="646331"/>
          </a:xfrm>
          <a:prstGeom prst="rect">
            <a:avLst/>
          </a:prstGeom>
          <a:noFill/>
        </p:spPr>
        <p:txBody>
          <a:bodyPr wrap="none" rtlCol="0">
            <a:spAutoFit/>
          </a:bodyPr>
          <a:lstStyle/>
          <a:p>
            <a:r>
              <a:rPr lang="en-IN" dirty="0"/>
              <a:t>1️⃣ SEO Analysis</a:t>
            </a:r>
          </a:p>
          <a:p>
            <a:endParaRPr lang="en-IN" dirty="0"/>
          </a:p>
        </p:txBody>
      </p:sp>
      <p:sp>
        <p:nvSpPr>
          <p:cNvPr id="4" name="Rectangle 2">
            <a:extLst>
              <a:ext uri="{FF2B5EF4-FFF2-40B4-BE49-F238E27FC236}">
                <a16:creationId xmlns:a16="http://schemas.microsoft.com/office/drawing/2014/main" id="{11D9B046-0415-61A0-910E-19057807950A}"/>
              </a:ext>
            </a:extLst>
          </p:cNvPr>
          <p:cNvSpPr>
            <a:spLocks noChangeArrowheads="1"/>
          </p:cNvSpPr>
          <p:nvPr/>
        </p:nvSpPr>
        <p:spPr bwMode="auto">
          <a:xfrm>
            <a:off x="1661652" y="2394630"/>
            <a:ext cx="102791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Title tag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1">
            <a:extLst>
              <a:ext uri="{FF2B5EF4-FFF2-40B4-BE49-F238E27FC236}">
                <a16:creationId xmlns:a16="http://schemas.microsoft.com/office/drawing/2014/main" id="{00EF4CFF-E354-E7E7-D92C-ED24EB8F4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4607" y="3071738"/>
            <a:ext cx="7570838" cy="111680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FC5716BF-6CC5-B6EE-4527-AB4FA5D52B42}"/>
              </a:ext>
            </a:extLst>
          </p:cNvPr>
          <p:cNvSpPr>
            <a:spLocks noChangeArrowheads="1"/>
          </p:cNvSpPr>
          <p:nvPr/>
        </p:nvSpPr>
        <p:spPr bwMode="auto">
          <a:xfrm>
            <a:off x="0" y="1066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42520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BD179-6264-8677-36A5-95F1BC5159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8B0484-7A6A-D1CD-647A-C9C7918A6A54}"/>
              </a:ext>
            </a:extLst>
          </p:cNvPr>
          <p:cNvSpPr txBox="1"/>
          <p:nvPr/>
        </p:nvSpPr>
        <p:spPr>
          <a:xfrm>
            <a:off x="1917290" y="929398"/>
            <a:ext cx="8731045" cy="3430426"/>
          </a:xfrm>
          <a:prstGeom prst="rect">
            <a:avLst/>
          </a:prstGeom>
          <a:noFill/>
        </p:spPr>
        <p:txBody>
          <a:bodyPr wrap="square">
            <a:spAutoFit/>
          </a:bodyPr>
          <a:lstStyle/>
          <a:p>
            <a:pPr>
              <a:lnSpc>
                <a:spcPct val="107000"/>
              </a:lnSpc>
              <a:spcAft>
                <a:spcPts val="800"/>
              </a:spcAft>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SEO Audit – Meta Description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Meta Description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The website uses a well-optimized meta description.</a:t>
            </a:r>
          </a:p>
          <a:p>
            <a:pPr marL="342900" lvl="0" indent="-342900">
              <a:lnSpc>
                <a:spcPct val="107000"/>
              </a:lnSpc>
              <a:spcAft>
                <a:spcPts val="800"/>
              </a:spcAft>
              <a:buSzPts val="1000"/>
              <a:buFont typeface="Symbol" panose="05050102010706020507" pitchFamily="18" charset="2"/>
              <a:buChar char=""/>
              <a:tabLst>
                <a:tab pos="457200" algn="l"/>
              </a:tabLs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It clearly explains the purpose of the business.</a:t>
            </a:r>
          </a:p>
          <a:p>
            <a:pPr marL="342900" lvl="0" indent="-342900">
              <a:lnSpc>
                <a:spcPct val="107000"/>
              </a:lnSpc>
              <a:spcAft>
                <a:spcPts val="800"/>
              </a:spcAft>
              <a:buSzPts val="1000"/>
              <a:buFont typeface="Symbol" panose="05050102010706020507" pitchFamily="18" charset="2"/>
              <a:buChar char=""/>
              <a:tabLst>
                <a:tab pos="457200" algn="l"/>
              </a:tabLs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It includes important keywords like: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software suite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businesses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applications</a:t>
            </a:r>
          </a:p>
        </p:txBody>
      </p:sp>
      <p:pic>
        <p:nvPicPr>
          <p:cNvPr id="8" name="Picture 7">
            <a:extLst>
              <a:ext uri="{FF2B5EF4-FFF2-40B4-BE49-F238E27FC236}">
                <a16:creationId xmlns:a16="http://schemas.microsoft.com/office/drawing/2014/main" id="{3359E1BC-2B46-989D-5A7E-E98A2A70C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0758" y="3234673"/>
            <a:ext cx="30483" cy="388654"/>
          </a:xfrm>
          <a:prstGeom prst="rect">
            <a:avLst/>
          </a:prstGeom>
        </p:spPr>
      </p:pic>
      <p:pic>
        <p:nvPicPr>
          <p:cNvPr id="10" name="Picture 9">
            <a:extLst>
              <a:ext uri="{FF2B5EF4-FFF2-40B4-BE49-F238E27FC236}">
                <a16:creationId xmlns:a16="http://schemas.microsoft.com/office/drawing/2014/main" id="{5AA915C0-701A-60C5-DB7B-686710920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685" y="3076021"/>
            <a:ext cx="6019554" cy="3531255"/>
          </a:xfrm>
          <a:prstGeom prst="rect">
            <a:avLst/>
          </a:prstGeom>
        </p:spPr>
      </p:pic>
    </p:spTree>
    <p:extLst>
      <p:ext uri="{BB962C8B-B14F-4D97-AF65-F5344CB8AC3E}">
        <p14:creationId xmlns:p14="http://schemas.microsoft.com/office/powerpoint/2010/main" val="510013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8D819-DAF3-4102-D0A5-C8EEB9FBA9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B7537B-F808-4639-2DFA-BF917B196353}"/>
              </a:ext>
            </a:extLst>
          </p:cNvPr>
          <p:cNvSpPr txBox="1"/>
          <p:nvPr/>
        </p:nvSpPr>
        <p:spPr>
          <a:xfrm>
            <a:off x="1150375" y="1061883"/>
            <a:ext cx="5938684" cy="3354765"/>
          </a:xfrm>
          <a:prstGeom prst="rect">
            <a:avLst/>
          </a:prstGeom>
          <a:noFill/>
        </p:spPr>
        <p:txBody>
          <a:bodyPr wrap="square" rtlCol="0">
            <a:spAutoFit/>
          </a:bodyPr>
          <a:lstStyle/>
          <a:p>
            <a:r>
              <a:rPr lang="en-IN" b="1" dirty="0"/>
              <a:t>Keyword Analysis:</a:t>
            </a:r>
            <a:endParaRPr lang="en-IN" sz="1400" dirty="0"/>
          </a:p>
          <a:p>
            <a:pPr lvl="0"/>
            <a:r>
              <a:rPr lang="en-IN" dirty="0"/>
              <a:t>The website uses relevant and high-ranking keywords.</a:t>
            </a:r>
            <a:endParaRPr lang="en-IN" sz="1400" dirty="0"/>
          </a:p>
          <a:p>
            <a:pPr lvl="0"/>
            <a:r>
              <a:rPr lang="en-IN" dirty="0"/>
              <a:t>Keywords are related to business software and cloud solutions.</a:t>
            </a:r>
            <a:endParaRPr lang="en-IN" sz="1400" dirty="0"/>
          </a:p>
          <a:p>
            <a:pPr lvl="0"/>
            <a:r>
              <a:rPr lang="en-IN" dirty="0"/>
              <a:t>Primary keywords are well placed in:</a:t>
            </a:r>
            <a:endParaRPr lang="en-IN" sz="1400" dirty="0"/>
          </a:p>
          <a:p>
            <a:pPr marL="742950" lvl="1" indent="-285750">
              <a:buFont typeface="Arial" panose="020B0604020202020204" pitchFamily="34" charset="0"/>
              <a:buChar char="•"/>
            </a:pPr>
            <a:r>
              <a:rPr lang="en-IN" dirty="0"/>
              <a:t>Meta title</a:t>
            </a:r>
            <a:endParaRPr lang="en-IN" sz="1400" dirty="0"/>
          </a:p>
          <a:p>
            <a:pPr marL="742950" lvl="1" indent="-285750">
              <a:buFont typeface="Arial" panose="020B0604020202020204" pitchFamily="34" charset="0"/>
              <a:buChar char="•"/>
            </a:pPr>
            <a:r>
              <a:rPr lang="en-IN" dirty="0"/>
              <a:t>Meta description</a:t>
            </a:r>
            <a:endParaRPr lang="en-IN" sz="1400" dirty="0"/>
          </a:p>
          <a:p>
            <a:pPr marL="742950" lvl="1" indent="-285750">
              <a:buFont typeface="Arial" panose="020B0604020202020204" pitchFamily="34" charset="0"/>
              <a:buChar char="•"/>
            </a:pPr>
            <a:r>
              <a:rPr lang="en-IN" dirty="0"/>
              <a:t>Headings</a:t>
            </a:r>
          </a:p>
          <a:p>
            <a:pPr lvl="1"/>
            <a:endParaRPr lang="en-IN" sz="1400" dirty="0"/>
          </a:p>
          <a:p>
            <a:r>
              <a:rPr lang="en-IN" b="1" dirty="0"/>
              <a:t>Examples of Keywords:</a:t>
            </a:r>
            <a:endParaRPr lang="en-IN" sz="1400" dirty="0"/>
          </a:p>
          <a:p>
            <a:pPr lvl="0"/>
            <a:r>
              <a:rPr lang="en-IN" dirty="0"/>
              <a:t>CRM software</a:t>
            </a:r>
            <a:endParaRPr lang="en-IN" sz="1400" dirty="0"/>
          </a:p>
          <a:p>
            <a:pPr lvl="0"/>
            <a:r>
              <a:rPr lang="en-IN" dirty="0"/>
              <a:t>Business applications</a:t>
            </a:r>
            <a:endParaRPr lang="en-IN" sz="1400" dirty="0"/>
          </a:p>
          <a:p>
            <a:r>
              <a:rPr lang="en-IN" dirty="0"/>
              <a:t>Cloud-based solutions</a:t>
            </a:r>
          </a:p>
        </p:txBody>
      </p:sp>
      <p:sp>
        <p:nvSpPr>
          <p:cNvPr id="3" name="TextBox 2">
            <a:extLst>
              <a:ext uri="{FF2B5EF4-FFF2-40B4-BE49-F238E27FC236}">
                <a16:creationId xmlns:a16="http://schemas.microsoft.com/office/drawing/2014/main" id="{5BA491FE-651B-9936-DE55-C83A1B8B9E8A}"/>
              </a:ext>
            </a:extLst>
          </p:cNvPr>
          <p:cNvSpPr txBox="1"/>
          <p:nvPr/>
        </p:nvSpPr>
        <p:spPr>
          <a:xfrm>
            <a:off x="4739148" y="442452"/>
            <a:ext cx="3087064" cy="738664"/>
          </a:xfrm>
          <a:prstGeom prst="rect">
            <a:avLst/>
          </a:prstGeom>
          <a:noFill/>
        </p:spPr>
        <p:txBody>
          <a:bodyPr wrap="none" rtlCol="0">
            <a:spAutoFit/>
          </a:bodyPr>
          <a:lstStyle/>
          <a:p>
            <a:r>
              <a:rPr lang="en-IN" sz="2400" b="1" dirty="0"/>
              <a:t>SEO Audit – Keywords</a:t>
            </a:r>
            <a:endParaRPr lang="en-IN" sz="2400" dirty="0"/>
          </a:p>
          <a:p>
            <a:endParaRPr lang="en-IN" dirty="0"/>
          </a:p>
        </p:txBody>
      </p:sp>
      <p:pic>
        <p:nvPicPr>
          <p:cNvPr id="5" name="Picture 4">
            <a:extLst>
              <a:ext uri="{FF2B5EF4-FFF2-40B4-BE49-F238E27FC236}">
                <a16:creationId xmlns:a16="http://schemas.microsoft.com/office/drawing/2014/main" id="{4DFB52F5-28FB-C2A8-A637-A42FE577A3B5}"/>
              </a:ext>
            </a:extLst>
          </p:cNvPr>
          <p:cNvPicPr>
            <a:picLocks noChangeAspect="1"/>
          </p:cNvPicPr>
          <p:nvPr/>
        </p:nvPicPr>
        <p:blipFill>
          <a:blip r:embed="rId2"/>
          <a:stretch>
            <a:fillRect/>
          </a:stretch>
        </p:blipFill>
        <p:spPr>
          <a:xfrm>
            <a:off x="4979814" y="2583106"/>
            <a:ext cx="6641915" cy="2608326"/>
          </a:xfrm>
          <a:prstGeom prst="rect">
            <a:avLst/>
          </a:prstGeom>
        </p:spPr>
      </p:pic>
    </p:spTree>
    <p:extLst>
      <p:ext uri="{BB962C8B-B14F-4D97-AF65-F5344CB8AC3E}">
        <p14:creationId xmlns:p14="http://schemas.microsoft.com/office/powerpoint/2010/main" val="3873609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9D6A6-1320-5A95-EDFC-A63B36E44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B2753A-87F3-4455-9C96-5260A01FE902}"/>
              </a:ext>
            </a:extLst>
          </p:cNvPr>
          <p:cNvSpPr txBox="1"/>
          <p:nvPr/>
        </p:nvSpPr>
        <p:spPr>
          <a:xfrm>
            <a:off x="1101212" y="1102458"/>
            <a:ext cx="6096000" cy="2370329"/>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Heading Structure Analysis: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website uses a proper heading hierarchy.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Only one H1 tag is used, which is good for SEO.</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Multiple H2 and H3 tags are used to organize content.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Heading structure (H1, H2)</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682002A-34B0-5F28-B78D-097F7CFE4E52}"/>
              </a:ext>
            </a:extLst>
          </p:cNvPr>
          <p:cNvSpPr txBox="1"/>
          <p:nvPr/>
        </p:nvSpPr>
        <p:spPr>
          <a:xfrm>
            <a:off x="4581832" y="363794"/>
            <a:ext cx="4063933" cy="738664"/>
          </a:xfrm>
          <a:prstGeom prst="rect">
            <a:avLst/>
          </a:prstGeom>
          <a:noFill/>
        </p:spPr>
        <p:txBody>
          <a:bodyPr wrap="none" rtlCol="0">
            <a:spAutoFit/>
          </a:bodyPr>
          <a:lstStyle/>
          <a:p>
            <a:r>
              <a:rPr lang="en-IN" sz="2400" b="1" kern="100" dirty="0">
                <a:latin typeface="Calibri" panose="020F0502020204030204" pitchFamily="34" charset="0"/>
                <a:ea typeface="Calibri" panose="020F0502020204030204" pitchFamily="34" charset="0"/>
                <a:cs typeface="Times New Roman" panose="02020603050405020304" pitchFamily="18" charset="0"/>
              </a:rPr>
              <a:t>SEO Audit – Heading Structure</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D8D0E6E9-6C81-B4B1-2E2C-64351A1418FB}"/>
              </a:ext>
            </a:extLst>
          </p:cNvPr>
          <p:cNvPicPr>
            <a:picLocks noChangeAspect="1"/>
          </p:cNvPicPr>
          <p:nvPr/>
        </p:nvPicPr>
        <p:blipFill>
          <a:blip r:embed="rId2"/>
          <a:stretch>
            <a:fillRect/>
          </a:stretch>
        </p:blipFill>
        <p:spPr>
          <a:xfrm>
            <a:off x="2529840" y="3609471"/>
            <a:ext cx="5303520" cy="1203960"/>
          </a:xfrm>
          <a:prstGeom prst="rect">
            <a:avLst/>
          </a:prstGeom>
        </p:spPr>
      </p:pic>
    </p:spTree>
    <p:extLst>
      <p:ext uri="{BB962C8B-B14F-4D97-AF65-F5344CB8AC3E}">
        <p14:creationId xmlns:p14="http://schemas.microsoft.com/office/powerpoint/2010/main" val="3463713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3BBAE-9252-8E6E-88CE-177275DA5F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1139B8-1DD7-8D64-A029-BF5436F0241E}"/>
              </a:ext>
            </a:extLst>
          </p:cNvPr>
          <p:cNvSpPr txBox="1"/>
          <p:nvPr/>
        </p:nvSpPr>
        <p:spPr>
          <a:xfrm>
            <a:off x="1465007" y="1353693"/>
            <a:ext cx="5535561" cy="1868781"/>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Image SEO Analysis: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website contains 40 images.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All images have ALT attributes, which is good for SEO and accessibility.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However, image TITLE attributes are missing.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3FFD64C-73FD-99BF-AF9A-927B5A03C9AF}"/>
              </a:ext>
            </a:extLst>
          </p:cNvPr>
          <p:cNvSpPr txBox="1"/>
          <p:nvPr/>
        </p:nvSpPr>
        <p:spPr>
          <a:xfrm>
            <a:off x="4896465" y="511277"/>
            <a:ext cx="4255717" cy="461665"/>
          </a:xfrm>
          <a:prstGeom prst="rect">
            <a:avLst/>
          </a:prstGeom>
          <a:noFill/>
        </p:spPr>
        <p:txBody>
          <a:bodyPr wrap="none" rtlCol="0">
            <a:spAutoFit/>
          </a:bodyPr>
          <a:lstStyle/>
          <a:p>
            <a:r>
              <a:rPr lang="en-IN" sz="2400" b="1" kern="100" dirty="0">
                <a:latin typeface="Calibri" panose="020F0502020204030204" pitchFamily="34" charset="0"/>
                <a:ea typeface="Calibri" panose="020F0502020204030204" pitchFamily="34" charset="0"/>
                <a:cs typeface="Times New Roman" panose="02020603050405020304" pitchFamily="18" charset="0"/>
              </a:rPr>
              <a:t>SEO Audit – Image Optimization</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16095884-B8AE-1405-8D47-8CA1F2B20D3E}"/>
              </a:ext>
            </a:extLst>
          </p:cNvPr>
          <p:cNvPicPr>
            <a:picLocks noChangeAspect="1"/>
          </p:cNvPicPr>
          <p:nvPr/>
        </p:nvPicPr>
        <p:blipFill>
          <a:blip r:embed="rId2"/>
          <a:stretch>
            <a:fillRect/>
          </a:stretch>
        </p:blipFill>
        <p:spPr>
          <a:xfrm>
            <a:off x="7145547" y="1995993"/>
            <a:ext cx="5046453" cy="4553772"/>
          </a:xfrm>
          <a:prstGeom prst="rect">
            <a:avLst/>
          </a:prstGeom>
        </p:spPr>
      </p:pic>
    </p:spTree>
    <p:extLst>
      <p:ext uri="{BB962C8B-B14F-4D97-AF65-F5344CB8AC3E}">
        <p14:creationId xmlns:p14="http://schemas.microsoft.com/office/powerpoint/2010/main" val="231236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7A48E-FDE5-2915-EE83-0332DD10BE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54DD87-D2DA-D07F-64A3-404BB5BBA9A0}"/>
              </a:ext>
            </a:extLst>
          </p:cNvPr>
          <p:cNvSpPr txBox="1"/>
          <p:nvPr/>
        </p:nvSpPr>
        <p:spPr>
          <a:xfrm>
            <a:off x="4513006" y="442452"/>
            <a:ext cx="2363147" cy="461665"/>
          </a:xfrm>
          <a:prstGeom prst="rect">
            <a:avLst/>
          </a:prstGeom>
          <a:noFill/>
        </p:spPr>
        <p:txBody>
          <a:bodyPr wrap="none" rtlCol="0">
            <a:spAutoFit/>
          </a:bodyPr>
          <a:lstStyle/>
          <a:p>
            <a:r>
              <a:rPr lang="en-IN" sz="2400" b="1" dirty="0"/>
              <a:t> Page Speed Test</a:t>
            </a:r>
          </a:p>
        </p:txBody>
      </p:sp>
      <p:pic>
        <p:nvPicPr>
          <p:cNvPr id="3" name="Picture 2">
            <a:extLst>
              <a:ext uri="{FF2B5EF4-FFF2-40B4-BE49-F238E27FC236}">
                <a16:creationId xmlns:a16="http://schemas.microsoft.com/office/drawing/2014/main" id="{45CFF54D-1856-59E5-7EE9-A5F96FF10954}"/>
              </a:ext>
            </a:extLst>
          </p:cNvPr>
          <p:cNvPicPr>
            <a:picLocks noChangeAspect="1"/>
          </p:cNvPicPr>
          <p:nvPr/>
        </p:nvPicPr>
        <p:blipFill>
          <a:blip r:embed="rId2"/>
          <a:stretch>
            <a:fillRect/>
          </a:stretch>
        </p:blipFill>
        <p:spPr>
          <a:xfrm>
            <a:off x="605032" y="1205465"/>
            <a:ext cx="5731510" cy="2775585"/>
          </a:xfrm>
          <a:prstGeom prst="rect">
            <a:avLst/>
          </a:prstGeom>
        </p:spPr>
      </p:pic>
      <p:pic>
        <p:nvPicPr>
          <p:cNvPr id="4" name="Picture 3">
            <a:extLst>
              <a:ext uri="{FF2B5EF4-FFF2-40B4-BE49-F238E27FC236}">
                <a16:creationId xmlns:a16="http://schemas.microsoft.com/office/drawing/2014/main" id="{7A993558-3F3B-9028-0D7A-AEE30394812B}"/>
              </a:ext>
            </a:extLst>
          </p:cNvPr>
          <p:cNvPicPr>
            <a:picLocks noChangeAspect="1"/>
          </p:cNvPicPr>
          <p:nvPr/>
        </p:nvPicPr>
        <p:blipFill>
          <a:blip r:embed="rId3"/>
          <a:stretch>
            <a:fillRect/>
          </a:stretch>
        </p:blipFill>
        <p:spPr>
          <a:xfrm>
            <a:off x="6336542" y="1205466"/>
            <a:ext cx="5565058" cy="2973244"/>
          </a:xfrm>
          <a:prstGeom prst="rect">
            <a:avLst/>
          </a:prstGeom>
        </p:spPr>
      </p:pic>
    </p:spTree>
    <p:extLst>
      <p:ext uri="{BB962C8B-B14F-4D97-AF65-F5344CB8AC3E}">
        <p14:creationId xmlns:p14="http://schemas.microsoft.com/office/powerpoint/2010/main" val="1465386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E4C37-95DA-7B3C-990F-A324EFE713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DC1577-EBEA-5AF6-C7F2-5B55738F78F4}"/>
              </a:ext>
            </a:extLst>
          </p:cNvPr>
          <p:cNvSpPr txBox="1"/>
          <p:nvPr/>
        </p:nvSpPr>
        <p:spPr>
          <a:xfrm>
            <a:off x="1278193" y="1371223"/>
            <a:ext cx="6096000" cy="1971374"/>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Tool Used: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Responsive Design Checker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Analysis: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website is fully responsive across different screen sizes.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 adapts well to desktop, tablet, and mobile devices.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Content, images, and buttons are properly aligned.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6BD42A7-31A8-0812-C6CA-238786ABA413}"/>
              </a:ext>
            </a:extLst>
          </p:cNvPr>
          <p:cNvSpPr txBox="1"/>
          <p:nvPr/>
        </p:nvSpPr>
        <p:spPr>
          <a:xfrm>
            <a:off x="5024284" y="422787"/>
            <a:ext cx="3666709" cy="461665"/>
          </a:xfrm>
          <a:prstGeom prst="rect">
            <a:avLst/>
          </a:prstGeom>
          <a:noFill/>
        </p:spPr>
        <p:txBody>
          <a:bodyPr wrap="none" rtlCol="0">
            <a:spAutoFit/>
          </a:bodyPr>
          <a:lstStyle/>
          <a:p>
            <a:r>
              <a:rPr lang="en-IN" sz="2400" b="1" kern="100" dirty="0">
                <a:latin typeface="Calibri" panose="020F0502020204030204" pitchFamily="34" charset="0"/>
                <a:ea typeface="Calibri" panose="020F0502020204030204" pitchFamily="34" charset="0"/>
                <a:cs typeface="Times New Roman" panose="02020603050405020304" pitchFamily="18" charset="0"/>
              </a:rPr>
              <a:t>Responsive Design Analysis</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88618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1D541F-8653-773B-526F-4AB35D664FE4}"/>
              </a:ext>
            </a:extLst>
          </p:cNvPr>
          <p:cNvPicPr>
            <a:picLocks noChangeAspect="1"/>
          </p:cNvPicPr>
          <p:nvPr/>
        </p:nvPicPr>
        <p:blipFill>
          <a:blip r:embed="rId2"/>
          <a:stretch>
            <a:fillRect/>
          </a:stretch>
        </p:blipFill>
        <p:spPr>
          <a:xfrm>
            <a:off x="231406" y="567813"/>
            <a:ext cx="5186168" cy="2750945"/>
          </a:xfrm>
          <a:prstGeom prst="rect">
            <a:avLst/>
          </a:prstGeom>
        </p:spPr>
      </p:pic>
      <p:pic>
        <p:nvPicPr>
          <p:cNvPr id="6" name="Picture 5">
            <a:extLst>
              <a:ext uri="{FF2B5EF4-FFF2-40B4-BE49-F238E27FC236}">
                <a16:creationId xmlns:a16="http://schemas.microsoft.com/office/drawing/2014/main" id="{B8F0A2A2-6ED2-5712-6606-7F3A16A697C7}"/>
              </a:ext>
            </a:extLst>
          </p:cNvPr>
          <p:cNvPicPr>
            <a:picLocks noChangeAspect="1"/>
          </p:cNvPicPr>
          <p:nvPr/>
        </p:nvPicPr>
        <p:blipFill>
          <a:blip r:embed="rId3"/>
          <a:stretch>
            <a:fillRect/>
          </a:stretch>
        </p:blipFill>
        <p:spPr>
          <a:xfrm>
            <a:off x="5589989" y="567813"/>
            <a:ext cx="5569624" cy="2750945"/>
          </a:xfrm>
          <a:prstGeom prst="rect">
            <a:avLst/>
          </a:prstGeom>
        </p:spPr>
      </p:pic>
      <p:pic>
        <p:nvPicPr>
          <p:cNvPr id="2" name="Picture 1">
            <a:extLst>
              <a:ext uri="{FF2B5EF4-FFF2-40B4-BE49-F238E27FC236}">
                <a16:creationId xmlns:a16="http://schemas.microsoft.com/office/drawing/2014/main" id="{10A2735A-52BC-E171-AD57-A3F360E13FBE}"/>
              </a:ext>
            </a:extLst>
          </p:cNvPr>
          <p:cNvPicPr>
            <a:picLocks noChangeAspect="1"/>
          </p:cNvPicPr>
          <p:nvPr/>
        </p:nvPicPr>
        <p:blipFill>
          <a:blip r:embed="rId4"/>
          <a:stretch>
            <a:fillRect/>
          </a:stretch>
        </p:blipFill>
        <p:spPr>
          <a:xfrm>
            <a:off x="3525213" y="3539243"/>
            <a:ext cx="5731510" cy="2771775"/>
          </a:xfrm>
          <a:prstGeom prst="rect">
            <a:avLst/>
          </a:prstGeom>
        </p:spPr>
      </p:pic>
    </p:spTree>
    <p:extLst>
      <p:ext uri="{BB962C8B-B14F-4D97-AF65-F5344CB8AC3E}">
        <p14:creationId xmlns:p14="http://schemas.microsoft.com/office/powerpoint/2010/main" val="127717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D10481-A9D7-0508-B70E-B72FB3CD11C6}"/>
              </a:ext>
            </a:extLst>
          </p:cNvPr>
          <p:cNvSpPr txBox="1"/>
          <p:nvPr/>
        </p:nvSpPr>
        <p:spPr>
          <a:xfrm>
            <a:off x="4444181" y="334297"/>
            <a:ext cx="4089581" cy="461665"/>
          </a:xfrm>
          <a:prstGeom prst="rect">
            <a:avLst/>
          </a:prstGeom>
          <a:noFill/>
        </p:spPr>
        <p:txBody>
          <a:bodyPr wrap="none" rtlCol="0">
            <a:spAutoFit/>
          </a:bodyPr>
          <a:lstStyle/>
          <a:p>
            <a:r>
              <a:rPr lang="en-IN" sz="2400" b="1" dirty="0"/>
              <a:t>User Experience (UX) Analysis</a:t>
            </a:r>
            <a:endParaRPr lang="en-IN" sz="2400" dirty="0"/>
          </a:p>
        </p:txBody>
      </p:sp>
      <p:sp>
        <p:nvSpPr>
          <p:cNvPr id="3" name="Rectangle 2">
            <a:extLst>
              <a:ext uri="{FF2B5EF4-FFF2-40B4-BE49-F238E27FC236}">
                <a16:creationId xmlns:a16="http://schemas.microsoft.com/office/drawing/2014/main" id="{DDCF92F8-D5AD-B920-258B-5405F9A9D387}"/>
              </a:ext>
            </a:extLst>
          </p:cNvPr>
          <p:cNvSpPr>
            <a:spLocks noChangeArrowheads="1"/>
          </p:cNvSpPr>
          <p:nvPr/>
        </p:nvSpPr>
        <p:spPr bwMode="auto">
          <a:xfrm>
            <a:off x="1199535" y="11798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UX Analysis: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63C7C044-3F43-22F4-AB1B-FCB1E62A2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535" y="1637071"/>
            <a:ext cx="8051820" cy="452775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9B1E3EE-642F-E182-0A2E-8AE6E9D59818}"/>
              </a:ext>
            </a:extLst>
          </p:cNvPr>
          <p:cNvSpPr>
            <a:spLocks noChangeArrowheads="1"/>
          </p:cNvSpPr>
          <p:nvPr/>
        </p:nvSpPr>
        <p:spPr bwMode="auto">
          <a:xfrm>
            <a:off x="1199535" y="48596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251777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C1E67-EAFE-0122-79DD-FE7BE9B94E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9EDAF9-B00C-E485-18F3-9F869A6FF94B}"/>
              </a:ext>
            </a:extLst>
          </p:cNvPr>
          <p:cNvSpPr txBox="1"/>
          <p:nvPr/>
        </p:nvSpPr>
        <p:spPr>
          <a:xfrm>
            <a:off x="1290320" y="934720"/>
            <a:ext cx="5212080" cy="5495287"/>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Recommended Strategies: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SEO Strategy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Improve keyword optimization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 long-tail keywords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Increase internal linking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Content Marketing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Publish blogs and tutorials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Create video content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Add case studies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CBE5F6B-5342-8E01-D086-725BF697A854}"/>
              </a:ext>
            </a:extLst>
          </p:cNvPr>
          <p:cNvSpPr txBox="1"/>
          <p:nvPr/>
        </p:nvSpPr>
        <p:spPr>
          <a:xfrm>
            <a:off x="4003040" y="142240"/>
            <a:ext cx="3544560" cy="461665"/>
          </a:xfrm>
          <a:prstGeom prst="rect">
            <a:avLst/>
          </a:prstGeom>
          <a:noFill/>
        </p:spPr>
        <p:txBody>
          <a:bodyPr wrap="none" rtlCol="0">
            <a:spAutoFit/>
          </a:bodyPr>
          <a:lstStyle/>
          <a:p>
            <a:r>
              <a:rPr lang="en-IN" sz="2400" b="1" kern="100" dirty="0">
                <a:latin typeface="Calibri" panose="020F0502020204030204" pitchFamily="34" charset="0"/>
                <a:ea typeface="Calibri" panose="020F0502020204030204" pitchFamily="34" charset="0"/>
                <a:cs typeface="Times New Roman" panose="02020603050405020304" pitchFamily="18" charset="0"/>
              </a:rPr>
              <a:t>Digital Marketing Strategy</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DD232BE4-F1B3-7FA3-8F84-F24B004801F3}"/>
              </a:ext>
            </a:extLst>
          </p:cNvPr>
          <p:cNvSpPr txBox="1"/>
          <p:nvPr/>
        </p:nvSpPr>
        <p:spPr>
          <a:xfrm>
            <a:off x="6826240" y="1530339"/>
            <a:ext cx="4371005" cy="3797322"/>
          </a:xfrm>
          <a:prstGeom prst="rect">
            <a:avLst/>
          </a:prstGeom>
          <a:noFill/>
        </p:spPr>
        <p:txBody>
          <a:bodyPr wrap="none" rtlCol="0">
            <a:spAutoFit/>
          </a:bodyPr>
          <a:lstStyle/>
          <a:p>
            <a:pPr>
              <a:lnSpc>
                <a:spcPct val="107000"/>
              </a:lnSpc>
              <a:spcAft>
                <a:spcPts val="800"/>
              </a:spcAft>
              <a:buNone/>
            </a:pPr>
            <a:r>
              <a:rPr lang="en-IN" b="1" kern="100" dirty="0">
                <a:latin typeface="Calibri" panose="020F0502020204030204" pitchFamily="34" charset="0"/>
                <a:ea typeface="Calibri" panose="020F0502020204030204" pitchFamily="34" charset="0"/>
                <a:cs typeface="Times New Roman" panose="02020603050405020304" pitchFamily="18" charset="0"/>
              </a:rPr>
              <a:t>Social Media Marketing</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Increase engagement on social platforms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Post regularly</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Use video content</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br>
              <a:rPr lang="en-IN" kern="100" dirty="0">
                <a:latin typeface="Calibri" panose="020F0502020204030204" pitchFamily="34" charset="0"/>
                <a:ea typeface="Calibri" panose="020F0502020204030204" pitchFamily="34" charset="0"/>
                <a:cs typeface="Times New Roman" panose="02020603050405020304" pitchFamily="18" charset="0"/>
              </a:rPr>
            </a:b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b="1" kern="100" dirty="0">
                <a:latin typeface="Calibri" panose="020F0502020204030204" pitchFamily="34" charset="0"/>
                <a:ea typeface="Calibri" panose="020F0502020204030204" pitchFamily="34" charset="0"/>
                <a:cs typeface="Times New Roman" panose="02020603050405020304" pitchFamily="18" charset="0"/>
              </a:rPr>
              <a:t>Email Marketing</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Send personalized emails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Promote offers and free trials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Calibri" panose="020F0502020204030204" pitchFamily="34" charset="0"/>
                <a:ea typeface="Calibri" panose="020F0502020204030204" pitchFamily="34" charset="0"/>
                <a:cs typeface="Times New Roman" panose="02020603050405020304" pitchFamily="18" charset="0"/>
              </a:rPr>
              <a:t>Share newsletters</a:t>
            </a:r>
            <a:endParaRPr lang="en-IN" dirty="0"/>
          </a:p>
        </p:txBody>
      </p:sp>
    </p:spTree>
    <p:extLst>
      <p:ext uri="{BB962C8B-B14F-4D97-AF65-F5344CB8AC3E}">
        <p14:creationId xmlns:p14="http://schemas.microsoft.com/office/powerpoint/2010/main" val="3670413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E9576-D359-7AEC-32C1-F628DBFA18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C41066-1AB9-7FF3-9045-F09CB1EA44A3}"/>
              </a:ext>
            </a:extLst>
          </p:cNvPr>
          <p:cNvSpPr txBox="1"/>
          <p:nvPr/>
        </p:nvSpPr>
        <p:spPr>
          <a:xfrm>
            <a:off x="3322320" y="2184400"/>
            <a:ext cx="5759462" cy="646331"/>
          </a:xfrm>
          <a:prstGeom prst="rect">
            <a:avLst/>
          </a:prstGeom>
          <a:noFill/>
        </p:spPr>
        <p:txBody>
          <a:bodyPr wrap="none" rtlCol="0">
            <a:spAutoFit/>
          </a:bodyPr>
          <a:lstStyle/>
          <a:p>
            <a:r>
              <a:rPr lang="en-IN" dirty="0"/>
              <a:t>https://zohodemo6.wordpress.com/zoho-crm-landing-page/</a:t>
            </a:r>
          </a:p>
          <a:p>
            <a:endParaRPr lang="en-IN" dirty="0"/>
          </a:p>
        </p:txBody>
      </p:sp>
    </p:spTree>
    <p:extLst>
      <p:ext uri="{BB962C8B-B14F-4D97-AF65-F5344CB8AC3E}">
        <p14:creationId xmlns:p14="http://schemas.microsoft.com/office/powerpoint/2010/main" val="43318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AC1A1-018E-FBF8-B3C4-D583A3DE6D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E5E61B-F9D4-BA96-51D1-1F87145C5E30}"/>
              </a:ext>
            </a:extLst>
          </p:cNvPr>
          <p:cNvSpPr txBox="1"/>
          <p:nvPr/>
        </p:nvSpPr>
        <p:spPr>
          <a:xfrm>
            <a:off x="4445479" y="2248619"/>
            <a:ext cx="2656496" cy="830997"/>
          </a:xfrm>
          <a:prstGeom prst="rect">
            <a:avLst/>
          </a:prstGeom>
          <a:noFill/>
        </p:spPr>
        <p:txBody>
          <a:bodyPr wrap="none" rtlCol="0">
            <a:spAutoFit/>
          </a:bodyPr>
          <a:lstStyle/>
          <a:p>
            <a:r>
              <a:rPr lang="en-IN" sz="4800" dirty="0"/>
              <a:t>Thank you</a:t>
            </a:r>
          </a:p>
        </p:txBody>
      </p:sp>
    </p:spTree>
    <p:extLst>
      <p:ext uri="{BB962C8B-B14F-4D97-AF65-F5344CB8AC3E}">
        <p14:creationId xmlns:p14="http://schemas.microsoft.com/office/powerpoint/2010/main" val="329482925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92</TotalTime>
  <Words>411</Words>
  <Application>Microsoft Office PowerPoint</Application>
  <PresentationFormat>Widescreen</PresentationFormat>
  <Paragraphs>77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Symbol</vt:lpstr>
      <vt:lpstr>Tw Cen MT</vt:lpstr>
      <vt:lpstr>Droplet</vt:lpstr>
      <vt:lpstr>Comprehensive Audit and Analysis for Effective Digital Presence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praveena relangi</dc:creator>
  <cp:lastModifiedBy>praveena relangi</cp:lastModifiedBy>
  <cp:revision>2</cp:revision>
  <dcterms:created xsi:type="dcterms:W3CDTF">2026-03-18T10:06:02Z</dcterms:created>
  <dcterms:modified xsi:type="dcterms:W3CDTF">2026-08-11T15:12:27Z</dcterms:modified>
</cp:coreProperties>
</file>