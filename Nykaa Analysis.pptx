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Roboto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-2466927" y="-4280359"/>
            <a:ext cx="10812392" cy="10812392"/>
          </a:xfrm>
          <a:custGeom>
            <a:rect b="b" l="l" r="r" t="t"/>
            <a:pathLst>
              <a:path extrusionOk="0" h="10812392" w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-3407200" y="4432068"/>
            <a:ext cx="5764383" cy="5764383"/>
          </a:xfrm>
          <a:custGeom>
            <a:rect b="b" l="l" r="r" t="t"/>
            <a:pathLst>
              <a:path extrusionOk="0"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>
            <a:off x="57078" y="7902203"/>
            <a:ext cx="5764383" cy="5764383"/>
          </a:xfrm>
          <a:custGeom>
            <a:rect b="b" l="l" r="r" t="t"/>
            <a:pathLst>
              <a:path extrusionOk="0"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16206497" y="318060"/>
            <a:ext cx="1615554" cy="1615554"/>
          </a:xfrm>
          <a:custGeom>
            <a:rect b="b" l="l" r="r" t="t"/>
            <a:pathLst>
              <a:path extrusionOk="0" h="1615554" w="1615554">
                <a:moveTo>
                  <a:pt x="0" y="0"/>
                </a:moveTo>
                <a:lnTo>
                  <a:pt x="1615554" y="0"/>
                </a:lnTo>
                <a:lnTo>
                  <a:pt x="1615554" y="1615554"/>
                </a:lnTo>
                <a:lnTo>
                  <a:pt x="0" y="1615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3"/>
          <p:cNvSpPr txBox="1"/>
          <p:nvPr/>
        </p:nvSpPr>
        <p:spPr>
          <a:xfrm>
            <a:off x="7737291" y="4008481"/>
            <a:ext cx="8200458" cy="1502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32" u="none" cap="none" strike="noStrike">
                <a:solidFill>
                  <a:srgbClr val="F63B7B"/>
                </a:solidFill>
                <a:latin typeface="Roboto"/>
                <a:ea typeface="Roboto"/>
                <a:cs typeface="Roboto"/>
                <a:sym typeface="Roboto"/>
              </a:rPr>
              <a:t>Nykaa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969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 amt="14000"/>
          </a:blip>
          <a:srcRect b="41099" l="0" r="0" t="27933"/>
          <a:stretch/>
        </p:blipFill>
        <p:spPr>
          <a:xfrm>
            <a:off x="9525" y="0"/>
            <a:ext cx="18288000" cy="37731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14"/>
          <p:cNvGrpSpPr/>
          <p:nvPr/>
        </p:nvGrpSpPr>
        <p:grpSpPr>
          <a:xfrm>
            <a:off x="0" y="3519957"/>
            <a:ext cx="18288000" cy="6767043"/>
            <a:chOff x="0" y="-66675"/>
            <a:chExt cx="4816593" cy="1782266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4816592" cy="1715591"/>
            </a:xfrm>
            <a:custGeom>
              <a:rect b="b" l="l" r="r" t="t"/>
              <a:pathLst>
                <a:path extrusionOk="0" h="171559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15591"/>
                  </a:lnTo>
                  <a:lnTo>
                    <a:pt x="0" y="171559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</p:sp>
        <p:sp>
          <p:nvSpPr>
            <p:cNvPr id="96" name="Google Shape;96;p14"/>
            <p:cNvSpPr txBox="1"/>
            <p:nvPr/>
          </p:nvSpPr>
          <p:spPr>
            <a:xfrm>
              <a:off x="0" y="-66675"/>
              <a:ext cx="4816593" cy="17822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4"/>
          <p:cNvSpPr/>
          <p:nvPr/>
        </p:nvSpPr>
        <p:spPr>
          <a:xfrm>
            <a:off x="8333203" y="-1109791"/>
            <a:ext cx="1621594" cy="1621594"/>
          </a:xfrm>
          <a:custGeom>
            <a:rect b="b" l="l" r="r" t="t"/>
            <a:pathLst>
              <a:path extrusionOk="0"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4"/>
          <p:cNvSpPr/>
          <p:nvPr/>
        </p:nvSpPr>
        <p:spPr>
          <a:xfrm>
            <a:off x="8333203" y="9678747"/>
            <a:ext cx="1621594" cy="1621594"/>
          </a:xfrm>
          <a:custGeom>
            <a:rect b="b" l="l" r="r" t="t"/>
            <a:pathLst>
              <a:path extrusionOk="0"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9" name="Google Shape;99;p14"/>
          <p:cNvGrpSpPr/>
          <p:nvPr/>
        </p:nvGrpSpPr>
        <p:grpSpPr>
          <a:xfrm>
            <a:off x="9144000" y="3161731"/>
            <a:ext cx="8983730" cy="9460053"/>
            <a:chOff x="0" y="-66675"/>
            <a:chExt cx="979730" cy="1031676"/>
          </a:xfrm>
        </p:grpSpPr>
        <p:sp>
          <p:nvSpPr>
            <p:cNvPr id="100" name="Google Shape;100;p14"/>
            <p:cNvSpPr/>
            <p:nvPr/>
          </p:nvSpPr>
          <p:spPr>
            <a:xfrm>
              <a:off x="0" y="0"/>
              <a:ext cx="979730" cy="965001"/>
            </a:xfrm>
            <a:custGeom>
              <a:rect b="b" l="l" r="r" t="t"/>
              <a:pathLst>
                <a:path extrusionOk="0" h="965001" w="979730">
                  <a:moveTo>
                    <a:pt x="979730" y="0"/>
                  </a:moveTo>
                  <a:lnTo>
                    <a:pt x="0" y="0"/>
                  </a:lnTo>
                  <a:lnTo>
                    <a:pt x="0" y="777041"/>
                  </a:lnTo>
                  <a:lnTo>
                    <a:pt x="157480" y="777041"/>
                  </a:lnTo>
                  <a:lnTo>
                    <a:pt x="157480" y="965001"/>
                  </a:lnTo>
                  <a:lnTo>
                    <a:pt x="463550" y="777041"/>
                  </a:lnTo>
                  <a:lnTo>
                    <a:pt x="979730" y="777041"/>
                  </a:lnTo>
                  <a:lnTo>
                    <a:pt x="979730" y="0"/>
                  </a:lnTo>
                  <a:close/>
                </a:path>
              </a:pathLst>
            </a:custGeom>
            <a:solidFill>
              <a:srgbClr val="BFC3D0"/>
            </a:solidFill>
            <a:ln>
              <a:noFill/>
            </a:ln>
          </p:spPr>
        </p:sp>
        <p:sp>
          <p:nvSpPr>
            <p:cNvPr id="101" name="Google Shape;101;p14"/>
            <p:cNvSpPr txBox="1"/>
            <p:nvPr/>
          </p:nvSpPr>
          <p:spPr>
            <a:xfrm>
              <a:off x="0" y="-66675"/>
              <a:ext cx="979730" cy="841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4"/>
          <p:cNvSpPr txBox="1"/>
          <p:nvPr/>
        </p:nvSpPr>
        <p:spPr>
          <a:xfrm>
            <a:off x="4639504" y="815203"/>
            <a:ext cx="9008992" cy="2292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 to Nykaa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-9525" y="5012425"/>
            <a:ext cx="8867400" cy="52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849" lvl="1" marL="681698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3157"/>
              <a:buFont typeface="Arial"/>
              <a:buChar char="•"/>
            </a:pPr>
            <a:r>
              <a:rPr b="0" i="0" lang="en-US" sz="3157" u="none" cap="none" strike="noStrike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Nykaa is one of India’s leading omnichannel lifestyle and beauty retailers, founded in 2012 by Falguni Nayar. </a:t>
            </a:r>
            <a:endParaRPr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7" u="none" cap="none" strike="noStrike">
              <a:solidFill>
                <a:srgbClr val="004AA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0849" lvl="1" marL="681698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3157"/>
              <a:buFont typeface="Arial"/>
              <a:buChar char="•"/>
            </a:pPr>
            <a:r>
              <a:rPr b="0" i="0" lang="en-US" sz="3157" u="none" cap="none" strike="noStrike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The brand revolutionized the Indian beauty industry by bringing global and domestic beauty, personal care, wellness, fashion, and lifestyle products to consumers.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920990" y="4316466"/>
            <a:ext cx="2501503" cy="695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99" u="none" cap="none" strike="noStrike">
                <a:solidFill>
                  <a:srgbClr val="6B1FAD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96553" y="5555778"/>
            <a:ext cx="7104642" cy="3310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1122" lvl="1" marL="682243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81CC"/>
              </a:buClr>
              <a:buSzPts val="3159"/>
              <a:buFont typeface="Arial"/>
              <a:buChar char="•"/>
            </a:pPr>
            <a:r>
              <a:rPr b="0" i="0" lang="en-US" sz="3159" u="none" cap="none" strike="noStrike">
                <a:solidFill>
                  <a:srgbClr val="0081CC"/>
                </a:solidFill>
                <a:latin typeface="Roboto"/>
                <a:ea typeface="Roboto"/>
                <a:cs typeface="Roboto"/>
                <a:sym typeface="Roboto"/>
              </a:rPr>
              <a:t>Online platforms: Website &amp; Mobile App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9" u="none" cap="none" strike="noStrike">
              <a:solidFill>
                <a:srgbClr val="0081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1122" lvl="1" marL="682243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81CC"/>
              </a:buClr>
              <a:buSzPts val="3159"/>
              <a:buFont typeface="Arial"/>
              <a:buChar char="•"/>
            </a:pPr>
            <a:r>
              <a:rPr b="0" i="0" lang="en-US" sz="3159" u="none" cap="none" strike="noStrike">
                <a:solidFill>
                  <a:srgbClr val="0081CC"/>
                </a:solidFill>
                <a:latin typeface="Roboto"/>
                <a:ea typeface="Roboto"/>
                <a:cs typeface="Roboto"/>
                <a:sym typeface="Roboto"/>
              </a:rPr>
              <a:t>Offline: 150+ physical stores (Nykaa Luxe, Nykaa On Trend, Nykaa Kiosks)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825275" y="4316466"/>
            <a:ext cx="4009072" cy="69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Business Model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12" l="0" r="0" t="-7686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6"/>
          <p:cNvGrpSpPr/>
          <p:nvPr/>
        </p:nvGrpSpPr>
        <p:grpSpPr>
          <a:xfrm>
            <a:off x="8418272" y="215303"/>
            <a:ext cx="9856392" cy="9856392"/>
            <a:chOff x="0" y="0"/>
            <a:chExt cx="13141857" cy="13141857"/>
          </a:xfrm>
        </p:grpSpPr>
        <p:sp>
          <p:nvSpPr>
            <p:cNvPr id="117" name="Google Shape;117;p16"/>
            <p:cNvSpPr/>
            <p:nvPr/>
          </p:nvSpPr>
          <p:spPr>
            <a:xfrm rot="-1200957">
              <a:off x="1444916" y="1444916"/>
              <a:ext cx="10252025" cy="10252025"/>
            </a:xfrm>
            <a:custGeom>
              <a:rect b="b" l="l" r="r" t="t"/>
              <a:pathLst>
                <a:path extrusionOk="0" h="10252025" w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31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8" name="Google Shape;118;p16"/>
            <p:cNvSpPr/>
            <p:nvPr/>
          </p:nvSpPr>
          <p:spPr>
            <a:xfrm>
              <a:off x="1311122" y="1311122"/>
              <a:ext cx="10252025" cy="10252025"/>
            </a:xfrm>
            <a:custGeom>
              <a:rect b="b" l="l" r="r" t="t"/>
              <a:pathLst>
                <a:path extrusionOk="0" h="10252025" w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9" name="Google Shape;119;p16"/>
          <p:cNvSpPr txBox="1"/>
          <p:nvPr/>
        </p:nvSpPr>
        <p:spPr>
          <a:xfrm>
            <a:off x="8984211" y="4391465"/>
            <a:ext cx="8275089" cy="181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EAF1F5"/>
                </a:solidFill>
                <a:latin typeface="Arial"/>
                <a:ea typeface="Arial"/>
                <a:cs typeface="Arial"/>
                <a:sym typeface="Arial"/>
              </a:rPr>
              <a:t>Market Position and Growth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0" y="1639799"/>
            <a:ext cx="9347872" cy="6280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6971" lvl="1" marL="613942" marR="0" rtl="0" algn="l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5E17EB"/>
              </a:buClr>
              <a:buSzPts val="2843"/>
              <a:buFont typeface="Arial"/>
              <a:buChar char="•"/>
            </a:pPr>
            <a:r>
              <a:rPr b="0" i="0" lang="en-US" sz="2843" u="none" cap="none" strike="noStrike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Beauty &amp; personal care is nykaa’s core contributes the lion’s share of revenue and gmv. recent investor materials and filings show consistent growth in bpc and rising luxury brand additions.</a:t>
            </a:r>
            <a:endParaRPr/>
          </a:p>
          <a:p>
            <a:pPr indent="0" lvl="0" marL="0" marR="0" rtl="0" algn="l">
              <a:lnSpc>
                <a:spcPct val="1548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43" u="none" cap="none" strike="noStrike">
              <a:solidFill>
                <a:srgbClr val="5E17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48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43" u="none" cap="none" strike="noStrike">
              <a:solidFill>
                <a:srgbClr val="5E17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43" u="none" cap="none" strike="noStrike">
                <a:solidFill>
                  <a:srgbClr val="6D4B35"/>
                </a:solidFill>
                <a:latin typeface="Roboto"/>
                <a:ea typeface="Roboto"/>
                <a:cs typeface="Roboto"/>
                <a:sym typeface="Roboto"/>
              </a:rPr>
              <a:t>    Financial Trajectory: </a:t>
            </a:r>
            <a:endParaRPr/>
          </a:p>
          <a:p>
            <a:pPr indent="0" lvl="0" marL="0" marR="0" rtl="0" algn="l">
              <a:lnSpc>
                <a:spcPct val="1316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343" u="none" cap="none" strike="noStrike">
              <a:solidFill>
                <a:srgbClr val="6D4B3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6971" lvl="1" marL="613942" marR="0" rtl="0" algn="l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5E17EB"/>
              </a:buClr>
              <a:buSzPts val="2843"/>
              <a:buFont typeface="Arial"/>
              <a:buChar char="•"/>
            </a:pPr>
            <a:r>
              <a:rPr b="0" i="0" lang="en-US" sz="2843" u="none" cap="none" strike="noStrike">
                <a:solidFill>
                  <a:srgbClr val="5E17EB"/>
                </a:solidFill>
                <a:latin typeface="Arial"/>
                <a:ea typeface="Arial"/>
                <a:cs typeface="Arial"/>
                <a:sym typeface="Arial"/>
              </a:rPr>
              <a:t>Nykaa’s revenue has grown strongly in recent years (multi-year in the high-teens/30s range reported by analysts).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8600262" y="2535487"/>
            <a:ext cx="1621594" cy="1621594"/>
          </a:xfrm>
          <a:custGeom>
            <a:rect b="b" l="l" r="r" t="t"/>
            <a:pathLst>
              <a:path extrusionOk="0"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17"/>
          <p:cNvSpPr/>
          <p:nvPr/>
        </p:nvSpPr>
        <p:spPr>
          <a:xfrm>
            <a:off x="8508998" y="6276492"/>
            <a:ext cx="1621594" cy="1621594"/>
          </a:xfrm>
          <a:custGeom>
            <a:rect b="b" l="l" r="r" t="t"/>
            <a:pathLst>
              <a:path extrusionOk="0"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7" name="Google Shape;127;p17"/>
          <p:cNvGrpSpPr/>
          <p:nvPr/>
        </p:nvGrpSpPr>
        <p:grpSpPr>
          <a:xfrm>
            <a:off x="0" y="-30361"/>
            <a:ext cx="9411059" cy="10431661"/>
            <a:chOff x="0" y="-38100"/>
            <a:chExt cx="2478633" cy="2747433"/>
          </a:xfrm>
        </p:grpSpPr>
        <p:sp>
          <p:nvSpPr>
            <p:cNvPr id="128" name="Google Shape;128;p17"/>
            <p:cNvSpPr/>
            <p:nvPr/>
          </p:nvSpPr>
          <p:spPr>
            <a:xfrm>
              <a:off x="0" y="0"/>
              <a:ext cx="2478633" cy="2709333"/>
            </a:xfrm>
            <a:custGeom>
              <a:rect b="b" l="l" r="r" t="t"/>
              <a:pathLst>
                <a:path extrusionOk="0" h="2709333" w="24786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9" name="Google Shape;129;p17"/>
            <p:cNvSpPr txBox="1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7"/>
          <p:cNvGrpSpPr/>
          <p:nvPr/>
        </p:nvGrpSpPr>
        <p:grpSpPr>
          <a:xfrm>
            <a:off x="5670094" y="-90786"/>
            <a:ext cx="7246933" cy="1809190"/>
            <a:chOff x="0" y="-66675"/>
            <a:chExt cx="1908657" cy="476495"/>
          </a:xfrm>
        </p:grpSpPr>
        <p:sp>
          <p:nvSpPr>
            <p:cNvPr id="131" name="Google Shape;131;p17"/>
            <p:cNvSpPr/>
            <p:nvPr/>
          </p:nvSpPr>
          <p:spPr>
            <a:xfrm>
              <a:off x="0" y="0"/>
              <a:ext cx="1908657" cy="409820"/>
            </a:xfrm>
            <a:custGeom>
              <a:rect b="b" l="l" r="r" t="t"/>
              <a:pathLst>
                <a:path extrusionOk="0" h="409820" w="1908657">
                  <a:moveTo>
                    <a:pt x="1705457" y="0"/>
                  </a:moveTo>
                  <a:cubicBezTo>
                    <a:pt x="1817681" y="0"/>
                    <a:pt x="1908657" y="91741"/>
                    <a:pt x="1908657" y="204910"/>
                  </a:cubicBezTo>
                  <a:cubicBezTo>
                    <a:pt x="1908657" y="318078"/>
                    <a:pt x="1817681" y="409820"/>
                    <a:pt x="1705457" y="409820"/>
                  </a:cubicBezTo>
                  <a:lnTo>
                    <a:pt x="203200" y="409820"/>
                  </a:lnTo>
                  <a:cubicBezTo>
                    <a:pt x="90976" y="409820"/>
                    <a:pt x="0" y="318078"/>
                    <a:pt x="0" y="204910"/>
                  </a:cubicBezTo>
                  <a:cubicBezTo>
                    <a:pt x="0" y="917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81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0" y="-66675"/>
              <a:ext cx="1908657" cy="476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7"/>
          <p:cNvGrpSpPr/>
          <p:nvPr/>
        </p:nvGrpSpPr>
        <p:grpSpPr>
          <a:xfrm>
            <a:off x="10959784" y="6315710"/>
            <a:ext cx="5585113" cy="1419967"/>
            <a:chOff x="0" y="0"/>
            <a:chExt cx="7446817" cy="1893290"/>
          </a:xfrm>
        </p:grpSpPr>
        <p:sp>
          <p:nvSpPr>
            <p:cNvPr id="134" name="Google Shape;134;p17"/>
            <p:cNvSpPr txBox="1"/>
            <p:nvPr/>
          </p:nvSpPr>
          <p:spPr>
            <a:xfrm>
              <a:off x="0" y="0"/>
              <a:ext cx="7446817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799" u="none" cap="none" strike="noStrike">
                  <a:solidFill>
                    <a:srgbClr val="718BAB"/>
                  </a:solidFill>
                  <a:latin typeface="Arial"/>
                  <a:ea typeface="Arial"/>
                  <a:cs typeface="Arial"/>
                  <a:sym typeface="Arial"/>
                </a:rPr>
                <a:t>Growth</a:t>
              </a:r>
              <a:endParaRPr/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0" y="1305068"/>
              <a:ext cx="7446817" cy="588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99" u="none" cap="none" strike="noStrike">
                  <a:solidFill>
                    <a:srgbClr val="2A2E3A"/>
                  </a:solidFill>
                  <a:latin typeface="Arial"/>
                  <a:ea typeface="Arial"/>
                  <a:cs typeface="Arial"/>
                  <a:sym typeface="Arial"/>
                </a:rPr>
                <a:t>24.1% year-on-year</a:t>
              </a:r>
              <a:endParaRPr/>
            </a:p>
          </p:txBody>
        </p:sp>
      </p:grpSp>
      <p:grpSp>
        <p:nvGrpSpPr>
          <p:cNvPr id="136" name="Google Shape;136;p17"/>
          <p:cNvGrpSpPr/>
          <p:nvPr/>
        </p:nvGrpSpPr>
        <p:grpSpPr>
          <a:xfrm>
            <a:off x="1028700" y="1851661"/>
            <a:ext cx="6746873" cy="5725793"/>
            <a:chOff x="0" y="-38100"/>
            <a:chExt cx="8995831" cy="7634391"/>
          </a:xfrm>
        </p:grpSpPr>
        <p:sp>
          <p:nvSpPr>
            <p:cNvPr id="137" name="Google Shape;137;p17"/>
            <p:cNvSpPr txBox="1"/>
            <p:nvPr/>
          </p:nvSpPr>
          <p:spPr>
            <a:xfrm>
              <a:off x="0" y="-38100"/>
              <a:ext cx="8995831" cy="799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7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0" y="1435098"/>
              <a:ext cx="7058405" cy="6161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99" u="none" cap="none" strike="noStrike">
                  <a:solidFill>
                    <a:srgbClr val="004AAD"/>
                  </a:solidFill>
                  <a:latin typeface="Roboto"/>
                  <a:ea typeface="Roboto"/>
                  <a:cs typeface="Roboto"/>
                  <a:sym typeface="Roboto"/>
                </a:rPr>
                <a:t>     Revenue from Operations: </a:t>
              </a:r>
              <a:endParaRPr/>
            </a:p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99" u="none" cap="none" strike="noStrike">
                  <a:solidFill>
                    <a:srgbClr val="1A72A7"/>
                  </a:solidFill>
                  <a:latin typeface="Roboto"/>
                  <a:ea typeface="Roboto"/>
                  <a:cs typeface="Roboto"/>
                  <a:sym typeface="Roboto"/>
                </a:rPr>
                <a:t>₹6,386 crore.</a:t>
              </a:r>
              <a:endParaRPr/>
            </a:p>
            <a:p>
              <a:pPr indent="0" lvl="0" marL="0" marR="0" rtl="0" algn="just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099" u="none" cap="none" strike="noStrike">
                <a:solidFill>
                  <a:srgbClr val="1A72A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00" u="none" cap="none" strike="noStrike">
                  <a:solidFill>
                    <a:srgbClr val="6D4B35"/>
                  </a:solidFill>
                  <a:latin typeface="Roboto"/>
                  <a:ea typeface="Roboto"/>
                  <a:cs typeface="Roboto"/>
                  <a:sym typeface="Roboto"/>
                </a:rPr>
                <a:t>     Further Information: </a:t>
              </a:r>
              <a:endParaRPr/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900" u="none" cap="none" strike="noStrike">
                <a:solidFill>
                  <a:srgbClr val="6D4B3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2261" lvl="1" marL="604521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72A7"/>
                </a:buClr>
                <a:buSzPts val="2800"/>
                <a:buFont typeface="Arial"/>
                <a:buChar char="•"/>
              </a:pPr>
              <a:r>
                <a:rPr b="0" i="0" lang="en-US" sz="2800" u="none" cap="none" strike="noStrike">
                  <a:solidFill>
                    <a:srgbClr val="1A72A7"/>
                  </a:solidFill>
                  <a:latin typeface="Roboto"/>
                  <a:ea typeface="Roboto"/>
                  <a:cs typeface="Roboto"/>
                  <a:sym typeface="Roboto"/>
                </a:rPr>
                <a:t>For the next fiscal year, FY25 (starting April 2024), Nykaa's revenue was reported to be ₹7,950 crore as of May 2025.</a:t>
              </a:r>
              <a:endParaRPr/>
            </a:p>
          </p:txBody>
        </p:sp>
      </p:grpSp>
      <p:grpSp>
        <p:nvGrpSpPr>
          <p:cNvPr id="139" name="Google Shape;139;p17"/>
          <p:cNvGrpSpPr/>
          <p:nvPr/>
        </p:nvGrpSpPr>
        <p:grpSpPr>
          <a:xfrm>
            <a:off x="10959784" y="2574705"/>
            <a:ext cx="5585113" cy="1419967"/>
            <a:chOff x="0" y="0"/>
            <a:chExt cx="7446817" cy="1893290"/>
          </a:xfrm>
        </p:grpSpPr>
        <p:sp>
          <p:nvSpPr>
            <p:cNvPr id="140" name="Google Shape;140;p17"/>
            <p:cNvSpPr txBox="1"/>
            <p:nvPr/>
          </p:nvSpPr>
          <p:spPr>
            <a:xfrm>
              <a:off x="0" y="0"/>
              <a:ext cx="7446817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799" u="none" cap="none" strike="noStrike">
                  <a:solidFill>
                    <a:srgbClr val="718BAB"/>
                  </a:solidFill>
                  <a:latin typeface="Arial"/>
                  <a:ea typeface="Arial"/>
                  <a:cs typeface="Arial"/>
                  <a:sym typeface="Arial"/>
                </a:rPr>
                <a:t>Profit After Tax</a:t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0" y="1305068"/>
              <a:ext cx="7446817" cy="588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99" u="none" cap="none" strike="noStrike">
                  <a:solidFill>
                    <a:srgbClr val="2A2E3A"/>
                  </a:solidFill>
                  <a:latin typeface="Arial"/>
                  <a:ea typeface="Arial"/>
                  <a:cs typeface="Arial"/>
                  <a:sym typeface="Arial"/>
                </a:rPr>
                <a:t> ₹40 crore</a:t>
              </a:r>
              <a:endParaRPr/>
            </a:p>
          </p:txBody>
        </p:sp>
      </p:grpSp>
      <p:sp>
        <p:nvSpPr>
          <p:cNvPr id="142" name="Google Shape;142;p17"/>
          <p:cNvSpPr txBox="1"/>
          <p:nvPr/>
        </p:nvSpPr>
        <p:spPr>
          <a:xfrm>
            <a:off x="5921275" y="470723"/>
            <a:ext cx="68802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41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Nykaa's Revenue Model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-5296844" y="-1836715"/>
            <a:ext cx="13960430" cy="13960430"/>
          </a:xfrm>
          <a:custGeom>
            <a:rect b="b" l="l" r="r" t="t"/>
            <a:pathLst>
              <a:path extrusionOk="0"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18"/>
          <p:cNvSpPr txBox="1"/>
          <p:nvPr/>
        </p:nvSpPr>
        <p:spPr>
          <a:xfrm>
            <a:off x="4340500" y="235575"/>
            <a:ext cx="108150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71" u="none" cap="none" strike="noStrike">
                <a:solidFill>
                  <a:srgbClr val="2A2E3A"/>
                </a:solidFill>
                <a:highlight>
                  <a:srgbClr val="B7B7B7"/>
                </a:highlight>
                <a:latin typeface="Roboto"/>
                <a:ea typeface="Roboto"/>
                <a:cs typeface="Roboto"/>
                <a:sym typeface="Roboto"/>
              </a:rPr>
              <a:t>Membership &amp; Marketplace Revenue </a:t>
            </a:r>
            <a:endParaRPr sz="1700">
              <a:highlight>
                <a:srgbClr val="B7B7B7"/>
              </a:highlight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10733254" y="7543282"/>
            <a:ext cx="442544" cy="627318"/>
          </a:xfrm>
          <a:custGeom>
            <a:rect b="b" l="l" r="r" t="t"/>
            <a:pathLst>
              <a:path extrusionOk="0" h="627318" w="442544">
                <a:moveTo>
                  <a:pt x="0" y="0"/>
                </a:moveTo>
                <a:lnTo>
                  <a:pt x="442544" y="0"/>
                </a:lnTo>
                <a:lnTo>
                  <a:pt x="442544" y="627318"/>
                </a:lnTo>
                <a:lnTo>
                  <a:pt x="0" y="627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18"/>
          <p:cNvSpPr txBox="1"/>
          <p:nvPr/>
        </p:nvSpPr>
        <p:spPr>
          <a:xfrm>
            <a:off x="1258038" y="2671541"/>
            <a:ext cx="16774000" cy="2934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642" lvl="1" marL="72328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72A7"/>
              </a:buClr>
              <a:buSzPts val="3350"/>
              <a:buFont typeface="Arial"/>
              <a:buChar char="•"/>
            </a:pPr>
            <a:r>
              <a:rPr b="0" i="0" lang="en-US" sz="3350" u="none" cap="none" strike="noStrike">
                <a:solidFill>
                  <a:srgbClr val="1A72A7"/>
                </a:solidFill>
                <a:latin typeface="Roboto"/>
                <a:ea typeface="Roboto"/>
                <a:cs typeface="Roboto"/>
                <a:sym typeface="Roboto"/>
              </a:rPr>
              <a:t>Nykaa runs programs such as Nykaa Prive and Nykaa PRO for professionals. These programs drive retention, AOV and repeat purchase.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50" u="none" cap="none" strike="noStrike">
              <a:solidFill>
                <a:srgbClr val="1A72A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642" lvl="1" marL="72328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72A7"/>
              </a:buClr>
              <a:buSzPts val="3350"/>
              <a:buFont typeface="Arial"/>
              <a:buChar char="•"/>
            </a:pPr>
            <a:r>
              <a:rPr b="0" i="0" lang="en-US" sz="3350" u="none" cap="none" strike="noStrike">
                <a:solidFill>
                  <a:srgbClr val="1A72A7"/>
                </a:solidFill>
                <a:latin typeface="Roboto"/>
                <a:ea typeface="Roboto"/>
                <a:cs typeface="Roboto"/>
                <a:sym typeface="Roboto"/>
              </a:rPr>
              <a:t>How membership drives revenue: members typically have higher retention, earlier access to launches and receive targeted promotions — increasing lifetime value.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0" y="0"/>
            <a:ext cx="18288000" cy="3608707"/>
          </a:xfrm>
          <a:custGeom>
            <a:rect b="b" l="l" r="r" t="t"/>
            <a:pathLst>
              <a:path extrusionOk="0"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84714"/>
            </a:stretch>
          </a:blipFill>
          <a:ln>
            <a:noFill/>
          </a:ln>
        </p:spPr>
      </p:sp>
      <p:grpSp>
        <p:nvGrpSpPr>
          <p:cNvPr id="156" name="Google Shape;156;p19"/>
          <p:cNvGrpSpPr/>
          <p:nvPr/>
        </p:nvGrpSpPr>
        <p:grpSpPr>
          <a:xfrm>
            <a:off x="871130" y="852477"/>
            <a:ext cx="12063600" cy="1846603"/>
            <a:chOff x="0" y="-76200"/>
            <a:chExt cx="16084800" cy="2462137"/>
          </a:xfrm>
        </p:grpSpPr>
        <p:sp>
          <p:nvSpPr>
            <p:cNvPr id="157" name="Google Shape;157;p19"/>
            <p:cNvSpPr txBox="1"/>
            <p:nvPr/>
          </p:nvSpPr>
          <p:spPr>
            <a:xfrm>
              <a:off x="0" y="-76200"/>
              <a:ext cx="16084800" cy="14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Personalization Tactics </a:t>
              </a:r>
              <a:endParaRPr/>
            </a:p>
          </p:txBody>
        </p:sp>
        <p:sp>
          <p:nvSpPr>
            <p:cNvPr id="158" name="Google Shape;158;p19"/>
            <p:cNvSpPr txBox="1"/>
            <p:nvPr/>
          </p:nvSpPr>
          <p:spPr>
            <a:xfrm>
              <a:off x="0" y="1678335"/>
              <a:ext cx="14521681" cy="707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4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9"/>
          <p:cNvSpPr txBox="1"/>
          <p:nvPr/>
        </p:nvSpPr>
        <p:spPr>
          <a:xfrm>
            <a:off x="0" y="4114800"/>
            <a:ext cx="18155400" cy="5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38" lvl="1" marL="69087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3199"/>
              <a:buFont typeface="Arial"/>
              <a:buChar char="•"/>
            </a:pPr>
            <a:r>
              <a:rPr b="1" i="0" lang="en-US" sz="3199" u="none" cap="none" strike="noStrike">
                <a:solidFill>
                  <a:srgbClr val="FF3131"/>
                </a:solidFill>
                <a:latin typeface="Roboto"/>
                <a:ea typeface="Roboto"/>
                <a:cs typeface="Roboto"/>
                <a:sym typeface="Roboto"/>
              </a:rPr>
              <a:t>Targeted Emails</a:t>
            </a:r>
            <a:r>
              <a:rPr b="0" i="0" lang="en-US" sz="3199" u="none" cap="none" strike="noStrike">
                <a:solidFill>
                  <a:srgbClr val="1B4061"/>
                </a:solidFill>
                <a:latin typeface="Roboto"/>
                <a:ea typeface="Roboto"/>
                <a:cs typeface="Roboto"/>
                <a:sym typeface="Roboto"/>
              </a:rPr>
              <a:t>: Sends personalized recommendations and promotions based on past purchases and interests.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99" u="none" cap="none" strike="noStrike">
              <a:solidFill>
                <a:srgbClr val="1B406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5438" lvl="1" marL="69087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3199"/>
              <a:buFont typeface="Arial"/>
              <a:buChar char="•"/>
            </a:pPr>
            <a:r>
              <a:rPr b="1" i="0" lang="en-US" sz="3199" u="none" cap="none" strike="noStrike">
                <a:solidFill>
                  <a:srgbClr val="FF3131"/>
                </a:solidFill>
                <a:latin typeface="Roboto"/>
                <a:ea typeface="Roboto"/>
                <a:cs typeface="Roboto"/>
                <a:sym typeface="Roboto"/>
              </a:rPr>
              <a:t>Website/App Features</a:t>
            </a:r>
            <a:r>
              <a:rPr b="0" i="0" lang="en-US" sz="3199" u="none" cap="none" strike="noStrike">
                <a:solidFill>
                  <a:srgbClr val="1B4061"/>
                </a:solidFill>
                <a:latin typeface="Roboto"/>
                <a:ea typeface="Roboto"/>
                <a:cs typeface="Roboto"/>
                <a:sym typeface="Roboto"/>
              </a:rPr>
              <a:t>: Uses data to display personalized product suggestions and relevant offers to users.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99" u="none" cap="none" strike="noStrike">
              <a:solidFill>
                <a:srgbClr val="1B406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5438" lvl="1" marL="69087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3199"/>
              <a:buFont typeface="Arial"/>
              <a:buChar char="•"/>
            </a:pPr>
            <a:r>
              <a:rPr b="1" i="0" lang="en-US" sz="3199" u="none" cap="none" strike="noStrike">
                <a:solidFill>
                  <a:srgbClr val="FF3131"/>
                </a:solidFill>
                <a:latin typeface="Roboto"/>
                <a:ea typeface="Roboto"/>
                <a:cs typeface="Roboto"/>
                <a:sym typeface="Roboto"/>
              </a:rPr>
              <a:t>Influencer Marketing</a:t>
            </a:r>
            <a:r>
              <a:rPr b="0" i="0" lang="en-US" sz="3199" u="none" cap="none" strike="noStrike">
                <a:solidFill>
                  <a:srgbClr val="1B4061"/>
                </a:solidFill>
                <a:latin typeface="Roboto"/>
                <a:ea typeface="Roboto"/>
                <a:cs typeface="Roboto"/>
                <a:sym typeface="Roboto"/>
              </a:rPr>
              <a:t>: Collaborates with influencers to promote trendy products to specific customer segments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1522494" y="395473"/>
            <a:ext cx="15243013" cy="9891527"/>
          </a:xfrm>
          <a:custGeom>
            <a:rect b="b" l="l" r="r" t="t"/>
            <a:pathLst>
              <a:path extrusionOk="0" h="9891527" w="15243013">
                <a:moveTo>
                  <a:pt x="0" y="0"/>
                </a:moveTo>
                <a:lnTo>
                  <a:pt x="15243012" y="0"/>
                </a:lnTo>
                <a:lnTo>
                  <a:pt x="15243012" y="9891527"/>
                </a:lnTo>
                <a:lnTo>
                  <a:pt x="0" y="9891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02" l="0" r="0" t="-4802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3146069" y="-167837"/>
            <a:ext cx="11995862" cy="10168367"/>
          </a:xfrm>
          <a:custGeom>
            <a:rect b="b" l="l" r="r" t="t"/>
            <a:pathLst>
              <a:path extrusionOk="0" h="10168367" w="11995862">
                <a:moveTo>
                  <a:pt x="0" y="0"/>
                </a:moveTo>
                <a:lnTo>
                  <a:pt x="11995862" y="0"/>
                </a:lnTo>
                <a:lnTo>
                  <a:pt x="11995862" y="10168367"/>
                </a:lnTo>
                <a:lnTo>
                  <a:pt x="0" y="101683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>
            <a:off x="2319539" y="131786"/>
            <a:ext cx="13648923" cy="10023428"/>
          </a:xfrm>
          <a:custGeom>
            <a:rect b="b" l="l" r="r" t="t"/>
            <a:pathLst>
              <a:path extrusionOk="0" h="10023428" w="13648923">
                <a:moveTo>
                  <a:pt x="0" y="0"/>
                </a:moveTo>
                <a:lnTo>
                  <a:pt x="13648922" y="0"/>
                </a:lnTo>
                <a:lnTo>
                  <a:pt x="13648922" y="10023428"/>
                </a:lnTo>
                <a:lnTo>
                  <a:pt x="0" y="10023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/>
          <p:nvPr/>
        </p:nvSpPr>
        <p:spPr>
          <a:xfrm>
            <a:off x="-6507438" y="-2845897"/>
            <a:ext cx="15978794" cy="15978794"/>
          </a:xfrm>
          <a:custGeom>
            <a:rect b="b" l="l" r="r" t="t"/>
            <a:pathLst>
              <a:path extrusionOk="0" h="15978794" w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0" name="Google Shape;180;p23"/>
          <p:cNvGrpSpPr/>
          <p:nvPr/>
        </p:nvGrpSpPr>
        <p:grpSpPr>
          <a:xfrm>
            <a:off x="1028700" y="3710652"/>
            <a:ext cx="6278177" cy="3173672"/>
            <a:chOff x="0" y="-76200"/>
            <a:chExt cx="8370902" cy="4231562"/>
          </a:xfrm>
        </p:grpSpPr>
        <p:sp>
          <p:nvSpPr>
            <p:cNvPr id="181" name="Google Shape;181;p23"/>
            <p:cNvSpPr txBox="1"/>
            <p:nvPr/>
          </p:nvSpPr>
          <p:spPr>
            <a:xfrm>
              <a:off x="0" y="-76200"/>
              <a:ext cx="8370902" cy="3031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SWOT Analysis</a:t>
              </a:r>
              <a:endParaRPr/>
            </a:p>
          </p:txBody>
        </p:sp>
        <p:sp>
          <p:nvSpPr>
            <p:cNvPr id="182" name="Google Shape;182;p23"/>
            <p:cNvSpPr txBox="1"/>
            <p:nvPr/>
          </p:nvSpPr>
          <p:spPr>
            <a:xfrm>
              <a:off x="0" y="3447760"/>
              <a:ext cx="6930758" cy="707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Strengths</a:t>
              </a:r>
              <a:endParaRPr/>
            </a:p>
          </p:txBody>
        </p:sp>
      </p:grpSp>
      <p:sp>
        <p:nvSpPr>
          <p:cNvPr id="183" name="Google Shape;183;p23"/>
          <p:cNvSpPr txBox="1"/>
          <p:nvPr/>
        </p:nvSpPr>
        <p:spPr>
          <a:xfrm>
            <a:off x="9471357" y="3494496"/>
            <a:ext cx="8816643" cy="3869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4790" lvl="1" marL="78958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70707"/>
              </a:buClr>
              <a:buSzPts val="3657"/>
              <a:buFont typeface="Arial"/>
              <a:buChar char="•"/>
            </a:pPr>
            <a:r>
              <a:rPr b="0" i="0" lang="en-US" sz="3657" u="none" cap="none" strike="noStrike">
                <a:solidFill>
                  <a:srgbClr val="070707"/>
                </a:solidFill>
                <a:latin typeface="Arial"/>
                <a:ea typeface="Arial"/>
                <a:cs typeface="Arial"/>
                <a:sym typeface="Arial"/>
              </a:rPr>
              <a:t>Strong brand recognition &amp; trust in beauty authenticity.</a:t>
            </a:r>
            <a:endParaRPr/>
          </a:p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57" u="none" cap="none" strike="noStrike">
              <a:solidFill>
                <a:srgbClr val="07070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790" lvl="1" marL="78958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70707"/>
              </a:buClr>
              <a:buSzPts val="3657"/>
              <a:buFont typeface="Arial"/>
              <a:buChar char="•"/>
            </a:pPr>
            <a:r>
              <a:rPr b="0" i="0" lang="en-US" sz="3657" u="none" cap="none" strike="noStrike">
                <a:solidFill>
                  <a:srgbClr val="070707"/>
                </a:solidFill>
                <a:latin typeface="Arial"/>
                <a:ea typeface="Arial"/>
                <a:cs typeface="Arial"/>
                <a:sym typeface="Arial"/>
              </a:rPr>
              <a:t>Rapid expansion of premium/luxury assortments improving margins.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/>
          <p:nvPr/>
        </p:nvSpPr>
        <p:spPr>
          <a:xfrm>
            <a:off x="-6507438" y="-2845897"/>
            <a:ext cx="15978794" cy="15978794"/>
          </a:xfrm>
          <a:custGeom>
            <a:rect b="b" l="l" r="r" t="t"/>
            <a:pathLst>
              <a:path extrusionOk="0" h="15978794" w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9" name="Google Shape;189;p24"/>
          <p:cNvGrpSpPr/>
          <p:nvPr/>
        </p:nvGrpSpPr>
        <p:grpSpPr>
          <a:xfrm>
            <a:off x="1028700" y="3429665"/>
            <a:ext cx="6278177" cy="3735647"/>
            <a:chOff x="0" y="-76200"/>
            <a:chExt cx="8370902" cy="4980862"/>
          </a:xfrm>
        </p:grpSpPr>
        <p:sp>
          <p:nvSpPr>
            <p:cNvPr id="190" name="Google Shape;190;p24"/>
            <p:cNvSpPr txBox="1"/>
            <p:nvPr/>
          </p:nvSpPr>
          <p:spPr>
            <a:xfrm>
              <a:off x="0" y="-76200"/>
              <a:ext cx="8370902" cy="3031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SWOT Analysis</a:t>
              </a:r>
              <a:endParaRPr/>
            </a:p>
          </p:txBody>
        </p:sp>
        <p:sp>
          <p:nvSpPr>
            <p:cNvPr id="191" name="Google Shape;191;p24"/>
            <p:cNvSpPr txBox="1"/>
            <p:nvPr/>
          </p:nvSpPr>
          <p:spPr>
            <a:xfrm>
              <a:off x="0" y="3447760"/>
              <a:ext cx="6930758" cy="1456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Weaknesses</a:t>
              </a:r>
              <a:endParaRPr/>
            </a:p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24"/>
          <p:cNvSpPr txBox="1"/>
          <p:nvPr/>
        </p:nvSpPr>
        <p:spPr>
          <a:xfrm>
            <a:off x="9471357" y="3494496"/>
            <a:ext cx="8816700" cy="52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4790" lvl="1" marL="78958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70707"/>
              </a:buClr>
              <a:buSzPts val="3657"/>
              <a:buFont typeface="Arial"/>
              <a:buChar char="•"/>
            </a:pPr>
            <a:r>
              <a:rPr b="0" i="0" lang="en-US" sz="3657" u="none" cap="none" strike="noStrike">
                <a:solidFill>
                  <a:srgbClr val="070707"/>
                </a:solidFill>
                <a:latin typeface="Arial"/>
                <a:ea typeface="Arial"/>
                <a:cs typeface="Arial"/>
                <a:sym typeface="Arial"/>
              </a:rPr>
              <a:t>Fashion vertical has historically underperformed vs BPC (seasonal / lower gross margins). </a:t>
            </a:r>
            <a:endParaRPr/>
          </a:p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57" u="none" cap="none" strike="noStrike">
              <a:solidFill>
                <a:srgbClr val="07070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790" lvl="1" marL="78958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70707"/>
              </a:buClr>
              <a:buSzPts val="3657"/>
              <a:buFont typeface="Arial"/>
              <a:buChar char="•"/>
            </a:pPr>
            <a:r>
              <a:rPr b="0" i="0" lang="en-US" sz="3657" u="none" cap="none" strike="noStrike">
                <a:solidFill>
                  <a:srgbClr val="070707"/>
                </a:solidFill>
                <a:latin typeface="Arial"/>
                <a:ea typeface="Arial"/>
                <a:cs typeface="Arial"/>
                <a:sym typeface="Arial"/>
              </a:rPr>
              <a:t>Heavy competition on price and fulfilment from other e-commerce players.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/>
          <p:nvPr/>
        </p:nvSpPr>
        <p:spPr>
          <a:xfrm>
            <a:off x="-6507438" y="-2845897"/>
            <a:ext cx="15978794" cy="15978794"/>
          </a:xfrm>
          <a:custGeom>
            <a:rect b="b" l="l" r="r" t="t"/>
            <a:pathLst>
              <a:path extrusionOk="0" h="15978794" w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" name="Google Shape;198;p25"/>
          <p:cNvGrpSpPr/>
          <p:nvPr/>
        </p:nvGrpSpPr>
        <p:grpSpPr>
          <a:xfrm>
            <a:off x="1028700" y="3710652"/>
            <a:ext cx="6278177" cy="3173672"/>
            <a:chOff x="0" y="-76200"/>
            <a:chExt cx="8370902" cy="4231562"/>
          </a:xfrm>
        </p:grpSpPr>
        <p:sp>
          <p:nvSpPr>
            <p:cNvPr id="199" name="Google Shape;199;p25"/>
            <p:cNvSpPr txBox="1"/>
            <p:nvPr/>
          </p:nvSpPr>
          <p:spPr>
            <a:xfrm>
              <a:off x="0" y="-76200"/>
              <a:ext cx="8370902" cy="3031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SWOT Analysis</a:t>
              </a:r>
              <a:endParaRPr/>
            </a:p>
          </p:txBody>
        </p:sp>
        <p:sp>
          <p:nvSpPr>
            <p:cNvPr id="200" name="Google Shape;200;p25"/>
            <p:cNvSpPr txBox="1"/>
            <p:nvPr/>
          </p:nvSpPr>
          <p:spPr>
            <a:xfrm>
              <a:off x="0" y="3447760"/>
              <a:ext cx="6930758" cy="707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Opportunities</a:t>
              </a:r>
              <a:endParaRPr/>
            </a:p>
          </p:txBody>
        </p:sp>
      </p:grpSp>
      <p:sp>
        <p:nvSpPr>
          <p:cNvPr id="201" name="Google Shape;201;p25"/>
          <p:cNvSpPr txBox="1"/>
          <p:nvPr/>
        </p:nvSpPr>
        <p:spPr>
          <a:xfrm>
            <a:off x="9471350" y="2701324"/>
            <a:ext cx="8816700" cy="68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4790" lvl="1" marL="78958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70707"/>
              </a:buClr>
              <a:buSzPts val="3657"/>
              <a:buFont typeface="Arial"/>
              <a:buChar char="•"/>
            </a:pPr>
            <a:r>
              <a:rPr b="0" i="0" lang="en-US" sz="3657" u="none" cap="none" strike="noStrike">
                <a:solidFill>
                  <a:srgbClr val="070707"/>
                </a:solidFill>
                <a:latin typeface="Arial"/>
                <a:ea typeface="Arial"/>
                <a:cs typeface="Arial"/>
                <a:sym typeface="Arial"/>
              </a:rPr>
              <a:t>Expand subscription/membership monetization and salons, professionals.</a:t>
            </a:r>
            <a:endParaRPr/>
          </a:p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57" u="none" cap="none" strike="noStrike">
              <a:solidFill>
                <a:srgbClr val="07070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790" lvl="1" marL="78958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70707"/>
              </a:buClr>
              <a:buSzPts val="3657"/>
              <a:buFont typeface="Arial"/>
              <a:buChar char="•"/>
            </a:pPr>
            <a:r>
              <a:rPr b="0" i="0" lang="en-US" sz="3657" u="none" cap="none" strike="noStrike">
                <a:solidFill>
                  <a:srgbClr val="070707"/>
                </a:solidFill>
                <a:latin typeface="Arial"/>
                <a:ea typeface="Arial"/>
                <a:cs typeface="Arial"/>
                <a:sym typeface="Arial"/>
              </a:rPr>
              <a:t>International expansion / cross-border luxury sourcing and private label export potential. (Strategic opportunity.)</a:t>
            </a:r>
            <a:endParaRPr/>
          </a:p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57" u="none" cap="none" strike="noStrike">
              <a:solidFill>
                <a:srgbClr val="07070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/>
          <p:nvPr/>
        </p:nvSpPr>
        <p:spPr>
          <a:xfrm>
            <a:off x="-6507438" y="-2845897"/>
            <a:ext cx="15978794" cy="15978794"/>
          </a:xfrm>
          <a:custGeom>
            <a:rect b="b" l="l" r="r" t="t"/>
            <a:pathLst>
              <a:path extrusionOk="0" h="15978794" w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7" name="Google Shape;207;p26"/>
          <p:cNvGrpSpPr/>
          <p:nvPr/>
        </p:nvGrpSpPr>
        <p:grpSpPr>
          <a:xfrm>
            <a:off x="1028700" y="3710652"/>
            <a:ext cx="6278177" cy="3173672"/>
            <a:chOff x="0" y="-76200"/>
            <a:chExt cx="8370902" cy="4231562"/>
          </a:xfrm>
        </p:grpSpPr>
        <p:sp>
          <p:nvSpPr>
            <p:cNvPr id="208" name="Google Shape;208;p26"/>
            <p:cNvSpPr txBox="1"/>
            <p:nvPr/>
          </p:nvSpPr>
          <p:spPr>
            <a:xfrm>
              <a:off x="0" y="-76200"/>
              <a:ext cx="8370902" cy="3031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SWOT Analysis</a:t>
              </a:r>
              <a:endParaRPr/>
            </a:p>
          </p:txBody>
        </p:sp>
        <p:sp>
          <p:nvSpPr>
            <p:cNvPr id="209" name="Google Shape;209;p26"/>
            <p:cNvSpPr txBox="1"/>
            <p:nvPr/>
          </p:nvSpPr>
          <p:spPr>
            <a:xfrm>
              <a:off x="0" y="3447760"/>
              <a:ext cx="6930758" cy="707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Threats</a:t>
              </a:r>
              <a:endParaRPr/>
            </a:p>
          </p:txBody>
        </p:sp>
      </p:grpSp>
      <p:sp>
        <p:nvSpPr>
          <p:cNvPr id="210" name="Google Shape;210;p26"/>
          <p:cNvSpPr txBox="1"/>
          <p:nvPr/>
        </p:nvSpPr>
        <p:spPr>
          <a:xfrm>
            <a:off x="9471357" y="3494496"/>
            <a:ext cx="8816643" cy="4517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4790" lvl="1" marL="78958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70707"/>
              </a:buClr>
              <a:buSzPts val="3657"/>
              <a:buFont typeface="Arial"/>
              <a:buChar char="•"/>
            </a:pPr>
            <a:r>
              <a:rPr b="0" i="0" lang="en-US" sz="3657" u="none" cap="none" strike="noStrike">
                <a:solidFill>
                  <a:srgbClr val="070707"/>
                </a:solidFill>
                <a:latin typeface="Arial"/>
                <a:ea typeface="Arial"/>
                <a:cs typeface="Arial"/>
                <a:sym typeface="Arial"/>
              </a:rPr>
              <a:t>Intense competition from Amazon, Flipkart and specialist retailers.</a:t>
            </a:r>
            <a:endParaRPr/>
          </a:p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57" u="none" cap="none" strike="noStrike">
              <a:solidFill>
                <a:srgbClr val="07070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790" lvl="1" marL="78958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70707"/>
              </a:buClr>
              <a:buSzPts val="3657"/>
              <a:buFont typeface="Arial"/>
              <a:buChar char="•"/>
            </a:pPr>
            <a:r>
              <a:rPr b="0" i="0" lang="en-US" sz="3657" u="none" cap="none" strike="noStrike">
                <a:solidFill>
                  <a:srgbClr val="070707"/>
                </a:solidFill>
                <a:latin typeface="Arial"/>
                <a:ea typeface="Arial"/>
                <a:cs typeface="Arial"/>
                <a:sym typeface="Arial"/>
              </a:rPr>
              <a:t>Supply chain / inventory risk if premium brand relationships change.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/>
          <p:nvPr/>
        </p:nvSpPr>
        <p:spPr>
          <a:xfrm>
            <a:off x="1215992" y="919052"/>
            <a:ext cx="16855655" cy="8448897"/>
          </a:xfrm>
          <a:custGeom>
            <a:rect b="b" l="l" r="r" t="t"/>
            <a:pathLst>
              <a:path extrusionOk="0" h="8448897" w="16855655">
                <a:moveTo>
                  <a:pt x="0" y="0"/>
                </a:moveTo>
                <a:lnTo>
                  <a:pt x="16855654" y="0"/>
                </a:lnTo>
                <a:lnTo>
                  <a:pt x="16855654" y="8448896"/>
                </a:lnTo>
                <a:lnTo>
                  <a:pt x="0" y="8448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/>
          <p:nvPr/>
        </p:nvSpPr>
        <p:spPr>
          <a:xfrm>
            <a:off x="0" y="0"/>
            <a:ext cx="18288000" cy="3608707"/>
          </a:xfrm>
          <a:custGeom>
            <a:rect b="b" l="l" r="r" t="t"/>
            <a:pathLst>
              <a:path extrusionOk="0"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84714"/>
            </a:stretch>
          </a:blipFill>
          <a:ln>
            <a:noFill/>
          </a:ln>
        </p:spPr>
      </p:sp>
      <p:sp>
        <p:nvSpPr>
          <p:cNvPr id="221" name="Google Shape;221;p28"/>
          <p:cNvSpPr txBox="1"/>
          <p:nvPr/>
        </p:nvSpPr>
        <p:spPr>
          <a:xfrm>
            <a:off x="1362238" y="664528"/>
            <a:ext cx="16925762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Takeaways / Recommendations</a:t>
            </a:r>
            <a:endParaRPr/>
          </a:p>
        </p:txBody>
      </p:sp>
      <p:sp>
        <p:nvSpPr>
          <p:cNvPr id="222" name="Google Shape;222;p28"/>
          <p:cNvSpPr txBox="1"/>
          <p:nvPr/>
        </p:nvSpPr>
        <p:spPr>
          <a:xfrm>
            <a:off x="3707309" y="4836477"/>
            <a:ext cx="12140803" cy="391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79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Focus on international expansion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99" u="none" cap="none" strike="noStrike">
              <a:solidFill>
                <a:srgbClr val="004AA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5439" lvl="1" marL="690879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Strengthen private label portfolio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99" u="none" cap="none" strike="noStrike">
              <a:solidFill>
                <a:srgbClr val="004AA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5439" lvl="1" marL="690879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Leverage AR &amp; AI tech for better customer engagement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99" u="none" cap="none" strike="noStrike">
              <a:solidFill>
                <a:srgbClr val="004AA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5439" lvl="1" marL="690879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 Increase marketing in Tier-2 &amp; Tier-3 cities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/>
        </p:nvSpPr>
        <p:spPr>
          <a:xfrm>
            <a:off x="0" y="791171"/>
            <a:ext cx="17837700" cy="7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 / Sources</a:t>
            </a:r>
            <a:endParaRPr/>
          </a:p>
          <a:p>
            <a:pPr indent="0" lvl="0" marL="0" marR="0" rtl="0" algn="ctr">
              <a:lnSpc>
                <a:spcPct val="707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4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62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4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795" lvl="1" marL="769591" marR="0" rtl="0" algn="l">
              <a:lnSpc>
                <a:spcPct val="12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Char char="•"/>
            </a:pPr>
            <a:r>
              <a:rPr b="0" i="0" lang="en-US" sz="35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Nykaa official website</a:t>
            </a:r>
            <a:endParaRPr/>
          </a:p>
          <a:p>
            <a:pPr indent="0" lvl="0" marL="0" marR="0" rtl="0" algn="l">
              <a:lnSpc>
                <a:spcPct val="12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795" lvl="1" marL="769591" marR="0" rtl="0" algn="l">
              <a:lnSpc>
                <a:spcPct val="12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Char char="•"/>
            </a:pPr>
            <a:r>
              <a:rPr b="0" i="0" lang="en-US" sz="35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Industry reports (RedSeer, Statista, IBEF)</a:t>
            </a:r>
            <a:endParaRPr/>
          </a:p>
          <a:p>
            <a:pPr indent="0" lvl="0" marL="0" marR="0" rtl="0" algn="l">
              <a:lnSpc>
                <a:spcPct val="12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795" lvl="1" marL="769591" marR="0" rtl="0" algn="l">
              <a:lnSpc>
                <a:spcPct val="12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Char char="•"/>
            </a:pPr>
            <a:r>
              <a:rPr b="0" i="0" lang="en-US" sz="35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News articles (ET, Business Today, Livemint)</a:t>
            </a:r>
            <a:endParaRPr/>
          </a:p>
          <a:p>
            <a:pPr indent="0" lvl="0" marL="0" marR="0" rtl="0" algn="l">
              <a:lnSpc>
                <a:spcPct val="12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795" lvl="1" marL="769591" marR="0" rtl="0" algn="l">
              <a:lnSpc>
                <a:spcPct val="12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Char char="•"/>
            </a:pPr>
            <a:r>
              <a:rPr b="0" i="0" lang="en-US" sz="35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https://www.pocketful.in/blog/nykaa-case-study-swot-analysis-and-marketing-strategy</a:t>
            </a:r>
            <a:endParaRPr/>
          </a:p>
        </p:txBody>
      </p:sp>
      <p:sp>
        <p:nvSpPr>
          <p:cNvPr id="228" name="Google Shape;228;p29"/>
          <p:cNvSpPr/>
          <p:nvPr/>
        </p:nvSpPr>
        <p:spPr>
          <a:xfrm>
            <a:off x="13151981" y="1893068"/>
            <a:ext cx="4107319" cy="4114800"/>
          </a:xfrm>
          <a:custGeom>
            <a:rect b="b" l="l" r="r" t="t"/>
            <a:pathLst>
              <a:path extrusionOk="0"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29"/>
          <p:cNvSpPr/>
          <p:nvPr/>
        </p:nvSpPr>
        <p:spPr>
          <a:xfrm>
            <a:off x="13605746" y="2493109"/>
            <a:ext cx="3199790" cy="2914718"/>
          </a:xfrm>
          <a:custGeom>
            <a:rect b="b" l="l" r="r" t="t"/>
            <a:pathLst>
              <a:path extrusionOk="0" h="2914718" w="3199790">
                <a:moveTo>
                  <a:pt x="0" y="0"/>
                </a:moveTo>
                <a:lnTo>
                  <a:pt x="3199790" y="0"/>
                </a:lnTo>
                <a:lnTo>
                  <a:pt x="3199790" y="2914718"/>
                </a:lnTo>
                <a:lnTo>
                  <a:pt x="0" y="29147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