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1" r:id="rId6"/>
    <p:sldId id="262" r:id="rId7"/>
    <p:sldId id="263" r:id="rId8"/>
    <p:sldId id="265" r:id="rId9"/>
    <p:sldId id="266" r:id="rId10"/>
    <p:sldId id="267" r:id="rId11"/>
    <p:sldId id="287" r:id="rId12"/>
    <p:sldId id="268" r:id="rId13"/>
    <p:sldId id="269" r:id="rId14"/>
    <p:sldId id="270" r:id="rId15"/>
    <p:sldId id="271" r:id="rId16"/>
    <p:sldId id="272" r:id="rId17"/>
    <p:sldId id="273" r:id="rId18"/>
    <p:sldId id="293" r:id="rId19"/>
    <p:sldId id="274" r:id="rId20"/>
    <p:sldId id="288" r:id="rId21"/>
    <p:sldId id="289" r:id="rId22"/>
    <p:sldId id="290" r:id="rId23"/>
    <p:sldId id="291" r:id="rId24"/>
    <p:sldId id="292" r:id="rId25"/>
    <p:sldId id="280" r:id="rId26"/>
    <p:sldId id="281" r:id="rId27"/>
    <p:sldId id="282" r:id="rId28"/>
    <p:sldId id="283" r:id="rId29"/>
    <p:sldId id="284" r:id="rId30"/>
    <p:sldId id="285" r:id="rId31"/>
    <p:sldId id="286" r:id="rId32"/>
  </p:sldIdLst>
  <p:sldSz cx="16256000" cy="9144000"/>
  <p:notesSz cx="9144000" cy="16256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2" d="100"/>
          <a:sy n="62" d="100"/>
        </p:scale>
        <p:origin x="667"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4108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31750"/>
            <a:ext cx="16347988" cy="9211104"/>
          </a:xfrm>
          <a:prstGeom prst="rect">
            <a:avLst/>
          </a:prstGeom>
          <a:solidFill>
            <a:srgbClr val="0F2647"/>
          </a:solidFill>
          <a:ln/>
        </p:spPr>
        <p:txBody>
          <a:bodyPr/>
          <a:lstStyle/>
          <a:p>
            <a:endParaRPr lang="en-IN" dirty="0"/>
          </a:p>
        </p:txBody>
      </p:sp>
      <p:sp>
        <p:nvSpPr>
          <p:cNvPr id="3" name="Shape 1"/>
          <p:cNvSpPr/>
          <p:nvPr/>
        </p:nvSpPr>
        <p:spPr>
          <a:xfrm>
            <a:off x="0" y="0"/>
            <a:ext cx="9753600" cy="63500"/>
          </a:xfrm>
          <a:prstGeom prst="rect">
            <a:avLst/>
          </a:prstGeom>
          <a:solidFill>
            <a:srgbClr val="C9963B"/>
          </a:solidFill>
          <a:ln/>
        </p:spPr>
      </p:sp>
      <p:sp>
        <p:nvSpPr>
          <p:cNvPr id="6" name="Text 4"/>
          <p:cNvSpPr/>
          <p:nvPr/>
        </p:nvSpPr>
        <p:spPr>
          <a:xfrm>
            <a:off x="1120346" y="2029426"/>
            <a:ext cx="14732000" cy="4744823"/>
          </a:xfrm>
          <a:prstGeom prst="rect">
            <a:avLst/>
          </a:prstGeom>
          <a:noFill/>
          <a:ln/>
        </p:spPr>
        <p:txBody>
          <a:bodyPr wrap="square" lIns="0" tIns="0" rIns="0" bIns="0" rtlCol="0" anchor="t"/>
          <a:lstStyle/>
          <a:p>
            <a:pPr algn="l">
              <a:lnSpc>
                <a:spcPct val="130000"/>
              </a:lnSpc>
            </a:pPr>
            <a:r>
              <a:rPr lang="en-US" sz="7200" b="1" dirty="0">
                <a:solidFill>
                  <a:srgbClr val="FFFFFF"/>
                </a:solidFill>
                <a:latin typeface="Sorts Mill Goudy" pitchFamily="34" charset="0"/>
                <a:ea typeface="Sorts Mill Goudy" pitchFamily="34" charset="-122"/>
                <a:cs typeface="Sorts Mill Goudy" pitchFamily="34" charset="-120"/>
              </a:rPr>
              <a:t>Retail Sales Analysis and Interactive Dashboard Development</a:t>
            </a:r>
            <a:endParaRPr lang="en-US" sz="7200" dirty="0"/>
          </a:p>
        </p:txBody>
      </p:sp>
      <p:sp>
        <p:nvSpPr>
          <p:cNvPr id="13" name="Shape 11"/>
          <p:cNvSpPr/>
          <p:nvPr/>
        </p:nvSpPr>
        <p:spPr>
          <a:xfrm>
            <a:off x="9753600" y="0"/>
            <a:ext cx="6502400" cy="50800"/>
          </a:xfrm>
          <a:prstGeom prst="rect">
            <a:avLst/>
          </a:prstGeom>
          <a:solidFill>
            <a:srgbClr val="C9963B"/>
          </a:solidFill>
          <a:ln/>
        </p:spPr>
      </p:sp>
      <p:sp>
        <p:nvSpPr>
          <p:cNvPr id="15" name="Text 13"/>
          <p:cNvSpPr/>
          <p:nvPr/>
        </p:nvSpPr>
        <p:spPr>
          <a:xfrm>
            <a:off x="11023600" y="2159000"/>
            <a:ext cx="3962400" cy="508000"/>
          </a:xfrm>
          <a:prstGeom prst="rect">
            <a:avLst/>
          </a:prstGeom>
          <a:noFill/>
          <a:ln/>
        </p:spPr>
        <p:txBody>
          <a:bodyPr wrap="none" lIns="0" tIns="0" rIns="0" bIns="0" rtlCol="0" anchor="ctr"/>
          <a:lstStyle/>
          <a:p>
            <a:pPr algn="ctr">
              <a:lnSpc>
                <a:spcPct val="120000"/>
              </a:lnSpc>
            </a:pP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1B3A6B"/>
          </a:solidFill>
          <a:ln/>
        </p:spPr>
      </p:sp>
      <p:sp>
        <p:nvSpPr>
          <p:cNvPr id="3" name="Shape 1"/>
          <p:cNvSpPr/>
          <p:nvPr/>
        </p:nvSpPr>
        <p:spPr>
          <a:xfrm>
            <a:off x="635000" y="127000"/>
            <a:ext cx="50800" cy="685800"/>
          </a:xfrm>
          <a:prstGeom prst="rect">
            <a:avLst/>
          </a:prstGeom>
          <a:solidFill>
            <a:srgbClr val="C9963B"/>
          </a:solidFill>
          <a:ln/>
        </p:spPr>
      </p:sp>
      <p:sp>
        <p:nvSpPr>
          <p:cNvPr id="4" name="Text 2"/>
          <p:cNvSpPr/>
          <p:nvPr/>
        </p:nvSpPr>
        <p:spPr>
          <a:xfrm>
            <a:off x="787400" y="152400"/>
            <a:ext cx="14605000" cy="635000"/>
          </a:xfrm>
          <a:prstGeom prst="rect">
            <a:avLst/>
          </a:prstGeom>
          <a:noFill/>
          <a:ln/>
        </p:spPr>
        <p:txBody>
          <a:bodyPr wrap="square" lIns="0" tIns="0" rIns="0" bIns="0" rtlCol="0" anchor="ctr"/>
          <a:lstStyle/>
          <a:p>
            <a:pPr algn="l">
              <a:lnSpc>
                <a:spcPct val="120000"/>
              </a:lnSpc>
            </a:pPr>
            <a:r>
              <a:rPr lang="en-US" sz="2200" b="1" dirty="0">
                <a:solidFill>
                  <a:srgbClr val="0F2647"/>
                </a:solidFill>
                <a:latin typeface="Sorts Mill Goudy" pitchFamily="34" charset="0"/>
                <a:ea typeface="Sorts Mill Goudy" pitchFamily="34" charset="-122"/>
                <a:cs typeface="Sorts Mill Goudy" pitchFamily="34" charset="-120"/>
              </a:rPr>
              <a:t>Project aims to analyze large-scale retail data through SQL-driven ETL pipeline and interactive Power BI dashboards</a:t>
            </a:r>
            <a:endParaRPr lang="en-US" sz="2200" dirty="0"/>
          </a:p>
        </p:txBody>
      </p:sp>
      <p:sp>
        <p:nvSpPr>
          <p:cNvPr id="5" name="Shape 3"/>
          <p:cNvSpPr/>
          <p:nvPr/>
        </p:nvSpPr>
        <p:spPr>
          <a:xfrm>
            <a:off x="635000" y="863600"/>
            <a:ext cx="14986000" cy="12700"/>
          </a:xfrm>
          <a:prstGeom prst="rect">
            <a:avLst/>
          </a:prstGeom>
          <a:solidFill>
            <a:srgbClr val="D0D8E4"/>
          </a:solidFill>
          <a:ln/>
        </p:spPr>
      </p:sp>
      <p:sp>
        <p:nvSpPr>
          <p:cNvPr id="6" name="Shape 4"/>
          <p:cNvSpPr/>
          <p:nvPr/>
        </p:nvSpPr>
        <p:spPr>
          <a:xfrm>
            <a:off x="635000" y="965200"/>
            <a:ext cx="7493000" cy="279400"/>
          </a:xfrm>
          <a:prstGeom prst="rect">
            <a:avLst/>
          </a:prstGeom>
          <a:solidFill>
            <a:srgbClr val="EBF0F7"/>
          </a:solidFill>
          <a:ln/>
        </p:spPr>
      </p:sp>
      <p:sp>
        <p:nvSpPr>
          <p:cNvPr id="7" name="Shape 5"/>
          <p:cNvSpPr/>
          <p:nvPr/>
        </p:nvSpPr>
        <p:spPr>
          <a:xfrm>
            <a:off x="635000" y="965200"/>
            <a:ext cx="38100" cy="279400"/>
          </a:xfrm>
          <a:prstGeom prst="rect">
            <a:avLst/>
          </a:prstGeom>
          <a:solidFill>
            <a:srgbClr val="C9963B"/>
          </a:solidFill>
          <a:ln/>
        </p:spPr>
      </p:sp>
      <p:sp>
        <p:nvSpPr>
          <p:cNvPr id="8" name="Text 6"/>
          <p:cNvSpPr/>
          <p:nvPr/>
        </p:nvSpPr>
        <p:spPr>
          <a:xfrm>
            <a:off x="736600" y="965200"/>
            <a:ext cx="7366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Project Objectives</a:t>
            </a:r>
            <a:endParaRPr lang="en-US" sz="1300" dirty="0"/>
          </a:p>
        </p:txBody>
      </p:sp>
      <p:sp>
        <p:nvSpPr>
          <p:cNvPr id="9" name="Text 7"/>
          <p:cNvSpPr/>
          <p:nvPr/>
        </p:nvSpPr>
        <p:spPr>
          <a:xfrm>
            <a:off x="736600" y="1320800"/>
            <a:ext cx="7264400" cy="6858000"/>
          </a:xfrm>
          <a:prstGeom prst="rect">
            <a:avLst/>
          </a:prstGeom>
          <a:noFill/>
          <a:ln/>
        </p:spPr>
        <p:txBody>
          <a:bodyPr wrap="square" lIns="0" tIns="0" rIns="0" bIns="0" rtlCol="0" anchor="t"/>
          <a:lstStyle/>
          <a:p>
            <a:pPr algn="l">
              <a:lnSpc>
                <a:spcPct val="170000"/>
              </a:lnSpc>
            </a:pPr>
            <a:r>
              <a:rPr lang="en-US" sz="1400" b="1" dirty="0">
                <a:solidFill>
                  <a:srgbClr val="2D2D2D"/>
                </a:solidFill>
                <a:latin typeface="Liter" pitchFamily="34" charset="0"/>
                <a:ea typeface="Liter" pitchFamily="34" charset="-122"/>
                <a:cs typeface="Liter" pitchFamily="34" charset="-120"/>
              </a:rPr>
              <a:t>1. Analyze Large-Scale Retail Sales Data</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Process and analyze extensive online retail transaction datasets spanning multiple years, containing millions of records with customer, product, and geographic dimensions.</a:t>
            </a:r>
            <a:endParaRPr lang="en-US" sz="1400" dirty="0"/>
          </a:p>
          <a:p>
            <a:pPr algn="l">
              <a:lnSpc>
                <a:spcPct val="170000"/>
              </a:lnSpc>
              <a:spcBef>
                <a:spcPts val="1000"/>
              </a:spcBef>
            </a:pPr>
            <a:r>
              <a:rPr lang="en-US" sz="1400" b="1" dirty="0">
                <a:solidFill>
                  <a:srgbClr val="2D2D2D"/>
                </a:solidFill>
                <a:latin typeface="Liter" pitchFamily="34" charset="0"/>
                <a:ea typeface="Liter" pitchFamily="34" charset="-122"/>
                <a:cs typeface="Liter" pitchFamily="34" charset="-120"/>
              </a:rPr>
              <a:t>2. Clean and Transform Raw Transaction Data</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Implement systematic data cleaning procedures using SQL to handle null values, invalid entries, encoding issues, and format inconsistencies in raw datasets.</a:t>
            </a:r>
            <a:endParaRPr lang="en-US" sz="1400" dirty="0"/>
          </a:p>
          <a:p>
            <a:pPr algn="l">
              <a:lnSpc>
                <a:spcPct val="170000"/>
              </a:lnSpc>
              <a:spcBef>
                <a:spcPts val="1000"/>
              </a:spcBef>
            </a:pPr>
            <a:r>
              <a:rPr lang="en-US" sz="1400" b="1" dirty="0">
                <a:solidFill>
                  <a:srgbClr val="2D2D2D"/>
                </a:solidFill>
                <a:latin typeface="Liter" pitchFamily="34" charset="0"/>
                <a:ea typeface="Liter" pitchFamily="34" charset="-122"/>
                <a:cs typeface="Liter" pitchFamily="34" charset="-120"/>
              </a:rPr>
              <a:t>3. Perform Business Analysis Using SQL</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Execute comprehensive SQL queries to extract business insights including revenue trends, top products, customer segments, and geographic sales distribution.</a:t>
            </a:r>
            <a:endParaRPr lang="en-US" sz="1400" dirty="0"/>
          </a:p>
          <a:p>
            <a:pPr algn="l">
              <a:lnSpc>
                <a:spcPct val="170000"/>
              </a:lnSpc>
              <a:spcBef>
                <a:spcPts val="1000"/>
              </a:spcBef>
            </a:pPr>
            <a:r>
              <a:rPr lang="en-US" sz="1400" b="1" dirty="0">
                <a:solidFill>
                  <a:srgbClr val="2D2D2D"/>
                </a:solidFill>
                <a:latin typeface="Liter" pitchFamily="34" charset="0"/>
                <a:ea typeface="Liter" pitchFamily="34" charset="-122"/>
                <a:cs typeface="Liter" pitchFamily="34" charset="-120"/>
              </a:rPr>
              <a:t>4. Build Interactive Dashboards in Power BI</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Develop professional interactive dashboards with dynamic filtering, KPI tracking, and multi-page visualization for stakeholders.</a:t>
            </a:r>
            <a:endParaRPr lang="en-US" sz="1400" dirty="0"/>
          </a:p>
        </p:txBody>
      </p:sp>
      <p:sp>
        <p:nvSpPr>
          <p:cNvPr id="10" name="Shape 8"/>
          <p:cNvSpPr/>
          <p:nvPr/>
        </p:nvSpPr>
        <p:spPr>
          <a:xfrm>
            <a:off x="8255000" y="965200"/>
            <a:ext cx="7366000" cy="279400"/>
          </a:xfrm>
          <a:prstGeom prst="rect">
            <a:avLst/>
          </a:prstGeom>
          <a:solidFill>
            <a:srgbClr val="EBF0F7"/>
          </a:solidFill>
          <a:ln/>
        </p:spPr>
      </p:sp>
      <p:sp>
        <p:nvSpPr>
          <p:cNvPr id="11" name="Shape 9"/>
          <p:cNvSpPr/>
          <p:nvPr/>
        </p:nvSpPr>
        <p:spPr>
          <a:xfrm>
            <a:off x="8255000" y="965200"/>
            <a:ext cx="38100" cy="279400"/>
          </a:xfrm>
          <a:prstGeom prst="rect">
            <a:avLst/>
          </a:prstGeom>
          <a:solidFill>
            <a:srgbClr val="C9963B"/>
          </a:solidFill>
          <a:ln/>
        </p:spPr>
      </p:sp>
      <p:sp>
        <p:nvSpPr>
          <p:cNvPr id="12" name="Text 10"/>
          <p:cNvSpPr/>
          <p:nvPr/>
        </p:nvSpPr>
        <p:spPr>
          <a:xfrm>
            <a:off x="8356600" y="965200"/>
            <a:ext cx="7239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Key Deliverables</a:t>
            </a:r>
            <a:endParaRPr lang="en-US" sz="1300" dirty="0"/>
          </a:p>
        </p:txBody>
      </p:sp>
      <p:sp>
        <p:nvSpPr>
          <p:cNvPr id="13" name="Shape 11"/>
          <p:cNvSpPr/>
          <p:nvPr/>
        </p:nvSpPr>
        <p:spPr>
          <a:xfrm>
            <a:off x="8318500" y="1320800"/>
            <a:ext cx="7239000" cy="1524000"/>
          </a:xfrm>
          <a:prstGeom prst="rect">
            <a:avLst/>
          </a:prstGeom>
          <a:solidFill>
            <a:srgbClr val="EBF0F7"/>
          </a:solidFill>
          <a:ln/>
        </p:spPr>
      </p:sp>
      <p:sp>
        <p:nvSpPr>
          <p:cNvPr id="14" name="Shape 12"/>
          <p:cNvSpPr/>
          <p:nvPr/>
        </p:nvSpPr>
        <p:spPr>
          <a:xfrm>
            <a:off x="8318500" y="1320800"/>
            <a:ext cx="7239000" cy="38100"/>
          </a:xfrm>
          <a:prstGeom prst="rect">
            <a:avLst/>
          </a:prstGeom>
          <a:solidFill>
            <a:srgbClr val="1B3A6B"/>
          </a:solidFill>
          <a:ln/>
        </p:spPr>
      </p:sp>
      <p:sp>
        <p:nvSpPr>
          <p:cNvPr id="15" name="Text 13"/>
          <p:cNvSpPr/>
          <p:nvPr/>
        </p:nvSpPr>
        <p:spPr>
          <a:xfrm>
            <a:off x="8483600" y="1447800"/>
            <a:ext cx="6908800" cy="304800"/>
          </a:xfrm>
          <a:prstGeom prst="rect">
            <a:avLst/>
          </a:prstGeom>
          <a:noFill/>
          <a:ln/>
        </p:spPr>
        <p:txBody>
          <a:bodyPr wrap="none" lIns="0" tIns="0" rIns="0" bIns="0" rtlCol="0" anchor="ctr"/>
          <a:lstStyle/>
          <a:p>
            <a:pPr algn="l">
              <a:lnSpc>
                <a:spcPct val="120000"/>
              </a:lnSpc>
            </a:pPr>
            <a:r>
              <a:rPr lang="en-US" sz="1500" b="1" dirty="0">
                <a:solidFill>
                  <a:srgbClr val="1B3A6B"/>
                </a:solidFill>
                <a:latin typeface="Sorts Mill Goudy" pitchFamily="34" charset="0"/>
                <a:ea typeface="Sorts Mill Goudy" pitchFamily="34" charset="-122"/>
                <a:cs typeface="Sorts Mill Goudy" pitchFamily="34" charset="-120"/>
              </a:rPr>
              <a:t>SQL-Based Retail Analysis</a:t>
            </a:r>
            <a:endParaRPr lang="en-US" sz="1500" dirty="0"/>
          </a:p>
        </p:txBody>
      </p:sp>
      <p:sp>
        <p:nvSpPr>
          <p:cNvPr id="16" name="Text 14"/>
          <p:cNvSpPr/>
          <p:nvPr/>
        </p:nvSpPr>
        <p:spPr>
          <a:xfrm>
            <a:off x="8483600" y="1803400"/>
            <a:ext cx="6908800" cy="889000"/>
          </a:xfrm>
          <a:prstGeom prst="rect">
            <a:avLst/>
          </a:prstGeom>
          <a:noFill/>
          <a:ln/>
        </p:spPr>
        <p:txBody>
          <a:bodyPr wrap="square" lIns="0" tIns="0" rIns="0" bIns="0" rtlCol="0" anchor="t"/>
          <a:lstStyle/>
          <a:p>
            <a:pPr algn="l">
              <a:lnSpc>
                <a:spcPct val="150000"/>
              </a:lnSpc>
            </a:pPr>
            <a:r>
              <a:rPr lang="en-US" sz="1300" dirty="0">
                <a:solidFill>
                  <a:srgbClr val="2D2D2D"/>
                </a:solidFill>
                <a:latin typeface="Liter" pitchFamily="34" charset="0"/>
                <a:ea typeface="Liter" pitchFamily="34" charset="-122"/>
                <a:cs typeface="Liter" pitchFamily="34" charset="-120"/>
              </a:rPr>
              <a:t>Complete ETL workflow with database creation, table design, data import, cleaning, transformation, and analytical queries.</a:t>
            </a:r>
            <a:endParaRPr lang="en-US" sz="1300" dirty="0"/>
          </a:p>
        </p:txBody>
      </p:sp>
      <p:sp>
        <p:nvSpPr>
          <p:cNvPr id="17" name="Shape 15"/>
          <p:cNvSpPr/>
          <p:nvPr/>
        </p:nvSpPr>
        <p:spPr>
          <a:xfrm>
            <a:off x="8318500" y="2971800"/>
            <a:ext cx="7239000" cy="1524000"/>
          </a:xfrm>
          <a:prstGeom prst="rect">
            <a:avLst/>
          </a:prstGeom>
          <a:solidFill>
            <a:srgbClr val="EBF0F7"/>
          </a:solidFill>
          <a:ln/>
        </p:spPr>
      </p:sp>
      <p:sp>
        <p:nvSpPr>
          <p:cNvPr id="18" name="Shape 16"/>
          <p:cNvSpPr/>
          <p:nvPr/>
        </p:nvSpPr>
        <p:spPr>
          <a:xfrm>
            <a:off x="8318500" y="2971800"/>
            <a:ext cx="7239000" cy="38100"/>
          </a:xfrm>
          <a:prstGeom prst="rect">
            <a:avLst/>
          </a:prstGeom>
          <a:solidFill>
            <a:srgbClr val="C9963B"/>
          </a:solidFill>
          <a:ln/>
        </p:spPr>
      </p:sp>
      <p:sp>
        <p:nvSpPr>
          <p:cNvPr id="19" name="Text 17"/>
          <p:cNvSpPr/>
          <p:nvPr/>
        </p:nvSpPr>
        <p:spPr>
          <a:xfrm>
            <a:off x="8483600" y="3098800"/>
            <a:ext cx="6908800" cy="304800"/>
          </a:xfrm>
          <a:prstGeom prst="rect">
            <a:avLst/>
          </a:prstGeom>
          <a:noFill/>
          <a:ln/>
        </p:spPr>
        <p:txBody>
          <a:bodyPr wrap="none" lIns="0" tIns="0" rIns="0" bIns="0" rtlCol="0" anchor="ctr"/>
          <a:lstStyle/>
          <a:p>
            <a:pPr algn="l">
              <a:lnSpc>
                <a:spcPct val="120000"/>
              </a:lnSpc>
            </a:pPr>
            <a:r>
              <a:rPr lang="en-US" sz="1500" b="1" dirty="0">
                <a:solidFill>
                  <a:srgbClr val="C9963B"/>
                </a:solidFill>
                <a:latin typeface="Sorts Mill Goudy" pitchFamily="34" charset="0"/>
                <a:ea typeface="Sorts Mill Goudy" pitchFamily="34" charset="-122"/>
                <a:cs typeface="Sorts Mill Goudy" pitchFamily="34" charset="-120"/>
              </a:rPr>
              <a:t>Power BI Dashboard</a:t>
            </a:r>
            <a:endParaRPr lang="en-US" sz="1500" dirty="0"/>
          </a:p>
        </p:txBody>
      </p:sp>
      <p:sp>
        <p:nvSpPr>
          <p:cNvPr id="20" name="Text 18"/>
          <p:cNvSpPr/>
          <p:nvPr/>
        </p:nvSpPr>
        <p:spPr>
          <a:xfrm>
            <a:off x="8483600" y="3454400"/>
            <a:ext cx="6908800" cy="889000"/>
          </a:xfrm>
          <a:prstGeom prst="rect">
            <a:avLst/>
          </a:prstGeom>
          <a:noFill/>
          <a:ln/>
        </p:spPr>
        <p:txBody>
          <a:bodyPr wrap="square" lIns="0" tIns="0" rIns="0" bIns="0" rtlCol="0" anchor="t"/>
          <a:lstStyle/>
          <a:p>
            <a:pPr algn="l">
              <a:lnSpc>
                <a:spcPct val="150000"/>
              </a:lnSpc>
            </a:pPr>
            <a:r>
              <a:rPr lang="en-US" sz="1300" dirty="0">
                <a:solidFill>
                  <a:srgbClr val="2D2D2D"/>
                </a:solidFill>
                <a:latin typeface="Liter" pitchFamily="34" charset="0"/>
                <a:ea typeface="Liter" pitchFamily="34" charset="-122"/>
                <a:cs typeface="Liter" pitchFamily="34" charset="-120"/>
              </a:rPr>
              <a:t>Four-page interactive dashboard with Executive Overview, Product Performance, Customer Analytics, and Geographic Analysis.</a:t>
            </a:r>
            <a:endParaRPr lang="en-US" sz="1300" dirty="0"/>
          </a:p>
        </p:txBody>
      </p:sp>
      <p:sp>
        <p:nvSpPr>
          <p:cNvPr id="21" name="Shape 19"/>
          <p:cNvSpPr/>
          <p:nvPr/>
        </p:nvSpPr>
        <p:spPr>
          <a:xfrm>
            <a:off x="8318500" y="4622800"/>
            <a:ext cx="7239000" cy="1524000"/>
          </a:xfrm>
          <a:prstGeom prst="rect">
            <a:avLst/>
          </a:prstGeom>
          <a:solidFill>
            <a:srgbClr val="EBF0F7"/>
          </a:solidFill>
          <a:ln/>
        </p:spPr>
      </p:sp>
      <p:sp>
        <p:nvSpPr>
          <p:cNvPr id="22" name="Shape 20"/>
          <p:cNvSpPr/>
          <p:nvPr/>
        </p:nvSpPr>
        <p:spPr>
          <a:xfrm>
            <a:off x="8318500" y="4622800"/>
            <a:ext cx="7239000" cy="38100"/>
          </a:xfrm>
          <a:prstGeom prst="rect">
            <a:avLst/>
          </a:prstGeom>
          <a:solidFill>
            <a:srgbClr val="1B3A6B"/>
          </a:solidFill>
          <a:ln/>
        </p:spPr>
      </p:sp>
      <p:sp>
        <p:nvSpPr>
          <p:cNvPr id="23" name="Text 21"/>
          <p:cNvSpPr/>
          <p:nvPr/>
        </p:nvSpPr>
        <p:spPr>
          <a:xfrm>
            <a:off x="8483600" y="4749800"/>
            <a:ext cx="6908800" cy="304800"/>
          </a:xfrm>
          <a:prstGeom prst="rect">
            <a:avLst/>
          </a:prstGeom>
          <a:noFill/>
          <a:ln/>
        </p:spPr>
        <p:txBody>
          <a:bodyPr wrap="none" lIns="0" tIns="0" rIns="0" bIns="0" rtlCol="0" anchor="ctr"/>
          <a:lstStyle/>
          <a:p>
            <a:pPr algn="l">
              <a:lnSpc>
                <a:spcPct val="120000"/>
              </a:lnSpc>
            </a:pPr>
            <a:r>
              <a:rPr lang="en-US" sz="1500" b="1" dirty="0">
                <a:solidFill>
                  <a:srgbClr val="1B3A6B"/>
                </a:solidFill>
                <a:latin typeface="Sorts Mill Goudy" pitchFamily="34" charset="0"/>
                <a:ea typeface="Sorts Mill Goudy" pitchFamily="34" charset="-122"/>
                <a:cs typeface="Sorts Mill Goudy" pitchFamily="34" charset="-120"/>
              </a:rPr>
              <a:t>Customer and Product Insights</a:t>
            </a:r>
            <a:endParaRPr lang="en-US" sz="1500" dirty="0"/>
          </a:p>
        </p:txBody>
      </p:sp>
      <p:sp>
        <p:nvSpPr>
          <p:cNvPr id="24" name="Text 22"/>
          <p:cNvSpPr/>
          <p:nvPr/>
        </p:nvSpPr>
        <p:spPr>
          <a:xfrm>
            <a:off x="8483600" y="5105400"/>
            <a:ext cx="6908800" cy="889000"/>
          </a:xfrm>
          <a:prstGeom prst="rect">
            <a:avLst/>
          </a:prstGeom>
          <a:noFill/>
          <a:ln/>
        </p:spPr>
        <p:txBody>
          <a:bodyPr wrap="square" lIns="0" tIns="0" rIns="0" bIns="0" rtlCol="0" anchor="t"/>
          <a:lstStyle/>
          <a:p>
            <a:pPr algn="l">
              <a:lnSpc>
                <a:spcPct val="150000"/>
              </a:lnSpc>
            </a:pPr>
            <a:r>
              <a:rPr lang="en-US" sz="1300" dirty="0">
                <a:solidFill>
                  <a:srgbClr val="2D2D2D"/>
                </a:solidFill>
                <a:latin typeface="Liter" pitchFamily="34" charset="0"/>
                <a:ea typeface="Liter" pitchFamily="34" charset="-122"/>
                <a:cs typeface="Liter" pitchFamily="34" charset="-120"/>
              </a:rPr>
              <a:t>Data-driven insights on top-performing products, revenue-generating customers, and repeat purchase behavior patterns.</a:t>
            </a:r>
            <a:endParaRPr lang="en-US" sz="1300" dirty="0"/>
          </a:p>
        </p:txBody>
      </p:sp>
      <p:sp>
        <p:nvSpPr>
          <p:cNvPr id="25" name="Shape 23"/>
          <p:cNvSpPr/>
          <p:nvPr/>
        </p:nvSpPr>
        <p:spPr>
          <a:xfrm>
            <a:off x="8318500" y="6273800"/>
            <a:ext cx="7239000" cy="1524000"/>
          </a:xfrm>
          <a:prstGeom prst="rect">
            <a:avLst/>
          </a:prstGeom>
          <a:solidFill>
            <a:srgbClr val="EBF0F7"/>
          </a:solidFill>
          <a:ln/>
        </p:spPr>
      </p:sp>
      <p:sp>
        <p:nvSpPr>
          <p:cNvPr id="26" name="Shape 24"/>
          <p:cNvSpPr/>
          <p:nvPr/>
        </p:nvSpPr>
        <p:spPr>
          <a:xfrm>
            <a:off x="8318500" y="6273800"/>
            <a:ext cx="7239000" cy="38100"/>
          </a:xfrm>
          <a:prstGeom prst="rect">
            <a:avLst/>
          </a:prstGeom>
          <a:solidFill>
            <a:srgbClr val="C9963B"/>
          </a:solidFill>
          <a:ln/>
        </p:spPr>
      </p:sp>
      <p:sp>
        <p:nvSpPr>
          <p:cNvPr id="27" name="Text 25"/>
          <p:cNvSpPr/>
          <p:nvPr/>
        </p:nvSpPr>
        <p:spPr>
          <a:xfrm>
            <a:off x="8483600" y="6400800"/>
            <a:ext cx="6908800" cy="304800"/>
          </a:xfrm>
          <a:prstGeom prst="rect">
            <a:avLst/>
          </a:prstGeom>
          <a:noFill/>
          <a:ln/>
        </p:spPr>
        <p:txBody>
          <a:bodyPr wrap="none" lIns="0" tIns="0" rIns="0" bIns="0" rtlCol="0" anchor="ctr"/>
          <a:lstStyle/>
          <a:p>
            <a:pPr algn="l">
              <a:lnSpc>
                <a:spcPct val="120000"/>
              </a:lnSpc>
            </a:pPr>
            <a:r>
              <a:rPr lang="en-US" sz="1500" b="1" dirty="0">
                <a:solidFill>
                  <a:srgbClr val="C9963B"/>
                </a:solidFill>
                <a:latin typeface="Sorts Mill Goudy" pitchFamily="34" charset="0"/>
                <a:ea typeface="Sorts Mill Goudy" pitchFamily="34" charset="-122"/>
                <a:cs typeface="Sorts Mill Goudy" pitchFamily="34" charset="-120"/>
              </a:rPr>
              <a:t>Geographic Sales Analysis</a:t>
            </a:r>
            <a:endParaRPr lang="en-US" sz="1500" dirty="0"/>
          </a:p>
        </p:txBody>
      </p:sp>
      <p:sp>
        <p:nvSpPr>
          <p:cNvPr id="28" name="Text 26"/>
          <p:cNvSpPr/>
          <p:nvPr/>
        </p:nvSpPr>
        <p:spPr>
          <a:xfrm>
            <a:off x="8483600" y="6756400"/>
            <a:ext cx="6908800" cy="889000"/>
          </a:xfrm>
          <a:prstGeom prst="rect">
            <a:avLst/>
          </a:prstGeom>
          <a:noFill/>
          <a:ln/>
        </p:spPr>
        <p:txBody>
          <a:bodyPr wrap="square" lIns="0" tIns="0" rIns="0" bIns="0" rtlCol="0" anchor="t"/>
          <a:lstStyle/>
          <a:p>
            <a:pPr algn="l">
              <a:lnSpc>
                <a:spcPct val="150000"/>
              </a:lnSpc>
            </a:pPr>
            <a:r>
              <a:rPr lang="en-US" sz="1300" dirty="0">
                <a:solidFill>
                  <a:srgbClr val="2D2D2D"/>
                </a:solidFill>
                <a:latin typeface="Liter" pitchFamily="34" charset="0"/>
                <a:ea typeface="Liter" pitchFamily="34" charset="-122"/>
                <a:cs typeface="Liter" pitchFamily="34" charset="-120"/>
              </a:rPr>
              <a:t>Country-wise revenue distribution and regional performance analysis identifying high-performing markets.</a:t>
            </a:r>
            <a:endParaRPr lang="en-US" sz="1300" dirty="0"/>
          </a:p>
        </p:txBody>
      </p:sp>
      <p:sp>
        <p:nvSpPr>
          <p:cNvPr id="29" name="Shape 27"/>
          <p:cNvSpPr/>
          <p:nvPr/>
        </p:nvSpPr>
        <p:spPr>
          <a:xfrm>
            <a:off x="635000" y="8331200"/>
            <a:ext cx="14986000" cy="12700"/>
          </a:xfrm>
          <a:prstGeom prst="rect">
            <a:avLst/>
          </a:prstGeom>
          <a:solidFill>
            <a:srgbClr val="D0D8E4"/>
          </a:solidFill>
          <a:ln/>
        </p:spPr>
      </p:sp>
      <p:sp>
        <p:nvSpPr>
          <p:cNvPr id="30" name="Text 28"/>
          <p:cNvSpPr/>
          <p:nvPr/>
        </p:nvSpPr>
        <p:spPr>
          <a:xfrm>
            <a:off x="15240000" y="8432800"/>
            <a:ext cx="762000" cy="279400"/>
          </a:xfrm>
          <a:prstGeom prst="rect">
            <a:avLst/>
          </a:prstGeom>
          <a:noFill/>
          <a:ln/>
        </p:spPr>
        <p:txBody>
          <a:bodyPr wrap="none" lIns="0" tIns="0" rIns="0" bIns="0" rtlCol="0" anchor="ctr"/>
          <a:lstStyle/>
          <a:p>
            <a:pPr algn="r">
              <a:lnSpc>
                <a:spcPct val="120000"/>
              </a:lnSpc>
            </a:pPr>
            <a:r>
              <a:rPr lang="en-US" sz="1200" dirty="0">
                <a:solidFill>
                  <a:srgbClr val="8899AA"/>
                </a:solidFill>
                <a:latin typeface="MiSans" pitchFamily="34" charset="0"/>
                <a:ea typeface="MiSans" pitchFamily="34" charset="-122"/>
                <a:cs typeface="MiSans" pitchFamily="34" charset="-120"/>
              </a:rPr>
              <a:t>02</a:t>
            </a:r>
            <a:endParaRPr lang="en-US" sz="12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1B3A6B"/>
          </a:solidFill>
          <a:ln/>
        </p:spPr>
      </p:sp>
      <p:sp>
        <p:nvSpPr>
          <p:cNvPr id="3" name="Shape 1"/>
          <p:cNvSpPr/>
          <p:nvPr/>
        </p:nvSpPr>
        <p:spPr>
          <a:xfrm>
            <a:off x="635000" y="127000"/>
            <a:ext cx="50800" cy="685800"/>
          </a:xfrm>
          <a:prstGeom prst="rect">
            <a:avLst/>
          </a:prstGeom>
          <a:solidFill>
            <a:srgbClr val="C9963B"/>
          </a:solidFill>
          <a:ln/>
        </p:spPr>
      </p:sp>
      <p:sp>
        <p:nvSpPr>
          <p:cNvPr id="4" name="Text 2"/>
          <p:cNvSpPr/>
          <p:nvPr/>
        </p:nvSpPr>
        <p:spPr>
          <a:xfrm>
            <a:off x="787400" y="152400"/>
            <a:ext cx="14605000" cy="635000"/>
          </a:xfrm>
          <a:prstGeom prst="rect">
            <a:avLst/>
          </a:prstGeom>
          <a:noFill/>
          <a:ln/>
        </p:spPr>
        <p:txBody>
          <a:bodyPr wrap="square" lIns="0" tIns="0" rIns="0" bIns="0" rtlCol="0" anchor="ctr"/>
          <a:lstStyle/>
          <a:p>
            <a:pPr algn="l">
              <a:lnSpc>
                <a:spcPct val="120000"/>
              </a:lnSpc>
            </a:pPr>
            <a:r>
              <a:rPr lang="en-US" sz="2200" b="1" dirty="0">
                <a:solidFill>
                  <a:srgbClr val="0F2647"/>
                </a:solidFill>
                <a:latin typeface="Sorts Mill Goudy" pitchFamily="34" charset="0"/>
                <a:ea typeface="Sorts Mill Goudy" pitchFamily="34" charset="-122"/>
                <a:cs typeface="Sorts Mill Goudy" pitchFamily="34" charset="-120"/>
              </a:rPr>
              <a:t>End-to-end workflow spans data collection through business insight generation in seven integrated stages</a:t>
            </a:r>
            <a:endParaRPr lang="en-US" sz="2200" dirty="0"/>
          </a:p>
        </p:txBody>
      </p:sp>
      <p:sp>
        <p:nvSpPr>
          <p:cNvPr id="5" name="Shape 3"/>
          <p:cNvSpPr/>
          <p:nvPr/>
        </p:nvSpPr>
        <p:spPr>
          <a:xfrm>
            <a:off x="635000" y="863600"/>
            <a:ext cx="14986000" cy="12700"/>
          </a:xfrm>
          <a:prstGeom prst="rect">
            <a:avLst/>
          </a:prstGeom>
          <a:solidFill>
            <a:srgbClr val="D0D8E4"/>
          </a:solidFill>
          <a:ln/>
        </p:spPr>
      </p:sp>
      <p:sp>
        <p:nvSpPr>
          <p:cNvPr id="6" name="Shape 4"/>
          <p:cNvSpPr/>
          <p:nvPr/>
        </p:nvSpPr>
        <p:spPr>
          <a:xfrm>
            <a:off x="1752600" y="1168400"/>
            <a:ext cx="558800" cy="558800"/>
          </a:xfrm>
          <a:prstGeom prst="ellipse">
            <a:avLst/>
          </a:prstGeom>
          <a:solidFill>
            <a:srgbClr val="1B3A6B"/>
          </a:solidFill>
          <a:ln/>
        </p:spPr>
      </p:sp>
      <p:sp>
        <p:nvSpPr>
          <p:cNvPr id="7" name="Text 5"/>
          <p:cNvSpPr/>
          <p:nvPr/>
        </p:nvSpPr>
        <p:spPr>
          <a:xfrm>
            <a:off x="1752600" y="1168400"/>
            <a:ext cx="558800" cy="558800"/>
          </a:xfrm>
          <a:prstGeom prst="rect">
            <a:avLst/>
          </a:prstGeom>
          <a:noFill/>
          <a:ln/>
        </p:spPr>
        <p:txBody>
          <a:bodyPr wrap="none" lIns="0" tIns="0" rIns="0" bIns="0" rtlCol="0" anchor="ctr"/>
          <a:lstStyle/>
          <a:p>
            <a:pPr algn="ctr">
              <a:lnSpc>
                <a:spcPct val="120000"/>
              </a:lnSpc>
            </a:pPr>
            <a:r>
              <a:rPr lang="en-US" sz="1800" b="1" dirty="0">
                <a:solidFill>
                  <a:srgbClr val="FFFFFF"/>
                </a:solidFill>
                <a:latin typeface="Sorts Mill Goudy" pitchFamily="34" charset="0"/>
                <a:ea typeface="Sorts Mill Goudy" pitchFamily="34" charset="-122"/>
                <a:cs typeface="Sorts Mill Goudy" pitchFamily="34" charset="-120"/>
              </a:rPr>
              <a:t>01</a:t>
            </a:r>
            <a:endParaRPr lang="en-US" sz="1800" dirty="0"/>
          </a:p>
        </p:txBody>
      </p:sp>
      <p:sp>
        <p:nvSpPr>
          <p:cNvPr id="8" name="Shape 6"/>
          <p:cNvSpPr/>
          <p:nvPr/>
        </p:nvSpPr>
        <p:spPr>
          <a:xfrm>
            <a:off x="2311400" y="1435100"/>
            <a:ext cx="2362200" cy="25400"/>
          </a:xfrm>
          <a:prstGeom prst="rect">
            <a:avLst/>
          </a:prstGeom>
          <a:solidFill>
            <a:srgbClr val="D0D8E4"/>
          </a:solidFill>
          <a:ln/>
        </p:spPr>
      </p:sp>
      <p:sp>
        <p:nvSpPr>
          <p:cNvPr id="9" name="Shape 7"/>
          <p:cNvSpPr/>
          <p:nvPr/>
        </p:nvSpPr>
        <p:spPr>
          <a:xfrm>
            <a:off x="4673600" y="1168400"/>
            <a:ext cx="558800" cy="558800"/>
          </a:xfrm>
          <a:prstGeom prst="ellipse">
            <a:avLst/>
          </a:prstGeom>
          <a:solidFill>
            <a:srgbClr val="1B3A6B"/>
          </a:solidFill>
          <a:ln/>
        </p:spPr>
      </p:sp>
      <p:sp>
        <p:nvSpPr>
          <p:cNvPr id="10" name="Text 8"/>
          <p:cNvSpPr/>
          <p:nvPr/>
        </p:nvSpPr>
        <p:spPr>
          <a:xfrm>
            <a:off x="4673600" y="1168400"/>
            <a:ext cx="558800" cy="558800"/>
          </a:xfrm>
          <a:prstGeom prst="rect">
            <a:avLst/>
          </a:prstGeom>
          <a:noFill/>
          <a:ln/>
        </p:spPr>
        <p:txBody>
          <a:bodyPr wrap="none" lIns="0" tIns="0" rIns="0" bIns="0" rtlCol="0" anchor="ctr"/>
          <a:lstStyle/>
          <a:p>
            <a:pPr algn="ctr">
              <a:lnSpc>
                <a:spcPct val="120000"/>
              </a:lnSpc>
            </a:pPr>
            <a:r>
              <a:rPr lang="en-US" sz="1800" b="1" dirty="0">
                <a:solidFill>
                  <a:srgbClr val="FFFFFF"/>
                </a:solidFill>
                <a:latin typeface="Sorts Mill Goudy" pitchFamily="34" charset="0"/>
                <a:ea typeface="Sorts Mill Goudy" pitchFamily="34" charset="-122"/>
                <a:cs typeface="Sorts Mill Goudy" pitchFamily="34" charset="-120"/>
              </a:rPr>
              <a:t>02</a:t>
            </a:r>
            <a:endParaRPr lang="en-US" sz="1800" dirty="0"/>
          </a:p>
        </p:txBody>
      </p:sp>
      <p:sp>
        <p:nvSpPr>
          <p:cNvPr id="11" name="Shape 9"/>
          <p:cNvSpPr/>
          <p:nvPr/>
        </p:nvSpPr>
        <p:spPr>
          <a:xfrm>
            <a:off x="5232400" y="1435100"/>
            <a:ext cx="2362200" cy="25400"/>
          </a:xfrm>
          <a:prstGeom prst="rect">
            <a:avLst/>
          </a:prstGeom>
          <a:solidFill>
            <a:srgbClr val="D0D8E4"/>
          </a:solidFill>
          <a:ln/>
        </p:spPr>
      </p:sp>
      <p:sp>
        <p:nvSpPr>
          <p:cNvPr id="12" name="Shape 10"/>
          <p:cNvSpPr/>
          <p:nvPr/>
        </p:nvSpPr>
        <p:spPr>
          <a:xfrm>
            <a:off x="7594600" y="1168400"/>
            <a:ext cx="558800" cy="558800"/>
          </a:xfrm>
          <a:prstGeom prst="ellipse">
            <a:avLst/>
          </a:prstGeom>
          <a:solidFill>
            <a:srgbClr val="C9963B"/>
          </a:solidFill>
          <a:ln/>
        </p:spPr>
      </p:sp>
      <p:sp>
        <p:nvSpPr>
          <p:cNvPr id="13" name="Text 11"/>
          <p:cNvSpPr/>
          <p:nvPr/>
        </p:nvSpPr>
        <p:spPr>
          <a:xfrm>
            <a:off x="7594600" y="1168400"/>
            <a:ext cx="558800" cy="558800"/>
          </a:xfrm>
          <a:prstGeom prst="rect">
            <a:avLst/>
          </a:prstGeom>
          <a:noFill/>
          <a:ln/>
        </p:spPr>
        <p:txBody>
          <a:bodyPr wrap="none" lIns="0" tIns="0" rIns="0" bIns="0" rtlCol="0" anchor="ctr"/>
          <a:lstStyle/>
          <a:p>
            <a:pPr algn="ctr">
              <a:lnSpc>
                <a:spcPct val="120000"/>
              </a:lnSpc>
            </a:pPr>
            <a:r>
              <a:rPr lang="en-US" sz="1800" b="1" dirty="0">
                <a:solidFill>
                  <a:srgbClr val="FFFFFF"/>
                </a:solidFill>
                <a:latin typeface="Sorts Mill Goudy" pitchFamily="34" charset="0"/>
                <a:ea typeface="Sorts Mill Goudy" pitchFamily="34" charset="-122"/>
                <a:cs typeface="Sorts Mill Goudy" pitchFamily="34" charset="-120"/>
              </a:rPr>
              <a:t>03</a:t>
            </a:r>
            <a:endParaRPr lang="en-US" sz="1800" dirty="0"/>
          </a:p>
        </p:txBody>
      </p:sp>
      <p:sp>
        <p:nvSpPr>
          <p:cNvPr id="14" name="Shape 12"/>
          <p:cNvSpPr/>
          <p:nvPr/>
        </p:nvSpPr>
        <p:spPr>
          <a:xfrm>
            <a:off x="8153400" y="1435100"/>
            <a:ext cx="2362200" cy="25400"/>
          </a:xfrm>
          <a:prstGeom prst="rect">
            <a:avLst/>
          </a:prstGeom>
          <a:solidFill>
            <a:srgbClr val="D0D8E4"/>
          </a:solidFill>
          <a:ln/>
        </p:spPr>
      </p:sp>
      <p:sp>
        <p:nvSpPr>
          <p:cNvPr id="15" name="Shape 13"/>
          <p:cNvSpPr/>
          <p:nvPr/>
        </p:nvSpPr>
        <p:spPr>
          <a:xfrm>
            <a:off x="10515600" y="1168400"/>
            <a:ext cx="558800" cy="558800"/>
          </a:xfrm>
          <a:prstGeom prst="ellipse">
            <a:avLst/>
          </a:prstGeom>
          <a:solidFill>
            <a:srgbClr val="1B3A6B"/>
          </a:solidFill>
          <a:ln/>
        </p:spPr>
      </p:sp>
      <p:sp>
        <p:nvSpPr>
          <p:cNvPr id="16" name="Text 14"/>
          <p:cNvSpPr/>
          <p:nvPr/>
        </p:nvSpPr>
        <p:spPr>
          <a:xfrm>
            <a:off x="10515600" y="1168400"/>
            <a:ext cx="558800" cy="558800"/>
          </a:xfrm>
          <a:prstGeom prst="rect">
            <a:avLst/>
          </a:prstGeom>
          <a:noFill/>
          <a:ln/>
        </p:spPr>
        <p:txBody>
          <a:bodyPr wrap="none" lIns="0" tIns="0" rIns="0" bIns="0" rtlCol="0" anchor="ctr"/>
          <a:lstStyle/>
          <a:p>
            <a:pPr algn="ctr">
              <a:lnSpc>
                <a:spcPct val="120000"/>
              </a:lnSpc>
            </a:pPr>
            <a:r>
              <a:rPr lang="en-US" sz="1800" b="1" dirty="0">
                <a:solidFill>
                  <a:srgbClr val="FFFFFF"/>
                </a:solidFill>
                <a:latin typeface="Sorts Mill Goudy" pitchFamily="34" charset="0"/>
                <a:ea typeface="Sorts Mill Goudy" pitchFamily="34" charset="-122"/>
                <a:cs typeface="Sorts Mill Goudy" pitchFamily="34" charset="-120"/>
              </a:rPr>
              <a:t>04</a:t>
            </a:r>
            <a:endParaRPr lang="en-US" sz="1800" dirty="0"/>
          </a:p>
        </p:txBody>
      </p:sp>
      <p:sp>
        <p:nvSpPr>
          <p:cNvPr id="17" name="Shape 15"/>
          <p:cNvSpPr/>
          <p:nvPr/>
        </p:nvSpPr>
        <p:spPr>
          <a:xfrm>
            <a:off x="11074400" y="1435100"/>
            <a:ext cx="2603500" cy="25400"/>
          </a:xfrm>
          <a:prstGeom prst="rect">
            <a:avLst/>
          </a:prstGeom>
          <a:solidFill>
            <a:srgbClr val="D0D8E4"/>
          </a:solidFill>
          <a:ln/>
        </p:spPr>
      </p:sp>
      <p:sp>
        <p:nvSpPr>
          <p:cNvPr id="18" name="Shape 16"/>
          <p:cNvSpPr/>
          <p:nvPr/>
        </p:nvSpPr>
        <p:spPr>
          <a:xfrm>
            <a:off x="13677900" y="1168400"/>
            <a:ext cx="558800" cy="558800"/>
          </a:xfrm>
          <a:prstGeom prst="ellipse">
            <a:avLst/>
          </a:prstGeom>
          <a:solidFill>
            <a:srgbClr val="0F2647"/>
          </a:solidFill>
          <a:ln/>
        </p:spPr>
      </p:sp>
      <p:sp>
        <p:nvSpPr>
          <p:cNvPr id="19" name="Text 17"/>
          <p:cNvSpPr/>
          <p:nvPr/>
        </p:nvSpPr>
        <p:spPr>
          <a:xfrm>
            <a:off x="13677900" y="1168400"/>
            <a:ext cx="558800" cy="558800"/>
          </a:xfrm>
          <a:prstGeom prst="rect">
            <a:avLst/>
          </a:prstGeom>
          <a:noFill/>
          <a:ln/>
        </p:spPr>
        <p:txBody>
          <a:bodyPr wrap="none" lIns="0" tIns="0" rIns="0" bIns="0" rtlCol="0" anchor="ctr"/>
          <a:lstStyle/>
          <a:p>
            <a:pPr algn="ctr">
              <a:lnSpc>
                <a:spcPct val="120000"/>
              </a:lnSpc>
            </a:pPr>
            <a:r>
              <a:rPr lang="en-US" sz="1800" b="1" dirty="0">
                <a:solidFill>
                  <a:srgbClr val="FFFFFF"/>
                </a:solidFill>
                <a:latin typeface="Sorts Mill Goudy" pitchFamily="34" charset="0"/>
                <a:ea typeface="Sorts Mill Goudy" pitchFamily="34" charset="-122"/>
                <a:cs typeface="Sorts Mill Goudy" pitchFamily="34" charset="-120"/>
              </a:rPr>
              <a:t>05</a:t>
            </a:r>
            <a:endParaRPr lang="en-US" sz="1800" dirty="0"/>
          </a:p>
        </p:txBody>
      </p:sp>
      <p:sp>
        <p:nvSpPr>
          <p:cNvPr id="20" name="Text 18"/>
          <p:cNvSpPr/>
          <p:nvPr/>
        </p:nvSpPr>
        <p:spPr>
          <a:xfrm>
            <a:off x="1435100" y="939800"/>
            <a:ext cx="1193800" cy="203200"/>
          </a:xfrm>
          <a:prstGeom prst="rect">
            <a:avLst/>
          </a:prstGeom>
          <a:noFill/>
          <a:ln/>
        </p:spPr>
        <p:txBody>
          <a:bodyPr wrap="none" lIns="0" tIns="0" rIns="0" bIns="0" rtlCol="0" anchor="ctr"/>
          <a:lstStyle/>
          <a:p>
            <a:pPr algn="ctr">
              <a:lnSpc>
                <a:spcPct val="120000"/>
              </a:lnSpc>
            </a:pPr>
            <a:r>
              <a:rPr lang="en-US" sz="1200" dirty="0">
                <a:solidFill>
                  <a:srgbClr val="1B3A6B"/>
                </a:solidFill>
                <a:latin typeface="Liter" pitchFamily="34" charset="0"/>
                <a:ea typeface="Liter" pitchFamily="34" charset="-122"/>
                <a:cs typeface="Liter" pitchFamily="34" charset="-120"/>
              </a:rPr>
              <a:t>Collection</a:t>
            </a:r>
            <a:endParaRPr lang="en-US" sz="1200" dirty="0"/>
          </a:p>
        </p:txBody>
      </p:sp>
      <p:sp>
        <p:nvSpPr>
          <p:cNvPr id="21" name="Text 19"/>
          <p:cNvSpPr/>
          <p:nvPr/>
        </p:nvSpPr>
        <p:spPr>
          <a:xfrm>
            <a:off x="4356100" y="939800"/>
            <a:ext cx="1193800" cy="203200"/>
          </a:xfrm>
          <a:prstGeom prst="rect">
            <a:avLst/>
          </a:prstGeom>
          <a:noFill/>
          <a:ln/>
        </p:spPr>
        <p:txBody>
          <a:bodyPr wrap="none" lIns="0" tIns="0" rIns="0" bIns="0" rtlCol="0" anchor="ctr"/>
          <a:lstStyle/>
          <a:p>
            <a:pPr algn="ctr">
              <a:lnSpc>
                <a:spcPct val="120000"/>
              </a:lnSpc>
            </a:pPr>
            <a:r>
              <a:rPr lang="en-US" sz="1200" dirty="0">
                <a:solidFill>
                  <a:srgbClr val="1B3A6B"/>
                </a:solidFill>
                <a:latin typeface="Liter" pitchFamily="34" charset="0"/>
                <a:ea typeface="Liter" pitchFamily="34" charset="-122"/>
                <a:cs typeface="Liter" pitchFamily="34" charset="-120"/>
              </a:rPr>
              <a:t>Import</a:t>
            </a:r>
            <a:endParaRPr lang="en-US" sz="1200" dirty="0"/>
          </a:p>
        </p:txBody>
      </p:sp>
      <p:sp>
        <p:nvSpPr>
          <p:cNvPr id="22" name="Text 20"/>
          <p:cNvSpPr/>
          <p:nvPr/>
        </p:nvSpPr>
        <p:spPr>
          <a:xfrm>
            <a:off x="7277100" y="939800"/>
            <a:ext cx="1193800" cy="203200"/>
          </a:xfrm>
          <a:prstGeom prst="rect">
            <a:avLst/>
          </a:prstGeom>
          <a:noFill/>
          <a:ln/>
        </p:spPr>
        <p:txBody>
          <a:bodyPr wrap="none" lIns="0" tIns="0" rIns="0" bIns="0" rtlCol="0" anchor="ctr"/>
          <a:lstStyle/>
          <a:p>
            <a:pPr algn="ctr">
              <a:lnSpc>
                <a:spcPct val="120000"/>
              </a:lnSpc>
            </a:pPr>
            <a:r>
              <a:rPr lang="en-US" sz="1200" dirty="0">
                <a:solidFill>
                  <a:srgbClr val="C9963B"/>
                </a:solidFill>
                <a:latin typeface="Liter" pitchFamily="34" charset="0"/>
                <a:ea typeface="Liter" pitchFamily="34" charset="-122"/>
                <a:cs typeface="Liter" pitchFamily="34" charset="-120"/>
              </a:rPr>
              <a:t>Cleaning</a:t>
            </a:r>
            <a:endParaRPr lang="en-US" sz="1200" dirty="0"/>
          </a:p>
        </p:txBody>
      </p:sp>
      <p:sp>
        <p:nvSpPr>
          <p:cNvPr id="23" name="Text 21"/>
          <p:cNvSpPr/>
          <p:nvPr/>
        </p:nvSpPr>
        <p:spPr>
          <a:xfrm>
            <a:off x="10198100" y="939800"/>
            <a:ext cx="1193800" cy="203200"/>
          </a:xfrm>
          <a:prstGeom prst="rect">
            <a:avLst/>
          </a:prstGeom>
          <a:noFill/>
          <a:ln/>
        </p:spPr>
        <p:txBody>
          <a:bodyPr wrap="none" lIns="0" tIns="0" rIns="0" bIns="0" rtlCol="0" anchor="ctr"/>
          <a:lstStyle/>
          <a:p>
            <a:pPr algn="ctr">
              <a:lnSpc>
                <a:spcPct val="120000"/>
              </a:lnSpc>
            </a:pPr>
            <a:r>
              <a:rPr lang="en-US" sz="1200" dirty="0">
                <a:solidFill>
                  <a:srgbClr val="1B3A6B"/>
                </a:solidFill>
                <a:latin typeface="Liter" pitchFamily="34" charset="0"/>
                <a:ea typeface="Liter" pitchFamily="34" charset="-122"/>
                <a:cs typeface="Liter" pitchFamily="34" charset="-120"/>
              </a:rPr>
              <a:t>Analysis</a:t>
            </a:r>
            <a:endParaRPr lang="en-US" sz="1200" dirty="0"/>
          </a:p>
        </p:txBody>
      </p:sp>
      <p:sp>
        <p:nvSpPr>
          <p:cNvPr id="24" name="Text 22"/>
          <p:cNvSpPr/>
          <p:nvPr/>
        </p:nvSpPr>
        <p:spPr>
          <a:xfrm>
            <a:off x="13360400" y="939800"/>
            <a:ext cx="1193800" cy="203200"/>
          </a:xfrm>
          <a:prstGeom prst="rect">
            <a:avLst/>
          </a:prstGeom>
          <a:noFill/>
          <a:ln/>
        </p:spPr>
        <p:txBody>
          <a:bodyPr wrap="none" lIns="0" tIns="0" rIns="0" bIns="0" rtlCol="0" anchor="ctr"/>
          <a:lstStyle/>
          <a:p>
            <a:pPr algn="ctr">
              <a:lnSpc>
                <a:spcPct val="120000"/>
              </a:lnSpc>
            </a:pPr>
            <a:r>
              <a:rPr lang="en-US" sz="1200" dirty="0">
                <a:solidFill>
                  <a:srgbClr val="0F2647"/>
                </a:solidFill>
                <a:latin typeface="Liter" pitchFamily="34" charset="0"/>
                <a:ea typeface="Liter" pitchFamily="34" charset="-122"/>
                <a:cs typeface="Liter" pitchFamily="34" charset="-120"/>
              </a:rPr>
              <a:t>Dashboard</a:t>
            </a:r>
            <a:endParaRPr lang="en-US" sz="1200" dirty="0"/>
          </a:p>
        </p:txBody>
      </p:sp>
      <p:sp>
        <p:nvSpPr>
          <p:cNvPr id="25" name="Shape 23"/>
          <p:cNvSpPr/>
          <p:nvPr/>
        </p:nvSpPr>
        <p:spPr>
          <a:xfrm>
            <a:off x="635000" y="1905000"/>
            <a:ext cx="2794000" cy="3556000"/>
          </a:xfrm>
          <a:prstGeom prst="rect">
            <a:avLst/>
          </a:prstGeom>
          <a:solidFill>
            <a:srgbClr val="EBF0F7"/>
          </a:solidFill>
          <a:ln/>
        </p:spPr>
      </p:sp>
      <p:sp>
        <p:nvSpPr>
          <p:cNvPr id="26" name="Shape 24"/>
          <p:cNvSpPr/>
          <p:nvPr/>
        </p:nvSpPr>
        <p:spPr>
          <a:xfrm>
            <a:off x="635000" y="1905000"/>
            <a:ext cx="2794000" cy="50800"/>
          </a:xfrm>
          <a:prstGeom prst="rect">
            <a:avLst/>
          </a:prstGeom>
          <a:solidFill>
            <a:srgbClr val="1B3A6B"/>
          </a:solidFill>
          <a:ln/>
        </p:spPr>
      </p:sp>
      <p:sp>
        <p:nvSpPr>
          <p:cNvPr id="27" name="Text 25"/>
          <p:cNvSpPr/>
          <p:nvPr/>
        </p:nvSpPr>
        <p:spPr>
          <a:xfrm>
            <a:off x="787400" y="2057400"/>
            <a:ext cx="2489200" cy="355600"/>
          </a:xfrm>
          <a:prstGeom prst="rect">
            <a:avLst/>
          </a:prstGeom>
          <a:noFill/>
          <a:ln/>
        </p:spPr>
        <p:txBody>
          <a:bodyPr wrap="square" lIns="0" tIns="0" rIns="0" bIns="0" rtlCol="0" anchor="t"/>
          <a:lstStyle/>
          <a:p>
            <a:pPr algn="l">
              <a:lnSpc>
                <a:spcPct val="120000"/>
              </a:lnSpc>
            </a:pPr>
            <a:r>
              <a:rPr lang="en-US" sz="1500" b="1" dirty="0">
                <a:solidFill>
                  <a:srgbClr val="1B3A6B"/>
                </a:solidFill>
                <a:latin typeface="Sorts Mill Goudy" pitchFamily="34" charset="0"/>
                <a:ea typeface="Sorts Mill Goudy" pitchFamily="34" charset="-122"/>
                <a:cs typeface="Sorts Mill Goudy" pitchFamily="34" charset="-120"/>
              </a:rPr>
              <a:t>Dataset Collection</a:t>
            </a:r>
            <a:endParaRPr lang="en-US" sz="1500" dirty="0"/>
          </a:p>
        </p:txBody>
      </p:sp>
      <p:sp>
        <p:nvSpPr>
          <p:cNvPr id="28" name="Text 26"/>
          <p:cNvSpPr/>
          <p:nvPr/>
        </p:nvSpPr>
        <p:spPr>
          <a:xfrm>
            <a:off x="787400" y="2489200"/>
            <a:ext cx="2489200" cy="2794000"/>
          </a:xfrm>
          <a:prstGeom prst="rect">
            <a:avLst/>
          </a:prstGeom>
          <a:noFill/>
          <a:ln/>
        </p:spPr>
        <p:txBody>
          <a:bodyPr wrap="square" lIns="0" tIns="0" rIns="0" bIns="0" rtlCol="0" anchor="t"/>
          <a:lstStyle/>
          <a:p>
            <a:pPr algn="l">
              <a:lnSpc>
                <a:spcPct val="170000"/>
              </a:lnSpc>
            </a:pPr>
            <a:r>
              <a:rPr lang="en-US" sz="1300" dirty="0">
                <a:solidFill>
                  <a:srgbClr val="2D2D2D"/>
                </a:solidFill>
                <a:latin typeface="Liter" pitchFamily="34" charset="0"/>
                <a:ea typeface="Liter" pitchFamily="34" charset="-122"/>
                <a:cs typeface="Liter" pitchFamily="34" charset="-120"/>
              </a:rPr>
              <a:t>■ Source online retail data</a:t>
            </a:r>
            <a:endParaRPr lang="en-US" sz="1300" dirty="0"/>
          </a:p>
          <a:p>
            <a:pPr algn="l">
              <a:lnSpc>
                <a:spcPct val="170000"/>
              </a:lnSpc>
            </a:pPr>
            <a:r>
              <a:rPr lang="en-US" sz="1300" dirty="0">
                <a:solidFill>
                  <a:srgbClr val="2D2D2D"/>
                </a:solidFill>
                <a:latin typeface="Liter" pitchFamily="34" charset="0"/>
                <a:ea typeface="Liter" pitchFamily="34" charset="-122"/>
                <a:cs typeface="Liter" pitchFamily="34" charset="-120"/>
              </a:rPr>
              <a:t>■ Multi-year transactions</a:t>
            </a:r>
            <a:endParaRPr lang="en-US" sz="1300" dirty="0"/>
          </a:p>
          <a:p>
            <a:pPr algn="l">
              <a:lnSpc>
                <a:spcPct val="170000"/>
              </a:lnSpc>
            </a:pPr>
            <a:r>
              <a:rPr lang="en-US" sz="1300" dirty="0">
                <a:solidFill>
                  <a:srgbClr val="2D2D2D"/>
                </a:solidFill>
                <a:latin typeface="Liter" pitchFamily="34" charset="0"/>
                <a:ea typeface="Liter" pitchFamily="34" charset="-122"/>
                <a:cs typeface="Liter" pitchFamily="34" charset="-120"/>
              </a:rPr>
              <a:t>■ Customer purchase details</a:t>
            </a:r>
            <a:endParaRPr lang="en-US" sz="1300" dirty="0"/>
          </a:p>
          <a:p>
            <a:pPr algn="l">
              <a:lnSpc>
                <a:spcPct val="170000"/>
              </a:lnSpc>
            </a:pPr>
            <a:r>
              <a:rPr lang="en-US" sz="1300" dirty="0">
                <a:solidFill>
                  <a:srgbClr val="2D2D2D"/>
                </a:solidFill>
                <a:latin typeface="Liter" pitchFamily="34" charset="0"/>
                <a:ea typeface="Liter" pitchFamily="34" charset="-122"/>
                <a:cs typeface="Liter" pitchFamily="34" charset="-120"/>
              </a:rPr>
              <a:t>■ Product sales records</a:t>
            </a:r>
            <a:endParaRPr lang="en-US" sz="1300" dirty="0"/>
          </a:p>
          <a:p>
            <a:pPr algn="l">
              <a:lnSpc>
                <a:spcPct val="170000"/>
              </a:lnSpc>
            </a:pPr>
            <a:r>
              <a:rPr lang="en-US" sz="1300" dirty="0">
                <a:solidFill>
                  <a:srgbClr val="2D2D2D"/>
                </a:solidFill>
                <a:latin typeface="Liter" pitchFamily="34" charset="0"/>
                <a:ea typeface="Liter" pitchFamily="34" charset="-122"/>
                <a:cs typeface="Liter" pitchFamily="34" charset="-120"/>
              </a:rPr>
              <a:t>■ Country-wise data</a:t>
            </a:r>
            <a:endParaRPr lang="en-US" sz="1300" dirty="0"/>
          </a:p>
          <a:p>
            <a:pPr algn="l">
              <a:lnSpc>
                <a:spcPct val="170000"/>
              </a:lnSpc>
            </a:pPr>
            <a:r>
              <a:rPr lang="en-US" sz="1300" dirty="0">
                <a:solidFill>
                  <a:srgbClr val="2D2D2D"/>
                </a:solidFill>
                <a:latin typeface="Liter" pitchFamily="34" charset="0"/>
                <a:ea typeface="Liter" pitchFamily="34" charset="-122"/>
                <a:cs typeface="Liter" pitchFamily="34" charset="-120"/>
              </a:rPr>
              <a:t>■ CSV/TSV format files</a:t>
            </a:r>
            <a:endParaRPr lang="en-US" sz="1300" dirty="0"/>
          </a:p>
          <a:p>
            <a:pPr algn="l">
              <a:lnSpc>
                <a:spcPct val="170000"/>
              </a:lnSpc>
            </a:pPr>
            <a:r>
              <a:rPr lang="en-US" sz="1100" dirty="0">
                <a:solidFill>
                  <a:srgbClr val="C9963B"/>
                </a:solidFill>
                <a:latin typeface="Liter" pitchFamily="34" charset="0"/>
                <a:ea typeface="Liter" pitchFamily="34" charset="-122"/>
                <a:cs typeface="Liter" pitchFamily="34" charset="-120"/>
              </a:rPr>
              <a:t>Input: Raw datasets</a:t>
            </a:r>
            <a:endParaRPr lang="en-US" sz="1300" dirty="0"/>
          </a:p>
        </p:txBody>
      </p:sp>
      <p:sp>
        <p:nvSpPr>
          <p:cNvPr id="29" name="Shape 27"/>
          <p:cNvSpPr/>
          <p:nvPr/>
        </p:nvSpPr>
        <p:spPr>
          <a:xfrm>
            <a:off x="3556000" y="1905000"/>
            <a:ext cx="2794000" cy="3556000"/>
          </a:xfrm>
          <a:prstGeom prst="rect">
            <a:avLst/>
          </a:prstGeom>
          <a:solidFill>
            <a:srgbClr val="EBF0F7"/>
          </a:solidFill>
          <a:ln/>
        </p:spPr>
      </p:sp>
      <p:sp>
        <p:nvSpPr>
          <p:cNvPr id="30" name="Shape 28"/>
          <p:cNvSpPr/>
          <p:nvPr/>
        </p:nvSpPr>
        <p:spPr>
          <a:xfrm>
            <a:off x="3556000" y="1905000"/>
            <a:ext cx="2794000" cy="50800"/>
          </a:xfrm>
          <a:prstGeom prst="rect">
            <a:avLst/>
          </a:prstGeom>
          <a:solidFill>
            <a:srgbClr val="1B3A6B"/>
          </a:solidFill>
          <a:ln/>
        </p:spPr>
      </p:sp>
      <p:sp>
        <p:nvSpPr>
          <p:cNvPr id="31" name="Text 29"/>
          <p:cNvSpPr/>
          <p:nvPr/>
        </p:nvSpPr>
        <p:spPr>
          <a:xfrm>
            <a:off x="3708400" y="2057400"/>
            <a:ext cx="2489200" cy="355600"/>
          </a:xfrm>
          <a:prstGeom prst="rect">
            <a:avLst/>
          </a:prstGeom>
          <a:noFill/>
          <a:ln/>
        </p:spPr>
        <p:txBody>
          <a:bodyPr wrap="square" lIns="0" tIns="0" rIns="0" bIns="0" rtlCol="0" anchor="t"/>
          <a:lstStyle/>
          <a:p>
            <a:pPr algn="l">
              <a:lnSpc>
                <a:spcPct val="120000"/>
              </a:lnSpc>
            </a:pPr>
            <a:r>
              <a:rPr lang="en-US" sz="1500" b="1" dirty="0">
                <a:solidFill>
                  <a:srgbClr val="1B3A6B"/>
                </a:solidFill>
                <a:latin typeface="Sorts Mill Goudy" pitchFamily="34" charset="0"/>
                <a:ea typeface="Sorts Mill Goudy" pitchFamily="34" charset="-122"/>
                <a:cs typeface="Sorts Mill Goudy" pitchFamily="34" charset="-120"/>
              </a:rPr>
              <a:t>Data Import into MySQL</a:t>
            </a:r>
            <a:endParaRPr lang="en-US" sz="1500" dirty="0"/>
          </a:p>
        </p:txBody>
      </p:sp>
      <p:sp>
        <p:nvSpPr>
          <p:cNvPr id="32" name="Text 30"/>
          <p:cNvSpPr/>
          <p:nvPr/>
        </p:nvSpPr>
        <p:spPr>
          <a:xfrm>
            <a:off x="3708400" y="2489200"/>
            <a:ext cx="2489200" cy="2794000"/>
          </a:xfrm>
          <a:prstGeom prst="rect">
            <a:avLst/>
          </a:prstGeom>
          <a:noFill/>
          <a:ln/>
        </p:spPr>
        <p:txBody>
          <a:bodyPr wrap="square" lIns="0" tIns="0" rIns="0" bIns="0" rtlCol="0" anchor="t"/>
          <a:lstStyle/>
          <a:p>
            <a:pPr algn="l">
              <a:lnSpc>
                <a:spcPct val="170000"/>
              </a:lnSpc>
            </a:pPr>
            <a:r>
              <a:rPr lang="en-US" sz="1300" dirty="0">
                <a:solidFill>
                  <a:srgbClr val="2D2D2D"/>
                </a:solidFill>
                <a:latin typeface="Liter" pitchFamily="34" charset="0"/>
                <a:ea typeface="Liter" pitchFamily="34" charset="-122"/>
                <a:cs typeface="Liter" pitchFamily="34" charset="-120"/>
              </a:rPr>
              <a:t>■ Create database</a:t>
            </a:r>
            <a:endParaRPr lang="en-US" sz="1300" dirty="0"/>
          </a:p>
          <a:p>
            <a:pPr algn="l">
              <a:lnSpc>
                <a:spcPct val="170000"/>
              </a:lnSpc>
            </a:pPr>
            <a:r>
              <a:rPr lang="en-US" sz="1300" dirty="0">
                <a:solidFill>
                  <a:srgbClr val="2D2D2D"/>
                </a:solidFill>
                <a:latin typeface="Liter" pitchFamily="34" charset="0"/>
                <a:ea typeface="Liter" pitchFamily="34" charset="-122"/>
                <a:cs typeface="Liter" pitchFamily="34" charset="-120"/>
              </a:rPr>
              <a:t>■ Design table schema</a:t>
            </a:r>
            <a:endParaRPr lang="en-US" sz="1300" dirty="0"/>
          </a:p>
          <a:p>
            <a:pPr algn="l">
              <a:lnSpc>
                <a:spcPct val="170000"/>
              </a:lnSpc>
            </a:pPr>
            <a:r>
              <a:rPr lang="en-US" sz="1300" dirty="0">
                <a:solidFill>
                  <a:srgbClr val="2D2D2D"/>
                </a:solidFill>
                <a:latin typeface="Liter" pitchFamily="34" charset="0"/>
                <a:ea typeface="Liter" pitchFamily="34" charset="-122"/>
                <a:cs typeface="Liter" pitchFamily="34" charset="-120"/>
              </a:rPr>
              <a:t>■ LOAD DATA INFILE</a:t>
            </a:r>
            <a:endParaRPr lang="en-US" sz="1300" dirty="0"/>
          </a:p>
          <a:p>
            <a:pPr algn="l">
              <a:lnSpc>
                <a:spcPct val="170000"/>
              </a:lnSpc>
            </a:pPr>
            <a:r>
              <a:rPr lang="en-US" sz="1300" dirty="0">
                <a:solidFill>
                  <a:srgbClr val="2D2D2D"/>
                </a:solidFill>
                <a:latin typeface="Liter" pitchFamily="34" charset="0"/>
                <a:ea typeface="Liter" pitchFamily="34" charset="-122"/>
                <a:cs typeface="Liter" pitchFamily="34" charset="-120"/>
              </a:rPr>
              <a:t>■ UTF8mb4 encoding</a:t>
            </a:r>
            <a:endParaRPr lang="en-US" sz="1300" dirty="0"/>
          </a:p>
          <a:p>
            <a:pPr algn="l">
              <a:lnSpc>
                <a:spcPct val="170000"/>
              </a:lnSpc>
            </a:pPr>
            <a:r>
              <a:rPr lang="en-US" sz="1300" dirty="0">
                <a:solidFill>
                  <a:srgbClr val="2D2D2D"/>
                </a:solidFill>
                <a:latin typeface="Liter" pitchFamily="34" charset="0"/>
                <a:ea typeface="Liter" pitchFamily="34" charset="-122"/>
                <a:cs typeface="Liter" pitchFamily="34" charset="-120"/>
              </a:rPr>
              <a:t>■ Handle import errors</a:t>
            </a:r>
            <a:endParaRPr lang="en-US" sz="1300" dirty="0"/>
          </a:p>
          <a:p>
            <a:pPr algn="l">
              <a:lnSpc>
                <a:spcPct val="170000"/>
              </a:lnSpc>
            </a:pPr>
            <a:r>
              <a:rPr lang="en-US" sz="1300" dirty="0">
                <a:solidFill>
                  <a:srgbClr val="2D2D2D"/>
                </a:solidFill>
                <a:latin typeface="Liter" pitchFamily="34" charset="0"/>
                <a:ea typeface="Liter" pitchFamily="34" charset="-122"/>
                <a:cs typeface="Liter" pitchFamily="34" charset="-120"/>
              </a:rPr>
              <a:t>■ Validate data load</a:t>
            </a:r>
            <a:endParaRPr lang="en-US" sz="1300" dirty="0"/>
          </a:p>
          <a:p>
            <a:pPr algn="l">
              <a:lnSpc>
                <a:spcPct val="170000"/>
              </a:lnSpc>
            </a:pPr>
            <a:r>
              <a:rPr lang="en-US" sz="1100" dirty="0">
                <a:solidFill>
                  <a:srgbClr val="C9963B"/>
                </a:solidFill>
                <a:latin typeface="Liter" pitchFamily="34" charset="0"/>
                <a:ea typeface="Liter" pitchFamily="34" charset="-122"/>
                <a:cs typeface="Liter" pitchFamily="34" charset="-120"/>
              </a:rPr>
              <a:t>Tool: MySQL Workbench</a:t>
            </a:r>
            <a:endParaRPr lang="en-US" sz="1300" dirty="0"/>
          </a:p>
        </p:txBody>
      </p:sp>
      <p:sp>
        <p:nvSpPr>
          <p:cNvPr id="33" name="Shape 31"/>
          <p:cNvSpPr/>
          <p:nvPr/>
        </p:nvSpPr>
        <p:spPr>
          <a:xfrm>
            <a:off x="6477000" y="1905000"/>
            <a:ext cx="2794000" cy="3556000"/>
          </a:xfrm>
          <a:prstGeom prst="rect">
            <a:avLst/>
          </a:prstGeom>
          <a:solidFill>
            <a:srgbClr val="FEF6E8"/>
          </a:solidFill>
          <a:ln/>
        </p:spPr>
      </p:sp>
      <p:sp>
        <p:nvSpPr>
          <p:cNvPr id="34" name="Shape 32"/>
          <p:cNvSpPr/>
          <p:nvPr/>
        </p:nvSpPr>
        <p:spPr>
          <a:xfrm>
            <a:off x="6477000" y="1905000"/>
            <a:ext cx="2794000" cy="50800"/>
          </a:xfrm>
          <a:prstGeom prst="rect">
            <a:avLst/>
          </a:prstGeom>
          <a:solidFill>
            <a:srgbClr val="C9963B"/>
          </a:solidFill>
          <a:ln/>
        </p:spPr>
      </p:sp>
      <p:sp>
        <p:nvSpPr>
          <p:cNvPr id="35" name="Text 33"/>
          <p:cNvSpPr/>
          <p:nvPr/>
        </p:nvSpPr>
        <p:spPr>
          <a:xfrm>
            <a:off x="6629400" y="2057400"/>
            <a:ext cx="2489200" cy="355600"/>
          </a:xfrm>
          <a:prstGeom prst="rect">
            <a:avLst/>
          </a:prstGeom>
          <a:noFill/>
          <a:ln/>
        </p:spPr>
        <p:txBody>
          <a:bodyPr wrap="square" lIns="0" tIns="0" rIns="0" bIns="0" rtlCol="0" anchor="t"/>
          <a:lstStyle/>
          <a:p>
            <a:pPr algn="l">
              <a:lnSpc>
                <a:spcPct val="120000"/>
              </a:lnSpc>
            </a:pPr>
            <a:r>
              <a:rPr lang="en-US" sz="1400" b="1" dirty="0">
                <a:solidFill>
                  <a:srgbClr val="C9963B"/>
                </a:solidFill>
                <a:latin typeface="Sorts Mill Goudy" pitchFamily="34" charset="0"/>
                <a:ea typeface="Sorts Mill Goudy" pitchFamily="34" charset="-122"/>
                <a:cs typeface="Sorts Mill Goudy" pitchFamily="34" charset="-120"/>
              </a:rPr>
              <a:t>Cleaning &amp; Transformation</a:t>
            </a:r>
            <a:endParaRPr lang="en-US" sz="1400" dirty="0"/>
          </a:p>
        </p:txBody>
      </p:sp>
      <p:sp>
        <p:nvSpPr>
          <p:cNvPr id="36" name="Text 34"/>
          <p:cNvSpPr/>
          <p:nvPr/>
        </p:nvSpPr>
        <p:spPr>
          <a:xfrm>
            <a:off x="6629400" y="2489200"/>
            <a:ext cx="2489200" cy="2794000"/>
          </a:xfrm>
          <a:prstGeom prst="rect">
            <a:avLst/>
          </a:prstGeom>
          <a:noFill/>
          <a:ln/>
        </p:spPr>
        <p:txBody>
          <a:bodyPr wrap="square" lIns="0" tIns="0" rIns="0" bIns="0" rtlCol="0" anchor="t"/>
          <a:lstStyle/>
          <a:p>
            <a:pPr algn="l">
              <a:lnSpc>
                <a:spcPct val="170000"/>
              </a:lnSpc>
            </a:pPr>
            <a:r>
              <a:rPr lang="en-US" sz="1300" dirty="0">
                <a:solidFill>
                  <a:srgbClr val="2D2D2D"/>
                </a:solidFill>
                <a:latin typeface="Liter" pitchFamily="34" charset="0"/>
                <a:ea typeface="Liter" pitchFamily="34" charset="-122"/>
                <a:cs typeface="Liter" pitchFamily="34" charset="-120"/>
              </a:rPr>
              <a:t>■ Remove null customer IDs</a:t>
            </a:r>
            <a:endParaRPr lang="en-US" sz="1300" dirty="0"/>
          </a:p>
          <a:p>
            <a:pPr algn="l">
              <a:lnSpc>
                <a:spcPct val="170000"/>
              </a:lnSpc>
            </a:pPr>
            <a:r>
              <a:rPr lang="en-US" sz="1300" dirty="0">
                <a:solidFill>
                  <a:srgbClr val="2D2D2D"/>
                </a:solidFill>
                <a:latin typeface="Liter" pitchFamily="34" charset="0"/>
                <a:ea typeface="Liter" pitchFamily="34" charset="-122"/>
                <a:cs typeface="Liter" pitchFamily="34" charset="-120"/>
              </a:rPr>
              <a:t>■ Remove invalid prices</a:t>
            </a:r>
            <a:endParaRPr lang="en-US" sz="1300" dirty="0"/>
          </a:p>
          <a:p>
            <a:pPr algn="l">
              <a:lnSpc>
                <a:spcPct val="170000"/>
              </a:lnSpc>
            </a:pPr>
            <a:r>
              <a:rPr lang="en-US" sz="1300" dirty="0">
                <a:solidFill>
                  <a:srgbClr val="2D2D2D"/>
                </a:solidFill>
                <a:latin typeface="Liter" pitchFamily="34" charset="0"/>
                <a:ea typeface="Liter" pitchFamily="34" charset="-122"/>
                <a:cs typeface="Liter" pitchFamily="34" charset="-120"/>
              </a:rPr>
              <a:t>■ Remove negative quantities</a:t>
            </a:r>
            <a:endParaRPr lang="en-US" sz="1300" dirty="0"/>
          </a:p>
          <a:p>
            <a:pPr algn="l">
              <a:lnSpc>
                <a:spcPct val="170000"/>
              </a:lnSpc>
            </a:pPr>
            <a:r>
              <a:rPr lang="en-US" sz="1300" dirty="0">
                <a:solidFill>
                  <a:srgbClr val="2D2D2D"/>
                </a:solidFill>
                <a:latin typeface="Liter" pitchFamily="34" charset="0"/>
                <a:ea typeface="Liter" pitchFamily="34" charset="-122"/>
                <a:cs typeface="Liter" pitchFamily="34" charset="-120"/>
              </a:rPr>
              <a:t>■ Standardize datetime</a:t>
            </a:r>
            <a:endParaRPr lang="en-US" sz="1300" dirty="0"/>
          </a:p>
          <a:p>
            <a:pPr algn="l">
              <a:lnSpc>
                <a:spcPct val="170000"/>
              </a:lnSpc>
            </a:pPr>
            <a:r>
              <a:rPr lang="en-US" sz="1300" dirty="0">
                <a:solidFill>
                  <a:srgbClr val="2D2D2D"/>
                </a:solidFill>
                <a:latin typeface="Liter" pitchFamily="34" charset="0"/>
                <a:ea typeface="Liter" pitchFamily="34" charset="-122"/>
                <a:cs typeface="Liter" pitchFamily="34" charset="-120"/>
              </a:rPr>
              <a:t>■ Combine yearly tables</a:t>
            </a:r>
            <a:endParaRPr lang="en-US" sz="1300" dirty="0"/>
          </a:p>
          <a:p>
            <a:pPr algn="l">
              <a:lnSpc>
                <a:spcPct val="170000"/>
              </a:lnSpc>
            </a:pPr>
            <a:r>
              <a:rPr lang="en-US" sz="1300" dirty="0">
                <a:solidFill>
                  <a:srgbClr val="2D2D2D"/>
                </a:solidFill>
                <a:latin typeface="Liter" pitchFamily="34" charset="0"/>
                <a:ea typeface="Liter" pitchFamily="34" charset="-122"/>
                <a:cs typeface="Liter" pitchFamily="34" charset="-120"/>
              </a:rPr>
              <a:t>■ Compute total_sales</a:t>
            </a:r>
            <a:endParaRPr lang="en-US" sz="1300" dirty="0"/>
          </a:p>
          <a:p>
            <a:pPr algn="l">
              <a:lnSpc>
                <a:spcPct val="170000"/>
              </a:lnSpc>
            </a:pPr>
            <a:r>
              <a:rPr lang="en-US" sz="1100" dirty="0">
                <a:solidFill>
                  <a:srgbClr val="C9963B"/>
                </a:solidFill>
                <a:latin typeface="Liter" pitchFamily="34" charset="0"/>
                <a:ea typeface="Liter" pitchFamily="34" charset="-122"/>
                <a:cs typeface="Liter" pitchFamily="34" charset="-120"/>
              </a:rPr>
              <a:t>Tool: SQL Queries</a:t>
            </a:r>
            <a:endParaRPr lang="en-US" sz="1300" dirty="0"/>
          </a:p>
        </p:txBody>
      </p:sp>
      <p:sp>
        <p:nvSpPr>
          <p:cNvPr id="37" name="Shape 35"/>
          <p:cNvSpPr/>
          <p:nvPr/>
        </p:nvSpPr>
        <p:spPr>
          <a:xfrm>
            <a:off x="9398000" y="1905000"/>
            <a:ext cx="2794000" cy="3556000"/>
          </a:xfrm>
          <a:prstGeom prst="rect">
            <a:avLst/>
          </a:prstGeom>
          <a:solidFill>
            <a:srgbClr val="EBF0F7"/>
          </a:solidFill>
          <a:ln/>
        </p:spPr>
      </p:sp>
      <p:sp>
        <p:nvSpPr>
          <p:cNvPr id="38" name="Shape 36"/>
          <p:cNvSpPr/>
          <p:nvPr/>
        </p:nvSpPr>
        <p:spPr>
          <a:xfrm>
            <a:off x="9398000" y="1905000"/>
            <a:ext cx="2794000" cy="50800"/>
          </a:xfrm>
          <a:prstGeom prst="rect">
            <a:avLst/>
          </a:prstGeom>
          <a:solidFill>
            <a:srgbClr val="1B3A6B"/>
          </a:solidFill>
          <a:ln/>
        </p:spPr>
      </p:sp>
      <p:sp>
        <p:nvSpPr>
          <p:cNvPr id="39" name="Text 37"/>
          <p:cNvSpPr/>
          <p:nvPr/>
        </p:nvSpPr>
        <p:spPr>
          <a:xfrm>
            <a:off x="9550400" y="2057400"/>
            <a:ext cx="2489200" cy="355600"/>
          </a:xfrm>
          <a:prstGeom prst="rect">
            <a:avLst/>
          </a:prstGeom>
          <a:noFill/>
          <a:ln/>
        </p:spPr>
        <p:txBody>
          <a:bodyPr wrap="square" lIns="0" tIns="0" rIns="0" bIns="0" rtlCol="0" anchor="t"/>
          <a:lstStyle/>
          <a:p>
            <a:pPr algn="l">
              <a:lnSpc>
                <a:spcPct val="120000"/>
              </a:lnSpc>
            </a:pPr>
            <a:r>
              <a:rPr lang="en-US" sz="1500" b="1" dirty="0">
                <a:solidFill>
                  <a:srgbClr val="1B3A6B"/>
                </a:solidFill>
                <a:latin typeface="Sorts Mill Goudy" pitchFamily="34" charset="0"/>
                <a:ea typeface="Sorts Mill Goudy" pitchFamily="34" charset="-122"/>
                <a:cs typeface="Sorts Mill Goudy" pitchFamily="34" charset="-120"/>
              </a:rPr>
              <a:t>SQL Analysis</a:t>
            </a:r>
            <a:endParaRPr lang="en-US" sz="1500" dirty="0"/>
          </a:p>
        </p:txBody>
      </p:sp>
      <p:sp>
        <p:nvSpPr>
          <p:cNvPr id="40" name="Text 38"/>
          <p:cNvSpPr/>
          <p:nvPr/>
        </p:nvSpPr>
        <p:spPr>
          <a:xfrm>
            <a:off x="9550400" y="2489200"/>
            <a:ext cx="2489200" cy="2794000"/>
          </a:xfrm>
          <a:prstGeom prst="rect">
            <a:avLst/>
          </a:prstGeom>
          <a:noFill/>
          <a:ln/>
        </p:spPr>
        <p:txBody>
          <a:bodyPr wrap="square" lIns="0" tIns="0" rIns="0" bIns="0" rtlCol="0" anchor="t"/>
          <a:lstStyle/>
          <a:p>
            <a:pPr algn="l">
              <a:lnSpc>
                <a:spcPct val="170000"/>
              </a:lnSpc>
            </a:pPr>
            <a:r>
              <a:rPr lang="en-US" sz="1300" dirty="0">
                <a:solidFill>
                  <a:srgbClr val="2D2D2D"/>
                </a:solidFill>
                <a:latin typeface="Liter" pitchFamily="34" charset="0"/>
                <a:ea typeface="Liter" pitchFamily="34" charset="-122"/>
                <a:cs typeface="Liter" pitchFamily="34" charset="-120"/>
              </a:rPr>
              <a:t>■ Total revenue analysis</a:t>
            </a:r>
            <a:endParaRPr lang="en-US" sz="1300" dirty="0"/>
          </a:p>
          <a:p>
            <a:pPr algn="l">
              <a:lnSpc>
                <a:spcPct val="170000"/>
              </a:lnSpc>
            </a:pPr>
            <a:r>
              <a:rPr lang="en-US" sz="1300" dirty="0">
                <a:solidFill>
                  <a:srgbClr val="2D2D2D"/>
                </a:solidFill>
                <a:latin typeface="Liter" pitchFamily="34" charset="0"/>
                <a:ea typeface="Liter" pitchFamily="34" charset="-122"/>
                <a:cs typeface="Liter" pitchFamily="34" charset="-120"/>
              </a:rPr>
              <a:t>■ Top products ranking</a:t>
            </a:r>
            <a:endParaRPr lang="en-US" sz="1300" dirty="0"/>
          </a:p>
          <a:p>
            <a:pPr algn="l">
              <a:lnSpc>
                <a:spcPct val="170000"/>
              </a:lnSpc>
            </a:pPr>
            <a:r>
              <a:rPr lang="en-US" sz="1300" dirty="0">
                <a:solidFill>
                  <a:srgbClr val="2D2D2D"/>
                </a:solidFill>
                <a:latin typeface="Liter" pitchFamily="34" charset="0"/>
                <a:ea typeface="Liter" pitchFamily="34" charset="-122"/>
                <a:cs typeface="Liter" pitchFamily="34" charset="-120"/>
              </a:rPr>
              <a:t>■ Country-wise revenue</a:t>
            </a:r>
            <a:endParaRPr lang="en-US" sz="1300" dirty="0"/>
          </a:p>
          <a:p>
            <a:pPr algn="l">
              <a:lnSpc>
                <a:spcPct val="170000"/>
              </a:lnSpc>
            </a:pPr>
            <a:r>
              <a:rPr lang="en-US" sz="1300" dirty="0">
                <a:solidFill>
                  <a:srgbClr val="2D2D2D"/>
                </a:solidFill>
                <a:latin typeface="Liter" pitchFamily="34" charset="0"/>
                <a:ea typeface="Liter" pitchFamily="34" charset="-122"/>
                <a:cs typeface="Liter" pitchFamily="34" charset="-120"/>
              </a:rPr>
              <a:t>■ Top customers query</a:t>
            </a:r>
            <a:endParaRPr lang="en-US" sz="1300" dirty="0"/>
          </a:p>
          <a:p>
            <a:pPr algn="l">
              <a:lnSpc>
                <a:spcPct val="170000"/>
              </a:lnSpc>
            </a:pPr>
            <a:r>
              <a:rPr lang="en-US" sz="1300" dirty="0">
                <a:solidFill>
                  <a:srgbClr val="2D2D2D"/>
                </a:solidFill>
                <a:latin typeface="Liter" pitchFamily="34" charset="0"/>
                <a:ea typeface="Liter" pitchFamily="34" charset="-122"/>
                <a:cs typeface="Liter" pitchFamily="34" charset="-120"/>
              </a:rPr>
              <a:t>■ Monthly revenue trend</a:t>
            </a:r>
            <a:endParaRPr lang="en-US" sz="1300" dirty="0"/>
          </a:p>
          <a:p>
            <a:pPr algn="l">
              <a:lnSpc>
                <a:spcPct val="170000"/>
              </a:lnSpc>
            </a:pPr>
            <a:r>
              <a:rPr lang="en-US" sz="1300" dirty="0">
                <a:solidFill>
                  <a:srgbClr val="2D2D2D"/>
                </a:solidFill>
                <a:latin typeface="Liter" pitchFamily="34" charset="0"/>
                <a:ea typeface="Liter" pitchFamily="34" charset="-122"/>
                <a:cs typeface="Liter" pitchFamily="34" charset="-120"/>
              </a:rPr>
              <a:t>■ Export results as TSV</a:t>
            </a:r>
            <a:endParaRPr lang="en-US" sz="1300" dirty="0"/>
          </a:p>
          <a:p>
            <a:pPr algn="l">
              <a:lnSpc>
                <a:spcPct val="170000"/>
              </a:lnSpc>
            </a:pPr>
            <a:r>
              <a:rPr lang="en-US" sz="1100" dirty="0">
                <a:solidFill>
                  <a:srgbClr val="C9963B"/>
                </a:solidFill>
                <a:latin typeface="Liter" pitchFamily="34" charset="0"/>
                <a:ea typeface="Liter" pitchFamily="34" charset="-122"/>
                <a:cs typeface="Liter" pitchFamily="34" charset="-120"/>
              </a:rPr>
              <a:t>Tool: SQL</a:t>
            </a:r>
            <a:endParaRPr lang="en-US" sz="1300" dirty="0"/>
          </a:p>
        </p:txBody>
      </p:sp>
      <p:sp>
        <p:nvSpPr>
          <p:cNvPr id="41" name="Shape 39"/>
          <p:cNvSpPr/>
          <p:nvPr/>
        </p:nvSpPr>
        <p:spPr>
          <a:xfrm>
            <a:off x="12319000" y="1905000"/>
            <a:ext cx="3302000" cy="3556000"/>
          </a:xfrm>
          <a:prstGeom prst="rect">
            <a:avLst/>
          </a:prstGeom>
          <a:solidFill>
            <a:srgbClr val="0F2647"/>
          </a:solidFill>
          <a:ln/>
        </p:spPr>
      </p:sp>
      <p:sp>
        <p:nvSpPr>
          <p:cNvPr id="42" name="Shape 40"/>
          <p:cNvSpPr/>
          <p:nvPr/>
        </p:nvSpPr>
        <p:spPr>
          <a:xfrm>
            <a:off x="12319000" y="1905000"/>
            <a:ext cx="3302000" cy="50800"/>
          </a:xfrm>
          <a:prstGeom prst="rect">
            <a:avLst/>
          </a:prstGeom>
          <a:solidFill>
            <a:srgbClr val="C9963B"/>
          </a:solidFill>
          <a:ln/>
        </p:spPr>
      </p:sp>
      <p:sp>
        <p:nvSpPr>
          <p:cNvPr id="43" name="Text 41"/>
          <p:cNvSpPr/>
          <p:nvPr/>
        </p:nvSpPr>
        <p:spPr>
          <a:xfrm>
            <a:off x="12471400" y="2057400"/>
            <a:ext cx="2997200" cy="355600"/>
          </a:xfrm>
          <a:prstGeom prst="rect">
            <a:avLst/>
          </a:prstGeom>
          <a:noFill/>
          <a:ln/>
        </p:spPr>
        <p:txBody>
          <a:bodyPr wrap="square" lIns="0" tIns="0" rIns="0" bIns="0" rtlCol="0" anchor="t"/>
          <a:lstStyle/>
          <a:p>
            <a:pPr algn="l">
              <a:lnSpc>
                <a:spcPct val="120000"/>
              </a:lnSpc>
            </a:pPr>
            <a:r>
              <a:rPr lang="en-US" sz="1500" b="1" dirty="0">
                <a:solidFill>
                  <a:srgbClr val="FFFFFF"/>
                </a:solidFill>
                <a:latin typeface="Sorts Mill Goudy" pitchFamily="34" charset="0"/>
                <a:ea typeface="Sorts Mill Goudy" pitchFamily="34" charset="-122"/>
                <a:cs typeface="Sorts Mill Goudy" pitchFamily="34" charset="-120"/>
              </a:rPr>
              <a:t>Power BI Dashboard</a:t>
            </a:r>
            <a:endParaRPr lang="en-US" sz="1500" dirty="0"/>
          </a:p>
        </p:txBody>
      </p:sp>
      <p:sp>
        <p:nvSpPr>
          <p:cNvPr id="44" name="Text 42"/>
          <p:cNvSpPr/>
          <p:nvPr/>
        </p:nvSpPr>
        <p:spPr>
          <a:xfrm>
            <a:off x="12471400" y="2489200"/>
            <a:ext cx="2997200" cy="2794000"/>
          </a:xfrm>
          <a:prstGeom prst="rect">
            <a:avLst/>
          </a:prstGeom>
          <a:noFill/>
          <a:ln/>
        </p:spPr>
        <p:txBody>
          <a:bodyPr wrap="square" lIns="0" tIns="0" rIns="0" bIns="0" rtlCol="0" anchor="t"/>
          <a:lstStyle/>
          <a:p>
            <a:pPr algn="l">
              <a:lnSpc>
                <a:spcPct val="170000"/>
              </a:lnSpc>
            </a:pPr>
            <a:r>
              <a:rPr lang="en-US" sz="1300" dirty="0">
                <a:solidFill>
                  <a:srgbClr val="FFFFFF">
                    <a:alpha val="80000"/>
                  </a:srgbClr>
                </a:solidFill>
                <a:latin typeface="Liter" pitchFamily="34" charset="0"/>
                <a:ea typeface="Liter" pitchFamily="34" charset="-122"/>
                <a:cs typeface="Liter" pitchFamily="34" charset="-120"/>
              </a:rPr>
              <a:t>■ Import TSV data</a:t>
            </a:r>
            <a:endParaRPr lang="en-US" sz="1300" dirty="0"/>
          </a:p>
          <a:p>
            <a:pPr algn="l">
              <a:lnSpc>
                <a:spcPct val="170000"/>
              </a:lnSpc>
            </a:pPr>
            <a:r>
              <a:rPr lang="en-US" sz="1300" dirty="0">
                <a:solidFill>
                  <a:srgbClr val="FFFFFF">
                    <a:alpha val="80000"/>
                  </a:srgbClr>
                </a:solidFill>
                <a:latin typeface="Liter" pitchFamily="34" charset="0"/>
                <a:ea typeface="Liter" pitchFamily="34" charset="-122"/>
                <a:cs typeface="Liter" pitchFamily="34" charset="-120"/>
              </a:rPr>
              <a:t>■ Create DAX measures</a:t>
            </a:r>
            <a:endParaRPr lang="en-US" sz="1300" dirty="0"/>
          </a:p>
          <a:p>
            <a:pPr algn="l">
              <a:lnSpc>
                <a:spcPct val="170000"/>
              </a:lnSpc>
            </a:pPr>
            <a:r>
              <a:rPr lang="en-US" sz="1300" dirty="0">
                <a:solidFill>
                  <a:srgbClr val="FFFFFF">
                    <a:alpha val="80000"/>
                  </a:srgbClr>
                </a:solidFill>
                <a:latin typeface="Liter" pitchFamily="34" charset="0"/>
                <a:ea typeface="Liter" pitchFamily="34" charset="-122"/>
                <a:cs typeface="Liter" pitchFamily="34" charset="-120"/>
              </a:rPr>
              <a:t>■ Build KPI cards</a:t>
            </a:r>
            <a:endParaRPr lang="en-US" sz="1300" dirty="0"/>
          </a:p>
          <a:p>
            <a:pPr algn="l">
              <a:lnSpc>
                <a:spcPct val="170000"/>
              </a:lnSpc>
            </a:pPr>
            <a:r>
              <a:rPr lang="en-US" sz="1300" dirty="0">
                <a:solidFill>
                  <a:srgbClr val="FFFFFF">
                    <a:alpha val="80000"/>
                  </a:srgbClr>
                </a:solidFill>
                <a:latin typeface="Liter" pitchFamily="34" charset="0"/>
                <a:ea typeface="Liter" pitchFamily="34" charset="-122"/>
                <a:cs typeface="Liter" pitchFamily="34" charset="-120"/>
              </a:rPr>
              <a:t>■ Design visual pages</a:t>
            </a:r>
            <a:endParaRPr lang="en-US" sz="1300" dirty="0"/>
          </a:p>
          <a:p>
            <a:pPr algn="l">
              <a:lnSpc>
                <a:spcPct val="170000"/>
              </a:lnSpc>
            </a:pPr>
            <a:r>
              <a:rPr lang="en-US" sz="1300" dirty="0">
                <a:solidFill>
                  <a:srgbClr val="FFFFFF">
                    <a:alpha val="80000"/>
                  </a:srgbClr>
                </a:solidFill>
                <a:latin typeface="Liter" pitchFamily="34" charset="0"/>
                <a:ea typeface="Liter" pitchFamily="34" charset="-122"/>
                <a:cs typeface="Liter" pitchFamily="34" charset="-120"/>
              </a:rPr>
              <a:t>■ Add interactive slicers</a:t>
            </a:r>
            <a:endParaRPr lang="en-US" sz="1300" dirty="0"/>
          </a:p>
          <a:p>
            <a:pPr algn="l">
              <a:lnSpc>
                <a:spcPct val="170000"/>
              </a:lnSpc>
            </a:pPr>
            <a:r>
              <a:rPr lang="en-US" sz="1300" dirty="0">
                <a:solidFill>
                  <a:srgbClr val="FFFFFF">
                    <a:alpha val="80000"/>
                  </a:srgbClr>
                </a:solidFill>
                <a:latin typeface="Liter" pitchFamily="34" charset="0"/>
                <a:ea typeface="Liter" pitchFamily="34" charset="-122"/>
                <a:cs typeface="Liter" pitchFamily="34" charset="-120"/>
              </a:rPr>
              <a:t>■ Generate insights</a:t>
            </a:r>
            <a:endParaRPr lang="en-US" sz="1300" dirty="0"/>
          </a:p>
          <a:p>
            <a:pPr algn="l">
              <a:lnSpc>
                <a:spcPct val="170000"/>
              </a:lnSpc>
            </a:pPr>
            <a:r>
              <a:rPr lang="en-US" sz="1100" b="1" dirty="0">
                <a:solidFill>
                  <a:srgbClr val="C9963B"/>
                </a:solidFill>
                <a:latin typeface="Liter" pitchFamily="34" charset="0"/>
                <a:ea typeface="Liter" pitchFamily="34" charset="-122"/>
                <a:cs typeface="Liter" pitchFamily="34" charset="-120"/>
              </a:rPr>
              <a:t>Output: Dashboard</a:t>
            </a:r>
            <a:endParaRPr lang="en-US" sz="1300" dirty="0"/>
          </a:p>
        </p:txBody>
      </p:sp>
      <p:sp>
        <p:nvSpPr>
          <p:cNvPr id="45" name="Shape 43"/>
          <p:cNvSpPr/>
          <p:nvPr/>
        </p:nvSpPr>
        <p:spPr>
          <a:xfrm>
            <a:off x="635000" y="5715000"/>
            <a:ext cx="14986000" cy="635000"/>
          </a:xfrm>
          <a:prstGeom prst="rect">
            <a:avLst/>
          </a:prstGeom>
          <a:solidFill>
            <a:srgbClr val="1B3A6B"/>
          </a:solidFill>
          <a:ln/>
        </p:spPr>
      </p:sp>
      <p:sp>
        <p:nvSpPr>
          <p:cNvPr id="46" name="Text 44"/>
          <p:cNvSpPr/>
          <p:nvPr/>
        </p:nvSpPr>
        <p:spPr>
          <a:xfrm>
            <a:off x="889000" y="5715000"/>
            <a:ext cx="14478000" cy="635000"/>
          </a:xfrm>
          <a:prstGeom prst="rect">
            <a:avLst/>
          </a:prstGeom>
          <a:noFill/>
          <a:ln/>
        </p:spPr>
        <p:txBody>
          <a:bodyPr wrap="none" lIns="0" tIns="0" rIns="0" bIns="0" rtlCol="0" anchor="ctr"/>
          <a:lstStyle/>
          <a:p>
            <a:pPr algn="ctr">
              <a:lnSpc>
                <a:spcPct val="120000"/>
              </a:lnSpc>
            </a:pPr>
            <a:r>
              <a:rPr lang="en-US" sz="1500" b="1" dirty="0">
                <a:solidFill>
                  <a:srgbClr val="FFFFFF"/>
                </a:solidFill>
                <a:latin typeface="Liter" pitchFamily="34" charset="0"/>
                <a:ea typeface="Liter" pitchFamily="34" charset="-122"/>
                <a:cs typeface="Liter" pitchFamily="34" charset="-120"/>
              </a:rPr>
              <a:t>Architecture Flow:</a:t>
            </a:r>
            <a:r>
              <a:rPr lang="en-US" sz="1500" dirty="0">
                <a:solidFill>
                  <a:srgbClr val="FFFFFF"/>
                </a:solidFill>
                <a:latin typeface="Liter" pitchFamily="34" charset="0"/>
                <a:ea typeface="Liter" pitchFamily="34" charset="-122"/>
                <a:cs typeface="Liter" pitchFamily="34" charset="-120"/>
              </a:rPr>
              <a:t> Dataset  →  MySQL  →  SQL Cleaning  →  TSV Export  →  Power BI Dashboard  →  Business Insights</a:t>
            </a:r>
            <a:endParaRPr lang="en-US" sz="1500" dirty="0"/>
          </a:p>
        </p:txBody>
      </p:sp>
      <p:sp>
        <p:nvSpPr>
          <p:cNvPr id="47" name="Shape 45"/>
          <p:cNvSpPr/>
          <p:nvPr/>
        </p:nvSpPr>
        <p:spPr>
          <a:xfrm>
            <a:off x="635000" y="6527800"/>
            <a:ext cx="14986000" cy="1651000"/>
          </a:xfrm>
          <a:prstGeom prst="rect">
            <a:avLst/>
          </a:prstGeom>
          <a:solidFill>
            <a:srgbClr val="EBF0F7"/>
          </a:solidFill>
          <a:ln/>
        </p:spPr>
      </p:sp>
      <p:sp>
        <p:nvSpPr>
          <p:cNvPr id="48" name="Text 46"/>
          <p:cNvSpPr/>
          <p:nvPr/>
        </p:nvSpPr>
        <p:spPr>
          <a:xfrm>
            <a:off x="889000" y="6654800"/>
            <a:ext cx="14478000" cy="1397000"/>
          </a:xfrm>
          <a:prstGeom prst="rect">
            <a:avLst/>
          </a:prstGeom>
          <a:noFill/>
          <a:ln/>
        </p:spPr>
        <p:txBody>
          <a:bodyPr wrap="square" lIns="0" tIns="0" rIns="0" bIns="0" rtlCol="0" anchor="t"/>
          <a:lstStyle/>
          <a:p>
            <a:pPr algn="l">
              <a:lnSpc>
                <a:spcPct val="160000"/>
              </a:lnSpc>
            </a:pPr>
            <a:r>
              <a:rPr lang="en-US" sz="1300" b="1" dirty="0">
                <a:solidFill>
                  <a:srgbClr val="2D2D2D"/>
                </a:solidFill>
                <a:latin typeface="Liter" pitchFamily="34" charset="0"/>
                <a:ea typeface="Liter" pitchFamily="34" charset="-122"/>
                <a:cs typeface="Liter" pitchFamily="34" charset="-120"/>
              </a:rPr>
              <a:t>Workflow Integration:</a:t>
            </a:r>
            <a:r>
              <a:rPr lang="en-US" sz="1300" dirty="0">
                <a:solidFill>
                  <a:srgbClr val="2D2D2D"/>
                </a:solidFill>
                <a:latin typeface="Liter" pitchFamily="34" charset="0"/>
                <a:ea typeface="Liter" pitchFamily="34" charset="-122"/>
                <a:cs typeface="Liter" pitchFamily="34" charset="-120"/>
              </a:rPr>
              <a:t> Each stage feeds directly into the next, forming a complete ETL pipeline. Raw retail data is ingested into MySQL, cleaned and transformed using SQL queries, exported as TSV for reliable transfer, and visualized in Power BI. The entire pipeline ensures data integrity while enabling rapid iteration between analysis and visualization.</a:t>
            </a:r>
            <a:endParaRPr lang="en-US" sz="1300" dirty="0"/>
          </a:p>
        </p:txBody>
      </p:sp>
      <p:sp>
        <p:nvSpPr>
          <p:cNvPr id="49" name="Shape 47"/>
          <p:cNvSpPr/>
          <p:nvPr/>
        </p:nvSpPr>
        <p:spPr>
          <a:xfrm>
            <a:off x="635000" y="8331200"/>
            <a:ext cx="14986000" cy="12700"/>
          </a:xfrm>
          <a:prstGeom prst="rect">
            <a:avLst/>
          </a:prstGeom>
          <a:solidFill>
            <a:srgbClr val="D0D8E4"/>
          </a:solidFill>
          <a:ln/>
        </p:spPr>
      </p:sp>
      <p:sp>
        <p:nvSpPr>
          <p:cNvPr id="50" name="Text 48"/>
          <p:cNvSpPr/>
          <p:nvPr/>
        </p:nvSpPr>
        <p:spPr>
          <a:xfrm>
            <a:off x="15240000" y="8432800"/>
            <a:ext cx="762000" cy="279400"/>
          </a:xfrm>
          <a:prstGeom prst="rect">
            <a:avLst/>
          </a:prstGeom>
          <a:noFill/>
          <a:ln/>
        </p:spPr>
        <p:txBody>
          <a:bodyPr wrap="none" lIns="0" tIns="0" rIns="0" bIns="0" rtlCol="0" anchor="ctr"/>
          <a:lstStyle/>
          <a:p>
            <a:pPr algn="r">
              <a:lnSpc>
                <a:spcPct val="120000"/>
              </a:lnSpc>
            </a:pPr>
            <a:r>
              <a:rPr lang="en-US" sz="1200" dirty="0">
                <a:solidFill>
                  <a:srgbClr val="8899AA"/>
                </a:solidFill>
                <a:latin typeface="MiSans" pitchFamily="34" charset="0"/>
                <a:ea typeface="MiSans" pitchFamily="34" charset="-122"/>
                <a:cs typeface="MiSans" pitchFamily="34" charset="-120"/>
              </a:rPr>
              <a:t>03</a:t>
            </a:r>
            <a:endParaRPr lang="en-US" sz="12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1B3A6B"/>
          </a:solidFill>
          <a:ln/>
        </p:spPr>
      </p:sp>
      <p:sp>
        <p:nvSpPr>
          <p:cNvPr id="3" name="Shape 1"/>
          <p:cNvSpPr/>
          <p:nvPr/>
        </p:nvSpPr>
        <p:spPr>
          <a:xfrm>
            <a:off x="635000" y="127000"/>
            <a:ext cx="50800" cy="685800"/>
          </a:xfrm>
          <a:prstGeom prst="rect">
            <a:avLst/>
          </a:prstGeom>
          <a:solidFill>
            <a:srgbClr val="C9963B"/>
          </a:solidFill>
          <a:ln/>
        </p:spPr>
      </p:sp>
      <p:sp>
        <p:nvSpPr>
          <p:cNvPr id="4" name="Text 2"/>
          <p:cNvSpPr/>
          <p:nvPr/>
        </p:nvSpPr>
        <p:spPr>
          <a:xfrm>
            <a:off x="787400" y="152400"/>
            <a:ext cx="14605000" cy="635000"/>
          </a:xfrm>
          <a:prstGeom prst="rect">
            <a:avLst/>
          </a:prstGeom>
          <a:noFill/>
          <a:ln/>
        </p:spPr>
        <p:txBody>
          <a:bodyPr wrap="square" lIns="0" tIns="0" rIns="0" bIns="0" rtlCol="0" anchor="ctr"/>
          <a:lstStyle/>
          <a:p>
            <a:pPr algn="l">
              <a:lnSpc>
                <a:spcPct val="120000"/>
              </a:lnSpc>
            </a:pPr>
            <a:r>
              <a:rPr lang="en-US" sz="2200" b="1" dirty="0">
                <a:solidFill>
                  <a:srgbClr val="0F2647"/>
                </a:solidFill>
                <a:latin typeface="Sorts Mill Goudy" pitchFamily="34" charset="0"/>
                <a:ea typeface="Sorts Mill Goudy" pitchFamily="34" charset="-122"/>
                <a:cs typeface="Sorts Mill Goudy" pitchFamily="34" charset="-120"/>
              </a:rPr>
              <a:t>Online retail dataset contains multi-year transaction records with rich customer, product, and geographic dimensions</a:t>
            </a:r>
            <a:endParaRPr lang="en-US" sz="2200" dirty="0"/>
          </a:p>
        </p:txBody>
      </p:sp>
      <p:sp>
        <p:nvSpPr>
          <p:cNvPr id="5" name="Shape 3"/>
          <p:cNvSpPr/>
          <p:nvPr/>
        </p:nvSpPr>
        <p:spPr>
          <a:xfrm>
            <a:off x="635000" y="863600"/>
            <a:ext cx="14986000" cy="12700"/>
          </a:xfrm>
          <a:prstGeom prst="rect">
            <a:avLst/>
          </a:prstGeom>
          <a:solidFill>
            <a:srgbClr val="D0D8E4"/>
          </a:solidFill>
          <a:ln/>
        </p:spPr>
      </p:sp>
      <p:sp>
        <p:nvSpPr>
          <p:cNvPr id="6" name="Shape 4"/>
          <p:cNvSpPr/>
          <p:nvPr/>
        </p:nvSpPr>
        <p:spPr>
          <a:xfrm>
            <a:off x="635000" y="965200"/>
            <a:ext cx="7112000" cy="279400"/>
          </a:xfrm>
          <a:prstGeom prst="rect">
            <a:avLst/>
          </a:prstGeom>
          <a:solidFill>
            <a:srgbClr val="EBF0F7"/>
          </a:solidFill>
          <a:ln/>
        </p:spPr>
      </p:sp>
      <p:sp>
        <p:nvSpPr>
          <p:cNvPr id="7" name="Shape 5"/>
          <p:cNvSpPr/>
          <p:nvPr/>
        </p:nvSpPr>
        <p:spPr>
          <a:xfrm>
            <a:off x="635000" y="965200"/>
            <a:ext cx="38100" cy="279400"/>
          </a:xfrm>
          <a:prstGeom prst="rect">
            <a:avLst/>
          </a:prstGeom>
          <a:solidFill>
            <a:srgbClr val="C9963B"/>
          </a:solidFill>
          <a:ln/>
        </p:spPr>
      </p:sp>
      <p:sp>
        <p:nvSpPr>
          <p:cNvPr id="8" name="Text 6"/>
          <p:cNvSpPr/>
          <p:nvPr/>
        </p:nvSpPr>
        <p:spPr>
          <a:xfrm>
            <a:off x="736600" y="965200"/>
            <a:ext cx="6985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Dataset Contents</a:t>
            </a:r>
            <a:endParaRPr lang="en-US" sz="1300" dirty="0"/>
          </a:p>
        </p:txBody>
      </p:sp>
      <p:sp>
        <p:nvSpPr>
          <p:cNvPr id="9" name="Text 7"/>
          <p:cNvSpPr/>
          <p:nvPr/>
        </p:nvSpPr>
        <p:spPr>
          <a:xfrm>
            <a:off x="787400" y="2040410"/>
            <a:ext cx="7789562" cy="4758380"/>
          </a:xfrm>
          <a:prstGeom prst="rect">
            <a:avLst/>
          </a:prstGeom>
          <a:noFill/>
          <a:ln/>
        </p:spPr>
        <p:txBody>
          <a:bodyPr wrap="square" lIns="0" tIns="0" rIns="0" bIns="0" rtlCol="0" anchor="t"/>
          <a:lstStyle/>
          <a:p>
            <a:pPr algn="l">
              <a:lnSpc>
                <a:spcPct val="170000"/>
              </a:lnSpc>
            </a:pPr>
            <a:r>
              <a:rPr lang="en-US" b="1" dirty="0">
                <a:solidFill>
                  <a:srgbClr val="2D2D2D"/>
                </a:solidFill>
                <a:latin typeface="Liter" pitchFamily="34" charset="0"/>
                <a:ea typeface="Liter" pitchFamily="34" charset="-122"/>
                <a:cs typeface="Liter" pitchFamily="34" charset="-120"/>
              </a:rPr>
              <a:t>Dataset Contains</a:t>
            </a:r>
            <a:endParaRPr lang="en-US" dirty="0"/>
          </a:p>
          <a:p>
            <a:pPr algn="l">
              <a:lnSpc>
                <a:spcPct val="170000"/>
              </a:lnSpc>
            </a:pPr>
            <a:r>
              <a:rPr lang="en-US" dirty="0">
                <a:solidFill>
                  <a:srgbClr val="555555"/>
                </a:solidFill>
                <a:latin typeface="Liter" pitchFamily="34" charset="0"/>
                <a:ea typeface="Liter" pitchFamily="34" charset="-122"/>
                <a:cs typeface="Liter" pitchFamily="34" charset="-120"/>
              </a:rPr>
              <a:t>■ Online retail transactions from e-commerce operations</a:t>
            </a:r>
            <a:endParaRPr lang="en-US" dirty="0"/>
          </a:p>
          <a:p>
            <a:pPr algn="l">
              <a:lnSpc>
                <a:spcPct val="170000"/>
              </a:lnSpc>
            </a:pPr>
            <a:r>
              <a:rPr lang="en-US" dirty="0">
                <a:solidFill>
                  <a:srgbClr val="555555"/>
                </a:solidFill>
                <a:latin typeface="Liter" pitchFamily="34" charset="0"/>
                <a:ea typeface="Liter" pitchFamily="34" charset="-122"/>
                <a:cs typeface="Liter" pitchFamily="34" charset="-120"/>
              </a:rPr>
              <a:t>■ Customer purchase details and buying behavior</a:t>
            </a:r>
            <a:endParaRPr lang="en-US" dirty="0"/>
          </a:p>
          <a:p>
            <a:pPr algn="l">
              <a:lnSpc>
                <a:spcPct val="170000"/>
              </a:lnSpc>
            </a:pPr>
            <a:r>
              <a:rPr lang="en-US" dirty="0">
                <a:solidFill>
                  <a:srgbClr val="555555"/>
                </a:solidFill>
                <a:latin typeface="Liter" pitchFamily="34" charset="0"/>
                <a:ea typeface="Liter" pitchFamily="34" charset="-122"/>
                <a:cs typeface="Liter" pitchFamily="34" charset="-120"/>
              </a:rPr>
              <a:t>■ Product sales records with descriptions and codes</a:t>
            </a:r>
            <a:endParaRPr lang="en-US" dirty="0"/>
          </a:p>
          <a:p>
            <a:pPr algn="l">
              <a:lnSpc>
                <a:spcPct val="170000"/>
              </a:lnSpc>
            </a:pPr>
            <a:r>
              <a:rPr lang="en-US" dirty="0">
                <a:solidFill>
                  <a:srgbClr val="555555"/>
                </a:solidFill>
                <a:latin typeface="Liter" pitchFamily="34" charset="0"/>
                <a:ea typeface="Liter" pitchFamily="34" charset="-122"/>
                <a:cs typeface="Liter" pitchFamily="34" charset="-120"/>
              </a:rPr>
              <a:t>■ Country-wise transaction distribution</a:t>
            </a:r>
            <a:endParaRPr lang="en-US" dirty="0"/>
          </a:p>
          <a:p>
            <a:pPr algn="l">
              <a:lnSpc>
                <a:spcPct val="170000"/>
              </a:lnSpc>
              <a:spcBef>
                <a:spcPts val="1000"/>
              </a:spcBef>
            </a:pPr>
            <a:r>
              <a:rPr lang="en-US" b="1" dirty="0">
                <a:solidFill>
                  <a:srgbClr val="2D2D2D"/>
                </a:solidFill>
                <a:latin typeface="Liter" pitchFamily="34" charset="0"/>
                <a:ea typeface="Liter" pitchFamily="34" charset="-122"/>
                <a:cs typeface="Liter" pitchFamily="34" charset="-120"/>
              </a:rPr>
              <a:t>Dataset Characteristics</a:t>
            </a:r>
            <a:endParaRPr lang="en-US" dirty="0"/>
          </a:p>
          <a:p>
            <a:pPr algn="l">
              <a:lnSpc>
                <a:spcPct val="170000"/>
              </a:lnSpc>
            </a:pPr>
            <a:r>
              <a:rPr lang="en-US" dirty="0">
                <a:solidFill>
                  <a:srgbClr val="555555"/>
                </a:solidFill>
                <a:latin typeface="Liter" pitchFamily="34" charset="0"/>
                <a:ea typeface="Liter" pitchFamily="34" charset="-122"/>
                <a:cs typeface="Liter" pitchFamily="34" charset="-120"/>
              </a:rPr>
              <a:t>■ Large-scale dataset with multiple years of transactions</a:t>
            </a:r>
            <a:endParaRPr lang="en-US" dirty="0"/>
          </a:p>
          <a:p>
            <a:pPr algn="l">
              <a:lnSpc>
                <a:spcPct val="170000"/>
              </a:lnSpc>
            </a:pPr>
            <a:r>
              <a:rPr lang="en-US" dirty="0">
                <a:solidFill>
                  <a:srgbClr val="555555"/>
                </a:solidFill>
                <a:latin typeface="Liter" pitchFamily="34" charset="0"/>
                <a:ea typeface="Liter" pitchFamily="34" charset="-122"/>
                <a:cs typeface="Liter" pitchFamily="34" charset="-120"/>
              </a:rPr>
              <a:t>■ Real-world retail sales data with natural imperfections</a:t>
            </a:r>
            <a:endParaRPr lang="en-US" dirty="0"/>
          </a:p>
          <a:p>
            <a:pPr algn="l">
              <a:lnSpc>
                <a:spcPct val="170000"/>
              </a:lnSpc>
            </a:pPr>
            <a:r>
              <a:rPr lang="en-US" dirty="0">
                <a:solidFill>
                  <a:srgbClr val="555555"/>
                </a:solidFill>
                <a:latin typeface="Liter" pitchFamily="34" charset="0"/>
                <a:ea typeface="Liter" pitchFamily="34" charset="-122"/>
                <a:cs typeface="Liter" pitchFamily="34" charset="-120"/>
              </a:rPr>
              <a:t>■ International customer base across multiple countries</a:t>
            </a:r>
            <a:endParaRPr lang="en-US" dirty="0"/>
          </a:p>
        </p:txBody>
      </p:sp>
      <p:sp>
        <p:nvSpPr>
          <p:cNvPr id="17" name="Shape 14"/>
          <p:cNvSpPr/>
          <p:nvPr/>
        </p:nvSpPr>
        <p:spPr>
          <a:xfrm>
            <a:off x="635000" y="8331200"/>
            <a:ext cx="14986000" cy="12700"/>
          </a:xfrm>
          <a:prstGeom prst="rect">
            <a:avLst/>
          </a:prstGeom>
          <a:solidFill>
            <a:srgbClr val="D0D8E4"/>
          </a:solidFill>
          <a:ln/>
        </p:spPr>
      </p:sp>
      <p:sp>
        <p:nvSpPr>
          <p:cNvPr id="18" name="Text 15"/>
          <p:cNvSpPr/>
          <p:nvPr/>
        </p:nvSpPr>
        <p:spPr>
          <a:xfrm>
            <a:off x="15240000" y="8432800"/>
            <a:ext cx="762000" cy="279400"/>
          </a:xfrm>
          <a:prstGeom prst="rect">
            <a:avLst/>
          </a:prstGeom>
          <a:noFill/>
          <a:ln/>
        </p:spPr>
        <p:txBody>
          <a:bodyPr wrap="none" lIns="0" tIns="0" rIns="0" bIns="0" rtlCol="0" anchor="ctr"/>
          <a:lstStyle/>
          <a:p>
            <a:pPr algn="r">
              <a:lnSpc>
                <a:spcPct val="120000"/>
              </a:lnSpc>
            </a:pPr>
            <a:r>
              <a:rPr lang="en-US" sz="1200" dirty="0">
                <a:solidFill>
                  <a:srgbClr val="8899AA"/>
                </a:solidFill>
                <a:latin typeface="MiSans" pitchFamily="34" charset="0"/>
                <a:ea typeface="MiSans" pitchFamily="34" charset="-122"/>
                <a:cs typeface="MiSans" pitchFamily="34" charset="-120"/>
              </a:rPr>
              <a:t>04</a:t>
            </a:r>
            <a:endParaRPr lang="en-US" sz="12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1B3A6B"/>
          </a:solidFill>
          <a:ln/>
        </p:spPr>
      </p:sp>
      <p:sp>
        <p:nvSpPr>
          <p:cNvPr id="3" name="Shape 1"/>
          <p:cNvSpPr/>
          <p:nvPr/>
        </p:nvSpPr>
        <p:spPr>
          <a:xfrm>
            <a:off x="635000" y="127000"/>
            <a:ext cx="50800" cy="685800"/>
          </a:xfrm>
          <a:prstGeom prst="rect">
            <a:avLst/>
          </a:prstGeom>
          <a:solidFill>
            <a:srgbClr val="C9963B"/>
          </a:solidFill>
          <a:ln/>
        </p:spPr>
      </p:sp>
      <p:sp>
        <p:nvSpPr>
          <p:cNvPr id="4" name="Text 2"/>
          <p:cNvSpPr/>
          <p:nvPr/>
        </p:nvSpPr>
        <p:spPr>
          <a:xfrm>
            <a:off x="787400" y="152400"/>
            <a:ext cx="14605000" cy="635000"/>
          </a:xfrm>
          <a:prstGeom prst="rect">
            <a:avLst/>
          </a:prstGeom>
          <a:noFill/>
          <a:ln/>
        </p:spPr>
        <p:txBody>
          <a:bodyPr wrap="square" lIns="0" tIns="0" rIns="0" bIns="0" rtlCol="0" anchor="ctr"/>
          <a:lstStyle/>
          <a:p>
            <a:pPr algn="l">
              <a:lnSpc>
                <a:spcPct val="120000"/>
              </a:lnSpc>
            </a:pPr>
            <a:r>
              <a:rPr lang="en-US" sz="2200" b="1" dirty="0">
                <a:solidFill>
                  <a:srgbClr val="0F2647"/>
                </a:solidFill>
                <a:latin typeface="Sorts Mill Goudy" pitchFamily="34" charset="0"/>
                <a:ea typeface="Sorts Mill Goudy" pitchFamily="34" charset="-122"/>
                <a:cs typeface="Sorts Mill Goudy" pitchFamily="34" charset="-120"/>
              </a:rPr>
              <a:t>Dedicated retail_sales_project database created to efficiently store and manage large-scale transaction datasets</a:t>
            </a:r>
            <a:endParaRPr lang="en-US" sz="2200" dirty="0"/>
          </a:p>
        </p:txBody>
      </p:sp>
      <p:sp>
        <p:nvSpPr>
          <p:cNvPr id="5" name="Shape 3"/>
          <p:cNvSpPr/>
          <p:nvPr/>
        </p:nvSpPr>
        <p:spPr>
          <a:xfrm>
            <a:off x="635000" y="863600"/>
            <a:ext cx="14986000" cy="12700"/>
          </a:xfrm>
          <a:prstGeom prst="rect">
            <a:avLst/>
          </a:prstGeom>
          <a:solidFill>
            <a:srgbClr val="D0D8E4"/>
          </a:solidFill>
          <a:ln/>
        </p:spPr>
      </p:sp>
      <p:sp>
        <p:nvSpPr>
          <p:cNvPr id="6" name="Shape 4"/>
          <p:cNvSpPr/>
          <p:nvPr/>
        </p:nvSpPr>
        <p:spPr>
          <a:xfrm>
            <a:off x="635000" y="965200"/>
            <a:ext cx="7493000" cy="279400"/>
          </a:xfrm>
          <a:prstGeom prst="rect">
            <a:avLst/>
          </a:prstGeom>
          <a:solidFill>
            <a:srgbClr val="EBF0F7"/>
          </a:solidFill>
          <a:ln/>
        </p:spPr>
      </p:sp>
      <p:sp>
        <p:nvSpPr>
          <p:cNvPr id="7" name="Shape 5"/>
          <p:cNvSpPr/>
          <p:nvPr/>
        </p:nvSpPr>
        <p:spPr>
          <a:xfrm>
            <a:off x="635000" y="965200"/>
            <a:ext cx="38100" cy="279400"/>
          </a:xfrm>
          <a:prstGeom prst="rect">
            <a:avLst/>
          </a:prstGeom>
          <a:solidFill>
            <a:srgbClr val="C9963B"/>
          </a:solidFill>
          <a:ln/>
        </p:spPr>
      </p:sp>
      <p:sp>
        <p:nvSpPr>
          <p:cNvPr id="8" name="Text 6"/>
          <p:cNvSpPr/>
          <p:nvPr/>
        </p:nvSpPr>
        <p:spPr>
          <a:xfrm>
            <a:off x="736600" y="965200"/>
            <a:ext cx="7366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SQL Query — Database Creation</a:t>
            </a:r>
            <a:endParaRPr lang="en-US" sz="1300" dirty="0"/>
          </a:p>
        </p:txBody>
      </p:sp>
      <p:sp>
        <p:nvSpPr>
          <p:cNvPr id="9" name="Shape 7"/>
          <p:cNvSpPr/>
          <p:nvPr/>
        </p:nvSpPr>
        <p:spPr>
          <a:xfrm>
            <a:off x="635000" y="1295400"/>
            <a:ext cx="7493000" cy="1524000"/>
          </a:xfrm>
          <a:prstGeom prst="rect">
            <a:avLst/>
          </a:prstGeom>
          <a:solidFill>
            <a:srgbClr val="EBF0F7"/>
          </a:solidFill>
          <a:ln/>
        </p:spPr>
      </p:sp>
      <p:sp>
        <p:nvSpPr>
          <p:cNvPr id="10" name="Shape 8"/>
          <p:cNvSpPr/>
          <p:nvPr/>
        </p:nvSpPr>
        <p:spPr>
          <a:xfrm>
            <a:off x="635000" y="1295400"/>
            <a:ext cx="50800" cy="1524000"/>
          </a:xfrm>
          <a:prstGeom prst="rect">
            <a:avLst/>
          </a:prstGeom>
          <a:solidFill>
            <a:srgbClr val="C9963B"/>
          </a:solidFill>
          <a:ln/>
        </p:spPr>
      </p:sp>
      <p:sp>
        <p:nvSpPr>
          <p:cNvPr id="11" name="Text 9"/>
          <p:cNvSpPr/>
          <p:nvPr/>
        </p:nvSpPr>
        <p:spPr>
          <a:xfrm>
            <a:off x="812800" y="1397000"/>
            <a:ext cx="7162800" cy="1320800"/>
          </a:xfrm>
          <a:prstGeom prst="rect">
            <a:avLst/>
          </a:prstGeom>
          <a:noFill/>
          <a:ln/>
        </p:spPr>
        <p:txBody>
          <a:bodyPr wrap="square" lIns="0" tIns="0" rIns="0" bIns="0" rtlCol="0" anchor="t"/>
          <a:lstStyle/>
          <a:p>
            <a:pPr algn="l">
              <a:lnSpc>
                <a:spcPct val="160000"/>
              </a:lnSpc>
            </a:pPr>
            <a:r>
              <a:rPr lang="en-US" sz="1300" b="1" dirty="0">
                <a:solidFill>
                  <a:srgbClr val="0F2647"/>
                </a:solidFill>
                <a:latin typeface="Liter" pitchFamily="34" charset="0"/>
                <a:ea typeface="Liter" pitchFamily="34" charset="-122"/>
                <a:cs typeface="Liter" pitchFamily="34" charset="-120"/>
              </a:rPr>
              <a:t>CREATE DATABASE</a:t>
            </a:r>
            <a:r>
              <a:rPr lang="en-US" sz="1300" dirty="0">
                <a:solidFill>
                  <a:srgbClr val="0F2647"/>
                </a:solidFill>
                <a:latin typeface="Liter" pitchFamily="34" charset="0"/>
                <a:ea typeface="Liter" pitchFamily="34" charset="-122"/>
                <a:cs typeface="Liter" pitchFamily="34" charset="-120"/>
              </a:rPr>
              <a:t> retail_sales_project;</a:t>
            </a:r>
            <a:endParaRPr lang="en-US" sz="1300" dirty="0"/>
          </a:p>
          <a:p>
            <a:pPr algn="l">
              <a:lnSpc>
                <a:spcPct val="160000"/>
              </a:lnSpc>
            </a:pPr>
            <a:r>
              <a:rPr lang="en-US" sz="1300" b="1" dirty="0">
                <a:solidFill>
                  <a:srgbClr val="0F2647"/>
                </a:solidFill>
                <a:latin typeface="Liter" pitchFamily="34" charset="0"/>
                <a:ea typeface="Liter" pitchFamily="34" charset="-122"/>
                <a:cs typeface="Liter" pitchFamily="34" charset="-120"/>
              </a:rPr>
              <a:t>USE</a:t>
            </a:r>
            <a:r>
              <a:rPr lang="en-US" sz="1300" dirty="0">
                <a:solidFill>
                  <a:srgbClr val="0F2647"/>
                </a:solidFill>
                <a:latin typeface="Liter" pitchFamily="34" charset="0"/>
                <a:ea typeface="Liter" pitchFamily="34" charset="-122"/>
                <a:cs typeface="Liter" pitchFamily="34" charset="-120"/>
              </a:rPr>
              <a:t> retail_sales_project;</a:t>
            </a:r>
            <a:endParaRPr lang="en-US" sz="1300" dirty="0"/>
          </a:p>
        </p:txBody>
      </p:sp>
      <p:sp>
        <p:nvSpPr>
          <p:cNvPr id="12" name="Text 10"/>
          <p:cNvSpPr/>
          <p:nvPr/>
        </p:nvSpPr>
        <p:spPr>
          <a:xfrm>
            <a:off x="736600" y="2971800"/>
            <a:ext cx="7264400" cy="2540000"/>
          </a:xfrm>
          <a:prstGeom prst="rect">
            <a:avLst/>
          </a:prstGeom>
          <a:noFill/>
          <a:ln/>
        </p:spPr>
        <p:txBody>
          <a:bodyPr wrap="square" lIns="0" tIns="0" rIns="0" bIns="0" rtlCol="0" anchor="t"/>
          <a:lstStyle/>
          <a:p>
            <a:pPr algn="l">
              <a:lnSpc>
                <a:spcPct val="160000"/>
              </a:lnSpc>
            </a:pPr>
            <a:r>
              <a:rPr lang="en-US" sz="1400" b="1" dirty="0">
                <a:solidFill>
                  <a:srgbClr val="2D2D2D"/>
                </a:solidFill>
                <a:latin typeface="Liter" pitchFamily="34" charset="0"/>
                <a:ea typeface="Liter" pitchFamily="34" charset="-122"/>
                <a:cs typeface="Liter" pitchFamily="34" charset="-120"/>
              </a:rPr>
              <a:t>Purpose</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 Created a dedicated database for retail analysis</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 Stored and managed large datasets efficiently</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 Isolated project data from other databases</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 Enabled organized schema design</a:t>
            </a:r>
            <a:endParaRPr lang="en-US" sz="1400" dirty="0"/>
          </a:p>
        </p:txBody>
      </p:sp>
      <p:sp>
        <p:nvSpPr>
          <p:cNvPr id="13" name="Shape 11"/>
          <p:cNvSpPr/>
          <p:nvPr/>
        </p:nvSpPr>
        <p:spPr>
          <a:xfrm>
            <a:off x="8255000" y="965200"/>
            <a:ext cx="7366000" cy="279400"/>
          </a:xfrm>
          <a:prstGeom prst="rect">
            <a:avLst/>
          </a:prstGeom>
          <a:solidFill>
            <a:srgbClr val="EBF0F7"/>
          </a:solidFill>
          <a:ln/>
        </p:spPr>
      </p:sp>
      <p:sp>
        <p:nvSpPr>
          <p:cNvPr id="14" name="Shape 12"/>
          <p:cNvSpPr/>
          <p:nvPr/>
        </p:nvSpPr>
        <p:spPr>
          <a:xfrm>
            <a:off x="8255000" y="965200"/>
            <a:ext cx="38100" cy="279400"/>
          </a:xfrm>
          <a:prstGeom prst="rect">
            <a:avLst/>
          </a:prstGeom>
          <a:solidFill>
            <a:srgbClr val="C9963B"/>
          </a:solidFill>
          <a:ln/>
        </p:spPr>
      </p:sp>
      <p:sp>
        <p:nvSpPr>
          <p:cNvPr id="15" name="Text 13"/>
          <p:cNvSpPr/>
          <p:nvPr/>
        </p:nvSpPr>
        <p:spPr>
          <a:xfrm>
            <a:off x="8356600" y="965200"/>
            <a:ext cx="7239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Database Design Considerations</a:t>
            </a:r>
            <a:endParaRPr lang="en-US" sz="1300" dirty="0"/>
          </a:p>
        </p:txBody>
      </p:sp>
      <p:sp>
        <p:nvSpPr>
          <p:cNvPr id="16" name="Shape 14"/>
          <p:cNvSpPr/>
          <p:nvPr/>
        </p:nvSpPr>
        <p:spPr>
          <a:xfrm>
            <a:off x="8318500" y="1320800"/>
            <a:ext cx="7239000" cy="1270000"/>
          </a:xfrm>
          <a:prstGeom prst="rect">
            <a:avLst/>
          </a:prstGeom>
          <a:solidFill>
            <a:srgbClr val="EBF0F7"/>
          </a:solidFill>
          <a:ln/>
        </p:spPr>
      </p:sp>
      <p:sp>
        <p:nvSpPr>
          <p:cNvPr id="17" name="Shape 15"/>
          <p:cNvSpPr/>
          <p:nvPr/>
        </p:nvSpPr>
        <p:spPr>
          <a:xfrm>
            <a:off x="8318500" y="1320800"/>
            <a:ext cx="7239000" cy="38100"/>
          </a:xfrm>
          <a:prstGeom prst="rect">
            <a:avLst/>
          </a:prstGeom>
          <a:solidFill>
            <a:srgbClr val="1B3A6B"/>
          </a:solidFill>
          <a:ln/>
        </p:spPr>
      </p:sp>
      <p:sp>
        <p:nvSpPr>
          <p:cNvPr id="18" name="Text 16"/>
          <p:cNvSpPr/>
          <p:nvPr/>
        </p:nvSpPr>
        <p:spPr>
          <a:xfrm>
            <a:off x="8483600" y="1447800"/>
            <a:ext cx="6908800" cy="279400"/>
          </a:xfrm>
          <a:prstGeom prst="rect">
            <a:avLst/>
          </a:prstGeom>
          <a:noFill/>
          <a:ln/>
        </p:spPr>
        <p:txBody>
          <a:bodyPr wrap="none" lIns="0" tIns="0" rIns="0" bIns="0" rtlCol="0" anchor="ctr"/>
          <a:lstStyle/>
          <a:p>
            <a:pPr algn="l">
              <a:lnSpc>
                <a:spcPct val="120000"/>
              </a:lnSpc>
            </a:pPr>
            <a:r>
              <a:rPr lang="en-US" sz="1400" b="1" dirty="0">
                <a:solidFill>
                  <a:srgbClr val="1B3A6B"/>
                </a:solidFill>
                <a:latin typeface="Sorts Mill Goudy" pitchFamily="34" charset="0"/>
                <a:ea typeface="Sorts Mill Goudy" pitchFamily="34" charset="-122"/>
                <a:cs typeface="Sorts Mill Goudy" pitchFamily="34" charset="-120"/>
              </a:rPr>
              <a:t>Scalability</a:t>
            </a:r>
            <a:endParaRPr lang="en-US" sz="1400" dirty="0"/>
          </a:p>
        </p:txBody>
      </p:sp>
      <p:sp>
        <p:nvSpPr>
          <p:cNvPr id="19" name="Text 17"/>
          <p:cNvSpPr/>
          <p:nvPr/>
        </p:nvSpPr>
        <p:spPr>
          <a:xfrm>
            <a:off x="8483600" y="1778000"/>
            <a:ext cx="6908800" cy="7112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MySQL Server architecture supports millions of transaction records with efficient indexing and query optimization.</a:t>
            </a:r>
            <a:endParaRPr lang="en-US" sz="1300" dirty="0"/>
          </a:p>
        </p:txBody>
      </p:sp>
      <p:sp>
        <p:nvSpPr>
          <p:cNvPr id="20" name="Shape 18"/>
          <p:cNvSpPr/>
          <p:nvPr/>
        </p:nvSpPr>
        <p:spPr>
          <a:xfrm>
            <a:off x="8318500" y="2717800"/>
            <a:ext cx="7239000" cy="1270000"/>
          </a:xfrm>
          <a:prstGeom prst="rect">
            <a:avLst/>
          </a:prstGeom>
          <a:solidFill>
            <a:srgbClr val="EBF0F7"/>
          </a:solidFill>
          <a:ln/>
        </p:spPr>
      </p:sp>
      <p:sp>
        <p:nvSpPr>
          <p:cNvPr id="21" name="Shape 19"/>
          <p:cNvSpPr/>
          <p:nvPr/>
        </p:nvSpPr>
        <p:spPr>
          <a:xfrm>
            <a:off x="8318500" y="2717800"/>
            <a:ext cx="7239000" cy="38100"/>
          </a:xfrm>
          <a:prstGeom prst="rect">
            <a:avLst/>
          </a:prstGeom>
          <a:solidFill>
            <a:srgbClr val="C9963B"/>
          </a:solidFill>
          <a:ln/>
        </p:spPr>
      </p:sp>
      <p:sp>
        <p:nvSpPr>
          <p:cNvPr id="22" name="Text 20"/>
          <p:cNvSpPr/>
          <p:nvPr/>
        </p:nvSpPr>
        <p:spPr>
          <a:xfrm>
            <a:off x="8483600" y="2844800"/>
            <a:ext cx="6908800" cy="279400"/>
          </a:xfrm>
          <a:prstGeom prst="rect">
            <a:avLst/>
          </a:prstGeom>
          <a:noFill/>
          <a:ln/>
        </p:spPr>
        <p:txBody>
          <a:bodyPr wrap="none" lIns="0" tIns="0" rIns="0" bIns="0" rtlCol="0" anchor="ctr"/>
          <a:lstStyle/>
          <a:p>
            <a:pPr algn="l">
              <a:lnSpc>
                <a:spcPct val="120000"/>
              </a:lnSpc>
            </a:pPr>
            <a:r>
              <a:rPr lang="en-US" sz="1400" b="1" dirty="0">
                <a:solidFill>
                  <a:srgbClr val="C9963B"/>
                </a:solidFill>
                <a:latin typeface="Sorts Mill Goudy" pitchFamily="34" charset="0"/>
                <a:ea typeface="Sorts Mill Goudy" pitchFamily="34" charset="-122"/>
                <a:cs typeface="Sorts Mill Goudy" pitchFamily="34" charset="-120"/>
              </a:rPr>
              <a:t>Organization</a:t>
            </a:r>
            <a:endParaRPr lang="en-US" sz="1400" dirty="0"/>
          </a:p>
        </p:txBody>
      </p:sp>
      <p:sp>
        <p:nvSpPr>
          <p:cNvPr id="23" name="Text 21"/>
          <p:cNvSpPr/>
          <p:nvPr/>
        </p:nvSpPr>
        <p:spPr>
          <a:xfrm>
            <a:off x="8483600" y="3175000"/>
            <a:ext cx="6908800" cy="7112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Dedicated database ensures clean separation of project data, making backup, migration, and maintenance straightforward.</a:t>
            </a:r>
            <a:endParaRPr lang="en-US" sz="1300" dirty="0"/>
          </a:p>
        </p:txBody>
      </p:sp>
      <p:sp>
        <p:nvSpPr>
          <p:cNvPr id="24" name="Shape 22"/>
          <p:cNvSpPr/>
          <p:nvPr/>
        </p:nvSpPr>
        <p:spPr>
          <a:xfrm>
            <a:off x="8318500" y="4114800"/>
            <a:ext cx="7239000" cy="1397000"/>
          </a:xfrm>
          <a:prstGeom prst="rect">
            <a:avLst/>
          </a:prstGeom>
          <a:solidFill>
            <a:srgbClr val="EBF0F7"/>
          </a:solidFill>
          <a:ln/>
        </p:spPr>
      </p:sp>
      <p:sp>
        <p:nvSpPr>
          <p:cNvPr id="25" name="Shape 23"/>
          <p:cNvSpPr/>
          <p:nvPr/>
        </p:nvSpPr>
        <p:spPr>
          <a:xfrm>
            <a:off x="8318500" y="4114800"/>
            <a:ext cx="7239000" cy="38100"/>
          </a:xfrm>
          <a:prstGeom prst="rect">
            <a:avLst/>
          </a:prstGeom>
          <a:solidFill>
            <a:srgbClr val="1B3A6B"/>
          </a:solidFill>
          <a:ln/>
        </p:spPr>
      </p:sp>
      <p:sp>
        <p:nvSpPr>
          <p:cNvPr id="26" name="Text 24"/>
          <p:cNvSpPr/>
          <p:nvPr/>
        </p:nvSpPr>
        <p:spPr>
          <a:xfrm>
            <a:off x="8483600" y="4241800"/>
            <a:ext cx="6908800" cy="279400"/>
          </a:xfrm>
          <a:prstGeom prst="rect">
            <a:avLst/>
          </a:prstGeom>
          <a:noFill/>
          <a:ln/>
        </p:spPr>
        <p:txBody>
          <a:bodyPr wrap="none" lIns="0" tIns="0" rIns="0" bIns="0" rtlCol="0" anchor="ctr"/>
          <a:lstStyle/>
          <a:p>
            <a:pPr algn="l">
              <a:lnSpc>
                <a:spcPct val="120000"/>
              </a:lnSpc>
            </a:pPr>
            <a:r>
              <a:rPr lang="en-US" sz="1400" b="1" dirty="0">
                <a:solidFill>
                  <a:srgbClr val="1B3A6B"/>
                </a:solidFill>
                <a:latin typeface="Sorts Mill Goudy" pitchFamily="34" charset="0"/>
                <a:ea typeface="Sorts Mill Goudy" pitchFamily="34" charset="-122"/>
                <a:cs typeface="Sorts Mill Goudy" pitchFamily="34" charset="-120"/>
              </a:rPr>
              <a:t>Performance</a:t>
            </a:r>
            <a:endParaRPr lang="en-US" sz="1400" dirty="0"/>
          </a:p>
        </p:txBody>
      </p:sp>
      <p:sp>
        <p:nvSpPr>
          <p:cNvPr id="27" name="Text 25"/>
          <p:cNvSpPr/>
          <p:nvPr/>
        </p:nvSpPr>
        <p:spPr>
          <a:xfrm>
            <a:off x="8483600" y="4572000"/>
            <a:ext cx="6908800" cy="8382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Optimized for analytical workloads with proper datatype selection and utf8mb4 encoding for international character support.</a:t>
            </a:r>
            <a:endParaRPr lang="en-US" sz="1300" dirty="0"/>
          </a:p>
        </p:txBody>
      </p:sp>
      <p:sp>
        <p:nvSpPr>
          <p:cNvPr id="28" name="Shape 26"/>
          <p:cNvSpPr/>
          <p:nvPr/>
        </p:nvSpPr>
        <p:spPr>
          <a:xfrm>
            <a:off x="635000" y="8331200"/>
            <a:ext cx="14986000" cy="12700"/>
          </a:xfrm>
          <a:prstGeom prst="rect">
            <a:avLst/>
          </a:prstGeom>
          <a:solidFill>
            <a:srgbClr val="D0D8E4"/>
          </a:solidFill>
          <a:ln/>
        </p:spPr>
      </p:sp>
      <p:sp>
        <p:nvSpPr>
          <p:cNvPr id="29" name="Text 27"/>
          <p:cNvSpPr/>
          <p:nvPr/>
        </p:nvSpPr>
        <p:spPr>
          <a:xfrm>
            <a:off x="15240000" y="8432800"/>
            <a:ext cx="762000" cy="279400"/>
          </a:xfrm>
          <a:prstGeom prst="rect">
            <a:avLst/>
          </a:prstGeom>
          <a:noFill/>
          <a:ln/>
        </p:spPr>
        <p:txBody>
          <a:bodyPr wrap="none" lIns="0" tIns="0" rIns="0" bIns="0" rtlCol="0" anchor="ctr"/>
          <a:lstStyle/>
          <a:p>
            <a:pPr algn="r">
              <a:lnSpc>
                <a:spcPct val="120000"/>
              </a:lnSpc>
            </a:pPr>
            <a:r>
              <a:rPr lang="en-US" sz="1200" dirty="0">
                <a:solidFill>
                  <a:srgbClr val="8899AA"/>
                </a:solidFill>
                <a:latin typeface="MiSans" pitchFamily="34" charset="0"/>
                <a:ea typeface="MiSans" pitchFamily="34" charset="-122"/>
                <a:cs typeface="MiSans" pitchFamily="34" charset="-120"/>
              </a:rPr>
              <a:t>06</a:t>
            </a:r>
            <a:endParaRPr lang="en-US" sz="12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1B3A6B"/>
          </a:solidFill>
          <a:ln/>
        </p:spPr>
      </p:sp>
      <p:sp>
        <p:nvSpPr>
          <p:cNvPr id="3" name="Shape 1"/>
          <p:cNvSpPr/>
          <p:nvPr/>
        </p:nvSpPr>
        <p:spPr>
          <a:xfrm>
            <a:off x="635000" y="127000"/>
            <a:ext cx="50800" cy="685800"/>
          </a:xfrm>
          <a:prstGeom prst="rect">
            <a:avLst/>
          </a:prstGeom>
          <a:solidFill>
            <a:srgbClr val="C9963B"/>
          </a:solidFill>
          <a:ln/>
        </p:spPr>
      </p:sp>
      <p:sp>
        <p:nvSpPr>
          <p:cNvPr id="4" name="Text 2"/>
          <p:cNvSpPr/>
          <p:nvPr/>
        </p:nvSpPr>
        <p:spPr>
          <a:xfrm>
            <a:off x="787400" y="152400"/>
            <a:ext cx="14605000" cy="635000"/>
          </a:xfrm>
          <a:prstGeom prst="rect">
            <a:avLst/>
          </a:prstGeom>
          <a:noFill/>
          <a:ln/>
        </p:spPr>
        <p:txBody>
          <a:bodyPr wrap="square" lIns="0" tIns="0" rIns="0" bIns="0" rtlCol="0" anchor="ctr"/>
          <a:lstStyle/>
          <a:p>
            <a:pPr algn="l">
              <a:lnSpc>
                <a:spcPct val="120000"/>
              </a:lnSpc>
            </a:pPr>
            <a:r>
              <a:rPr lang="en-US" sz="2000" b="1" dirty="0">
                <a:solidFill>
                  <a:srgbClr val="0F2647"/>
                </a:solidFill>
                <a:latin typeface="Sorts Mill Goudy" pitchFamily="34" charset="0"/>
                <a:ea typeface="Sorts Mill Goudy" pitchFamily="34" charset="-122"/>
                <a:cs typeface="Sorts Mill Goudy" pitchFamily="34" charset="-120"/>
              </a:rPr>
              <a:t>Two yearly transaction tables created with optimized datatypes and utf8mb4 encoding for international character support</a:t>
            </a:r>
            <a:endParaRPr lang="en-US" sz="2000" dirty="0"/>
          </a:p>
        </p:txBody>
      </p:sp>
      <p:sp>
        <p:nvSpPr>
          <p:cNvPr id="5" name="Shape 3"/>
          <p:cNvSpPr/>
          <p:nvPr/>
        </p:nvSpPr>
        <p:spPr>
          <a:xfrm>
            <a:off x="635000" y="863600"/>
            <a:ext cx="14986000" cy="12700"/>
          </a:xfrm>
          <a:prstGeom prst="rect">
            <a:avLst/>
          </a:prstGeom>
          <a:solidFill>
            <a:srgbClr val="D0D8E4"/>
          </a:solidFill>
          <a:ln/>
        </p:spPr>
      </p:sp>
      <p:sp>
        <p:nvSpPr>
          <p:cNvPr id="6" name="Shape 4"/>
          <p:cNvSpPr/>
          <p:nvPr/>
        </p:nvSpPr>
        <p:spPr>
          <a:xfrm>
            <a:off x="635000" y="965200"/>
            <a:ext cx="7493000" cy="279400"/>
          </a:xfrm>
          <a:prstGeom prst="rect">
            <a:avLst/>
          </a:prstGeom>
          <a:solidFill>
            <a:srgbClr val="EBF0F7"/>
          </a:solidFill>
          <a:ln/>
        </p:spPr>
      </p:sp>
      <p:sp>
        <p:nvSpPr>
          <p:cNvPr id="7" name="Shape 5"/>
          <p:cNvSpPr/>
          <p:nvPr/>
        </p:nvSpPr>
        <p:spPr>
          <a:xfrm>
            <a:off x="635000" y="965200"/>
            <a:ext cx="38100" cy="279400"/>
          </a:xfrm>
          <a:prstGeom prst="rect">
            <a:avLst/>
          </a:prstGeom>
          <a:solidFill>
            <a:srgbClr val="C9963B"/>
          </a:solidFill>
          <a:ln/>
        </p:spPr>
      </p:sp>
      <p:sp>
        <p:nvSpPr>
          <p:cNvPr id="8" name="Text 6"/>
          <p:cNvSpPr/>
          <p:nvPr/>
        </p:nvSpPr>
        <p:spPr>
          <a:xfrm>
            <a:off x="736600" y="965200"/>
            <a:ext cx="7366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Tables Created</a:t>
            </a:r>
            <a:endParaRPr lang="en-US" sz="1300" dirty="0"/>
          </a:p>
        </p:txBody>
      </p:sp>
      <p:sp>
        <p:nvSpPr>
          <p:cNvPr id="9" name="Shape 7"/>
          <p:cNvSpPr/>
          <p:nvPr/>
        </p:nvSpPr>
        <p:spPr>
          <a:xfrm>
            <a:off x="635000" y="1320800"/>
            <a:ext cx="7493000" cy="1016000"/>
          </a:xfrm>
          <a:prstGeom prst="rect">
            <a:avLst/>
          </a:prstGeom>
          <a:solidFill>
            <a:srgbClr val="EBF0F7"/>
          </a:solidFill>
          <a:ln/>
        </p:spPr>
      </p:sp>
      <p:sp>
        <p:nvSpPr>
          <p:cNvPr id="10" name="Shape 8"/>
          <p:cNvSpPr/>
          <p:nvPr/>
        </p:nvSpPr>
        <p:spPr>
          <a:xfrm>
            <a:off x="635000" y="1320800"/>
            <a:ext cx="7493000" cy="38100"/>
          </a:xfrm>
          <a:prstGeom prst="rect">
            <a:avLst/>
          </a:prstGeom>
          <a:solidFill>
            <a:srgbClr val="1B3A6B"/>
          </a:solidFill>
          <a:ln/>
        </p:spPr>
      </p:sp>
      <p:sp>
        <p:nvSpPr>
          <p:cNvPr id="11" name="Text 9"/>
          <p:cNvSpPr/>
          <p:nvPr/>
        </p:nvSpPr>
        <p:spPr>
          <a:xfrm>
            <a:off x="787400" y="1447800"/>
            <a:ext cx="7188200" cy="279400"/>
          </a:xfrm>
          <a:prstGeom prst="rect">
            <a:avLst/>
          </a:prstGeom>
          <a:noFill/>
          <a:ln/>
        </p:spPr>
        <p:txBody>
          <a:bodyPr wrap="none" lIns="0" tIns="0" rIns="0" bIns="0" rtlCol="0" anchor="ctr"/>
          <a:lstStyle/>
          <a:p>
            <a:pPr algn="l">
              <a:lnSpc>
                <a:spcPct val="120000"/>
              </a:lnSpc>
            </a:pPr>
            <a:r>
              <a:rPr lang="en-US" sz="1500" b="1" dirty="0">
                <a:solidFill>
                  <a:srgbClr val="1B3A6B"/>
                </a:solidFill>
                <a:latin typeface="Sorts Mill Goudy" pitchFamily="34" charset="0"/>
                <a:ea typeface="Sorts Mill Goudy" pitchFamily="34" charset="-122"/>
                <a:cs typeface="Sorts Mill Goudy" pitchFamily="34" charset="-120"/>
              </a:rPr>
              <a:t>retail_2009_2010</a:t>
            </a:r>
            <a:endParaRPr lang="en-US" sz="1500" dirty="0"/>
          </a:p>
        </p:txBody>
      </p:sp>
      <p:sp>
        <p:nvSpPr>
          <p:cNvPr id="12" name="Text 10"/>
          <p:cNvSpPr/>
          <p:nvPr/>
        </p:nvSpPr>
        <p:spPr>
          <a:xfrm>
            <a:off x="787400" y="1778000"/>
            <a:ext cx="7188200" cy="457200"/>
          </a:xfrm>
          <a:prstGeom prst="rect">
            <a:avLst/>
          </a:prstGeom>
          <a:noFill/>
          <a:ln/>
        </p:spPr>
        <p:txBody>
          <a:bodyPr wrap="square" lIns="0" tIns="0" rIns="0" bIns="0" rtlCol="0" anchor="t"/>
          <a:lstStyle/>
          <a:p>
            <a:pPr algn="l">
              <a:lnSpc>
                <a:spcPct val="140000"/>
              </a:lnSpc>
            </a:pPr>
            <a:r>
              <a:rPr lang="en-US" sz="1300" dirty="0">
                <a:solidFill>
                  <a:srgbClr val="555555"/>
                </a:solidFill>
                <a:latin typeface="Liter" pitchFamily="34" charset="0"/>
                <a:ea typeface="Liter" pitchFamily="34" charset="-122"/>
                <a:cs typeface="Liter" pitchFamily="34" charset="-120"/>
              </a:rPr>
              <a:t>Stores transaction records from 2009-2010 period with full schema support.</a:t>
            </a:r>
            <a:endParaRPr lang="en-US" sz="1300" dirty="0"/>
          </a:p>
        </p:txBody>
      </p:sp>
      <p:sp>
        <p:nvSpPr>
          <p:cNvPr id="13" name="Shape 11"/>
          <p:cNvSpPr/>
          <p:nvPr/>
        </p:nvSpPr>
        <p:spPr>
          <a:xfrm>
            <a:off x="635000" y="2463800"/>
            <a:ext cx="7493000" cy="1016000"/>
          </a:xfrm>
          <a:prstGeom prst="rect">
            <a:avLst/>
          </a:prstGeom>
          <a:solidFill>
            <a:srgbClr val="EBF0F7"/>
          </a:solidFill>
          <a:ln/>
        </p:spPr>
      </p:sp>
      <p:sp>
        <p:nvSpPr>
          <p:cNvPr id="14" name="Shape 12"/>
          <p:cNvSpPr/>
          <p:nvPr/>
        </p:nvSpPr>
        <p:spPr>
          <a:xfrm>
            <a:off x="635000" y="2463800"/>
            <a:ext cx="7493000" cy="38100"/>
          </a:xfrm>
          <a:prstGeom prst="rect">
            <a:avLst/>
          </a:prstGeom>
          <a:solidFill>
            <a:srgbClr val="C9963B"/>
          </a:solidFill>
          <a:ln/>
        </p:spPr>
      </p:sp>
      <p:sp>
        <p:nvSpPr>
          <p:cNvPr id="15" name="Text 13"/>
          <p:cNvSpPr/>
          <p:nvPr/>
        </p:nvSpPr>
        <p:spPr>
          <a:xfrm>
            <a:off x="787400" y="2590800"/>
            <a:ext cx="7188200" cy="279400"/>
          </a:xfrm>
          <a:prstGeom prst="rect">
            <a:avLst/>
          </a:prstGeom>
          <a:noFill/>
          <a:ln/>
        </p:spPr>
        <p:txBody>
          <a:bodyPr wrap="none" lIns="0" tIns="0" rIns="0" bIns="0" rtlCol="0" anchor="ctr"/>
          <a:lstStyle/>
          <a:p>
            <a:pPr algn="l">
              <a:lnSpc>
                <a:spcPct val="120000"/>
              </a:lnSpc>
            </a:pPr>
            <a:r>
              <a:rPr lang="en-US" sz="1500" b="1" dirty="0">
                <a:solidFill>
                  <a:srgbClr val="C9963B"/>
                </a:solidFill>
                <a:latin typeface="Sorts Mill Goudy" pitchFamily="34" charset="0"/>
                <a:ea typeface="Sorts Mill Goudy" pitchFamily="34" charset="-122"/>
                <a:cs typeface="Sorts Mill Goudy" pitchFamily="34" charset="-120"/>
              </a:rPr>
              <a:t>retail_2010_2011</a:t>
            </a:r>
            <a:endParaRPr lang="en-US" sz="1500" dirty="0"/>
          </a:p>
        </p:txBody>
      </p:sp>
      <p:sp>
        <p:nvSpPr>
          <p:cNvPr id="16" name="Text 14"/>
          <p:cNvSpPr/>
          <p:nvPr/>
        </p:nvSpPr>
        <p:spPr>
          <a:xfrm>
            <a:off x="787400" y="2921000"/>
            <a:ext cx="7188200" cy="457200"/>
          </a:xfrm>
          <a:prstGeom prst="rect">
            <a:avLst/>
          </a:prstGeom>
          <a:noFill/>
          <a:ln/>
        </p:spPr>
        <p:txBody>
          <a:bodyPr wrap="square" lIns="0" tIns="0" rIns="0" bIns="0" rtlCol="0" anchor="t"/>
          <a:lstStyle/>
          <a:p>
            <a:pPr algn="l">
              <a:lnSpc>
                <a:spcPct val="140000"/>
              </a:lnSpc>
            </a:pPr>
            <a:r>
              <a:rPr lang="en-US" sz="1300" dirty="0">
                <a:solidFill>
                  <a:srgbClr val="555555"/>
                </a:solidFill>
                <a:latin typeface="Liter" pitchFamily="34" charset="0"/>
                <a:ea typeface="Liter" pitchFamily="34" charset="-122"/>
                <a:cs typeface="Liter" pitchFamily="34" charset="-120"/>
              </a:rPr>
              <a:t>Stores transaction records from 2010-2011 period for year-over-year analysis.</a:t>
            </a:r>
            <a:endParaRPr lang="en-US" sz="1300" dirty="0"/>
          </a:p>
        </p:txBody>
      </p:sp>
      <p:sp>
        <p:nvSpPr>
          <p:cNvPr id="23" name="Shape 20"/>
          <p:cNvSpPr/>
          <p:nvPr/>
        </p:nvSpPr>
        <p:spPr>
          <a:xfrm>
            <a:off x="635000" y="8331200"/>
            <a:ext cx="14986000" cy="12700"/>
          </a:xfrm>
          <a:prstGeom prst="rect">
            <a:avLst/>
          </a:prstGeom>
          <a:solidFill>
            <a:srgbClr val="D0D8E4"/>
          </a:solidFill>
          <a:ln/>
        </p:spPr>
      </p:sp>
      <p:sp>
        <p:nvSpPr>
          <p:cNvPr id="24" name="Text 21"/>
          <p:cNvSpPr/>
          <p:nvPr/>
        </p:nvSpPr>
        <p:spPr>
          <a:xfrm>
            <a:off x="15240000" y="8432800"/>
            <a:ext cx="762000" cy="279400"/>
          </a:xfrm>
          <a:prstGeom prst="rect">
            <a:avLst/>
          </a:prstGeom>
          <a:noFill/>
          <a:ln/>
        </p:spPr>
        <p:txBody>
          <a:bodyPr wrap="none" lIns="0" tIns="0" rIns="0" bIns="0" rtlCol="0" anchor="ctr"/>
          <a:lstStyle/>
          <a:p>
            <a:pPr algn="r">
              <a:lnSpc>
                <a:spcPct val="120000"/>
              </a:lnSpc>
            </a:pPr>
            <a:r>
              <a:rPr lang="en-US" sz="1200" dirty="0">
                <a:solidFill>
                  <a:srgbClr val="8899AA"/>
                </a:solidFill>
                <a:latin typeface="MiSans" pitchFamily="34" charset="0"/>
                <a:ea typeface="MiSans" pitchFamily="34" charset="-122"/>
                <a:cs typeface="MiSans" pitchFamily="34" charset="-120"/>
              </a:rPr>
              <a:t>07</a:t>
            </a:r>
            <a:endParaRPr lang="en-US" sz="1200" dirty="0"/>
          </a:p>
        </p:txBody>
      </p:sp>
      <p:pic>
        <p:nvPicPr>
          <p:cNvPr id="25" name="Picture 24">
            <a:extLst>
              <a:ext uri="{FF2B5EF4-FFF2-40B4-BE49-F238E27FC236}">
                <a16:creationId xmlns:a16="http://schemas.microsoft.com/office/drawing/2014/main" id="{2C2DA733-7179-3E10-03A0-9C1F92E3314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3801110"/>
            <a:ext cx="7148384" cy="4022090"/>
          </a:xfrm>
          <a:prstGeom prst="rect">
            <a:avLst/>
          </a:prstGeom>
          <a:noFill/>
          <a:ln>
            <a:noFill/>
          </a:ln>
        </p:spPr>
      </p:pic>
      <p:pic>
        <p:nvPicPr>
          <p:cNvPr id="26" name="Picture 25">
            <a:extLst>
              <a:ext uri="{FF2B5EF4-FFF2-40B4-BE49-F238E27FC236}">
                <a16:creationId xmlns:a16="http://schemas.microsoft.com/office/drawing/2014/main" id="{5850F75B-9AFE-4282-4E36-73A40C07F0E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52579" y="4031932"/>
            <a:ext cx="6785593" cy="3804774"/>
          </a:xfrm>
          <a:prstGeom prst="rect">
            <a:avLst/>
          </a:prstGeom>
          <a:noFill/>
          <a:ln>
            <a:noFill/>
          </a:ln>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1B3A6B"/>
          </a:solidFill>
          <a:ln/>
        </p:spPr>
      </p:sp>
      <p:sp>
        <p:nvSpPr>
          <p:cNvPr id="3" name="Shape 1"/>
          <p:cNvSpPr/>
          <p:nvPr/>
        </p:nvSpPr>
        <p:spPr>
          <a:xfrm>
            <a:off x="635000" y="127000"/>
            <a:ext cx="50800" cy="685800"/>
          </a:xfrm>
          <a:prstGeom prst="rect">
            <a:avLst/>
          </a:prstGeom>
          <a:solidFill>
            <a:srgbClr val="C9963B"/>
          </a:solidFill>
          <a:ln/>
        </p:spPr>
      </p:sp>
      <p:sp>
        <p:nvSpPr>
          <p:cNvPr id="4" name="Text 2"/>
          <p:cNvSpPr/>
          <p:nvPr/>
        </p:nvSpPr>
        <p:spPr>
          <a:xfrm>
            <a:off x="787400" y="152400"/>
            <a:ext cx="14605000" cy="635000"/>
          </a:xfrm>
          <a:prstGeom prst="rect">
            <a:avLst/>
          </a:prstGeom>
          <a:noFill/>
          <a:ln/>
        </p:spPr>
        <p:txBody>
          <a:bodyPr wrap="square" lIns="0" tIns="0" rIns="0" bIns="0" rtlCol="0" anchor="ctr"/>
          <a:lstStyle/>
          <a:p>
            <a:pPr algn="l">
              <a:lnSpc>
                <a:spcPct val="120000"/>
              </a:lnSpc>
            </a:pPr>
            <a:r>
              <a:rPr lang="en-US" sz="2000" b="1" dirty="0">
                <a:solidFill>
                  <a:srgbClr val="0F2647"/>
                </a:solidFill>
                <a:latin typeface="Sorts Mill Goudy" pitchFamily="34" charset="0"/>
                <a:ea typeface="Sorts Mill Goudy" pitchFamily="34" charset="-122"/>
                <a:cs typeface="Sorts Mill Goudy" pitchFamily="34" charset="-120"/>
              </a:rPr>
              <a:t>LOAD DATA INFILE method enabled efficient bulk import of massive datasets, outperforming manual import approaches</a:t>
            </a:r>
            <a:endParaRPr lang="en-US" sz="2000" dirty="0"/>
          </a:p>
        </p:txBody>
      </p:sp>
      <p:sp>
        <p:nvSpPr>
          <p:cNvPr id="5" name="Shape 3"/>
          <p:cNvSpPr/>
          <p:nvPr/>
        </p:nvSpPr>
        <p:spPr>
          <a:xfrm>
            <a:off x="635000" y="863600"/>
            <a:ext cx="14986000" cy="12700"/>
          </a:xfrm>
          <a:prstGeom prst="rect">
            <a:avLst/>
          </a:prstGeom>
          <a:solidFill>
            <a:srgbClr val="D0D8E4"/>
          </a:solidFill>
          <a:ln/>
        </p:spPr>
      </p:sp>
      <p:sp>
        <p:nvSpPr>
          <p:cNvPr id="6" name="Shape 4"/>
          <p:cNvSpPr/>
          <p:nvPr/>
        </p:nvSpPr>
        <p:spPr>
          <a:xfrm>
            <a:off x="635000" y="965200"/>
            <a:ext cx="7493000" cy="279400"/>
          </a:xfrm>
          <a:prstGeom prst="rect">
            <a:avLst/>
          </a:prstGeom>
          <a:solidFill>
            <a:srgbClr val="EBF0F7"/>
          </a:solidFill>
          <a:ln/>
        </p:spPr>
      </p:sp>
      <p:sp>
        <p:nvSpPr>
          <p:cNvPr id="7" name="Shape 5"/>
          <p:cNvSpPr/>
          <p:nvPr/>
        </p:nvSpPr>
        <p:spPr>
          <a:xfrm>
            <a:off x="635000" y="965200"/>
            <a:ext cx="38100" cy="279400"/>
          </a:xfrm>
          <a:prstGeom prst="rect">
            <a:avLst/>
          </a:prstGeom>
          <a:solidFill>
            <a:srgbClr val="C9963B"/>
          </a:solidFill>
          <a:ln/>
        </p:spPr>
      </p:sp>
      <p:sp>
        <p:nvSpPr>
          <p:cNvPr id="8" name="Text 6"/>
          <p:cNvSpPr/>
          <p:nvPr/>
        </p:nvSpPr>
        <p:spPr>
          <a:xfrm>
            <a:off x="736600" y="965200"/>
            <a:ext cx="7366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SQL Query — Data Import</a:t>
            </a:r>
            <a:endParaRPr lang="en-US" sz="1300" dirty="0"/>
          </a:p>
        </p:txBody>
      </p:sp>
      <p:sp>
        <p:nvSpPr>
          <p:cNvPr id="9" name="Shape 7"/>
          <p:cNvSpPr/>
          <p:nvPr/>
        </p:nvSpPr>
        <p:spPr>
          <a:xfrm>
            <a:off x="635000" y="1295400"/>
            <a:ext cx="7493000" cy="2032000"/>
          </a:xfrm>
          <a:prstGeom prst="rect">
            <a:avLst/>
          </a:prstGeom>
          <a:solidFill>
            <a:srgbClr val="EBF0F7"/>
          </a:solidFill>
          <a:ln/>
        </p:spPr>
      </p:sp>
      <p:sp>
        <p:nvSpPr>
          <p:cNvPr id="10" name="Shape 8"/>
          <p:cNvSpPr/>
          <p:nvPr/>
        </p:nvSpPr>
        <p:spPr>
          <a:xfrm>
            <a:off x="635000" y="1295400"/>
            <a:ext cx="50800" cy="2032000"/>
          </a:xfrm>
          <a:prstGeom prst="rect">
            <a:avLst/>
          </a:prstGeom>
          <a:solidFill>
            <a:srgbClr val="C9963B"/>
          </a:solidFill>
          <a:ln/>
        </p:spPr>
      </p:sp>
      <p:sp>
        <p:nvSpPr>
          <p:cNvPr id="11" name="Text 9"/>
          <p:cNvSpPr/>
          <p:nvPr/>
        </p:nvSpPr>
        <p:spPr>
          <a:xfrm>
            <a:off x="812800" y="1371600"/>
            <a:ext cx="7162800" cy="1879600"/>
          </a:xfrm>
          <a:prstGeom prst="rect">
            <a:avLst/>
          </a:prstGeom>
          <a:noFill/>
          <a:ln/>
        </p:spPr>
        <p:txBody>
          <a:bodyPr wrap="square" lIns="0" tIns="0" rIns="0" bIns="0" rtlCol="0" anchor="t"/>
          <a:lstStyle/>
          <a:p>
            <a:pPr algn="l">
              <a:lnSpc>
                <a:spcPct val="150000"/>
              </a:lnSpc>
            </a:pPr>
            <a:r>
              <a:rPr lang="en-US" sz="1200" b="1" dirty="0">
                <a:solidFill>
                  <a:srgbClr val="0F2647"/>
                </a:solidFill>
                <a:latin typeface="Liter" pitchFamily="34" charset="0"/>
                <a:ea typeface="Liter" pitchFamily="34" charset="-122"/>
                <a:cs typeface="Liter" pitchFamily="34" charset="-120"/>
              </a:rPr>
              <a:t>LOAD DATA INFILE</a:t>
            </a:r>
            <a:r>
              <a:rPr lang="en-US" sz="1200" dirty="0">
                <a:solidFill>
                  <a:srgbClr val="0F2647"/>
                </a:solidFill>
                <a:latin typeface="Liter" pitchFamily="34" charset="0"/>
                <a:ea typeface="Liter" pitchFamily="34" charset="-122"/>
                <a:cs typeface="Liter" pitchFamily="34" charset="-120"/>
              </a:rPr>
              <a:t> 'dataset.csv'</a:t>
            </a:r>
            <a:endParaRPr lang="en-US" sz="1200" dirty="0"/>
          </a:p>
          <a:p>
            <a:pPr algn="l">
              <a:lnSpc>
                <a:spcPct val="150000"/>
              </a:lnSpc>
            </a:pPr>
            <a:r>
              <a:rPr lang="en-US" sz="1200" b="1" dirty="0">
                <a:solidFill>
                  <a:srgbClr val="0F2647"/>
                </a:solidFill>
                <a:latin typeface="Liter" pitchFamily="34" charset="0"/>
                <a:ea typeface="Liter" pitchFamily="34" charset="-122"/>
                <a:cs typeface="Liter" pitchFamily="34" charset="-120"/>
              </a:rPr>
              <a:t>INTO TABLE</a:t>
            </a:r>
            <a:r>
              <a:rPr lang="en-US" sz="1200" dirty="0">
                <a:solidFill>
                  <a:srgbClr val="0F2647"/>
                </a:solidFill>
                <a:latin typeface="Liter" pitchFamily="34" charset="0"/>
                <a:ea typeface="Liter" pitchFamily="34" charset="-122"/>
                <a:cs typeface="Liter" pitchFamily="34" charset="-120"/>
              </a:rPr>
              <a:t> retail_2009_2010</a:t>
            </a:r>
            <a:endParaRPr lang="en-US" sz="1200" dirty="0"/>
          </a:p>
          <a:p>
            <a:pPr algn="l">
              <a:lnSpc>
                <a:spcPct val="150000"/>
              </a:lnSpc>
            </a:pPr>
            <a:r>
              <a:rPr lang="en-US" sz="1200" b="1" dirty="0">
                <a:solidFill>
                  <a:srgbClr val="0F2647"/>
                </a:solidFill>
                <a:latin typeface="Liter" pitchFamily="34" charset="0"/>
                <a:ea typeface="Liter" pitchFamily="34" charset="-122"/>
                <a:cs typeface="Liter" pitchFamily="34" charset="-120"/>
              </a:rPr>
              <a:t>FIELDS TERMINATED BY</a:t>
            </a:r>
            <a:r>
              <a:rPr lang="en-US" sz="1200" dirty="0">
                <a:solidFill>
                  <a:srgbClr val="0F2647"/>
                </a:solidFill>
                <a:latin typeface="Liter" pitchFamily="34" charset="0"/>
                <a:ea typeface="Liter" pitchFamily="34" charset="-122"/>
                <a:cs typeface="Liter" pitchFamily="34" charset="-120"/>
              </a:rPr>
              <a:t> ','</a:t>
            </a:r>
            <a:endParaRPr lang="en-US" sz="1200" dirty="0"/>
          </a:p>
          <a:p>
            <a:pPr algn="l">
              <a:lnSpc>
                <a:spcPct val="150000"/>
              </a:lnSpc>
            </a:pPr>
            <a:r>
              <a:rPr lang="en-US" sz="1200" b="1" dirty="0">
                <a:solidFill>
                  <a:srgbClr val="0F2647"/>
                </a:solidFill>
                <a:latin typeface="Liter" pitchFamily="34" charset="0"/>
                <a:ea typeface="Liter" pitchFamily="34" charset="-122"/>
                <a:cs typeface="Liter" pitchFamily="34" charset="-120"/>
              </a:rPr>
              <a:t>OPTIONALLY ENCLOSED BY</a:t>
            </a:r>
            <a:r>
              <a:rPr lang="en-US" sz="1200" dirty="0">
                <a:solidFill>
                  <a:srgbClr val="0F2647"/>
                </a:solidFill>
                <a:latin typeface="Liter" pitchFamily="34" charset="0"/>
                <a:ea typeface="Liter" pitchFamily="34" charset="-122"/>
                <a:cs typeface="Liter" pitchFamily="34" charset="-120"/>
              </a:rPr>
              <a:t> '"'</a:t>
            </a:r>
            <a:endParaRPr lang="en-US" sz="1200" dirty="0"/>
          </a:p>
          <a:p>
            <a:pPr algn="l">
              <a:lnSpc>
                <a:spcPct val="150000"/>
              </a:lnSpc>
            </a:pPr>
            <a:r>
              <a:rPr lang="en-US" sz="1200" b="1" dirty="0">
                <a:solidFill>
                  <a:srgbClr val="0F2647"/>
                </a:solidFill>
                <a:latin typeface="Liter" pitchFamily="34" charset="0"/>
                <a:ea typeface="Liter" pitchFamily="34" charset="-122"/>
                <a:cs typeface="Liter" pitchFamily="34" charset="-120"/>
              </a:rPr>
              <a:t>LINES TERMINATED BY</a:t>
            </a:r>
            <a:r>
              <a:rPr lang="en-US" sz="1200" dirty="0">
                <a:solidFill>
                  <a:srgbClr val="0F2647"/>
                </a:solidFill>
                <a:latin typeface="Liter" pitchFamily="34" charset="0"/>
                <a:ea typeface="Liter" pitchFamily="34" charset="-122"/>
                <a:cs typeface="Liter" pitchFamily="34" charset="-120"/>
              </a:rPr>
              <a:t> '\r\n'</a:t>
            </a:r>
            <a:endParaRPr lang="en-US" sz="1200" dirty="0"/>
          </a:p>
          <a:p>
            <a:pPr algn="l">
              <a:lnSpc>
                <a:spcPct val="150000"/>
              </a:lnSpc>
            </a:pPr>
            <a:r>
              <a:rPr lang="en-US" sz="1200" b="1" dirty="0">
                <a:solidFill>
                  <a:srgbClr val="0F2647"/>
                </a:solidFill>
                <a:latin typeface="Liter" pitchFamily="34" charset="0"/>
                <a:ea typeface="Liter" pitchFamily="34" charset="-122"/>
                <a:cs typeface="Liter" pitchFamily="34" charset="-120"/>
              </a:rPr>
              <a:t>IGNORE 1 ROWS;</a:t>
            </a:r>
            <a:endParaRPr lang="en-US" sz="1200" dirty="0"/>
          </a:p>
        </p:txBody>
      </p:sp>
      <p:sp>
        <p:nvSpPr>
          <p:cNvPr id="12" name="Text 10"/>
          <p:cNvSpPr/>
          <p:nvPr/>
        </p:nvSpPr>
        <p:spPr>
          <a:xfrm>
            <a:off x="736600" y="3479800"/>
            <a:ext cx="7264400" cy="1714500"/>
          </a:xfrm>
          <a:prstGeom prst="rect">
            <a:avLst/>
          </a:prstGeom>
          <a:noFill/>
          <a:ln/>
        </p:spPr>
        <p:txBody>
          <a:bodyPr wrap="square" lIns="0" tIns="0" rIns="0" bIns="0" rtlCol="0" anchor="t"/>
          <a:lstStyle/>
          <a:p>
            <a:pPr algn="l">
              <a:lnSpc>
                <a:spcPct val="160000"/>
              </a:lnSpc>
            </a:pPr>
            <a:r>
              <a:rPr lang="en-US" sz="1400" b="1" dirty="0">
                <a:solidFill>
                  <a:srgbClr val="2D2D2D"/>
                </a:solidFill>
                <a:latin typeface="Liter" pitchFamily="34" charset="0"/>
                <a:ea typeface="Liter" pitchFamily="34" charset="-122"/>
                <a:cs typeface="Liter" pitchFamily="34" charset="-120"/>
              </a:rPr>
              <a:t>Method Used</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 LOAD DATA INFILE for bulk loading</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 TSV/CSV import approach</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 Proper delimiter configuration</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 Header row ignored</a:t>
            </a:r>
            <a:endParaRPr lang="en-US" sz="1400" dirty="0"/>
          </a:p>
        </p:txBody>
      </p:sp>
      <p:sp>
        <p:nvSpPr>
          <p:cNvPr id="13" name="Shape 11"/>
          <p:cNvSpPr/>
          <p:nvPr/>
        </p:nvSpPr>
        <p:spPr>
          <a:xfrm>
            <a:off x="8255000" y="965200"/>
            <a:ext cx="7366000" cy="279400"/>
          </a:xfrm>
          <a:prstGeom prst="rect">
            <a:avLst/>
          </a:prstGeom>
          <a:solidFill>
            <a:srgbClr val="EBF0F7"/>
          </a:solidFill>
          <a:ln/>
        </p:spPr>
      </p:sp>
      <p:sp>
        <p:nvSpPr>
          <p:cNvPr id="14" name="Shape 12"/>
          <p:cNvSpPr/>
          <p:nvPr/>
        </p:nvSpPr>
        <p:spPr>
          <a:xfrm>
            <a:off x="8255000" y="965200"/>
            <a:ext cx="38100" cy="279400"/>
          </a:xfrm>
          <a:prstGeom prst="rect">
            <a:avLst/>
          </a:prstGeom>
          <a:solidFill>
            <a:srgbClr val="C9963B"/>
          </a:solidFill>
          <a:ln/>
        </p:spPr>
      </p:sp>
      <p:sp>
        <p:nvSpPr>
          <p:cNvPr id="15" name="Text 13"/>
          <p:cNvSpPr/>
          <p:nvPr/>
        </p:nvSpPr>
        <p:spPr>
          <a:xfrm>
            <a:off x="8356600" y="965200"/>
            <a:ext cx="7239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Why This Method?</a:t>
            </a:r>
            <a:endParaRPr lang="en-US" sz="1300" dirty="0"/>
          </a:p>
        </p:txBody>
      </p:sp>
      <p:sp>
        <p:nvSpPr>
          <p:cNvPr id="16" name="Shape 14"/>
          <p:cNvSpPr/>
          <p:nvPr/>
        </p:nvSpPr>
        <p:spPr>
          <a:xfrm>
            <a:off x="8318500" y="1320800"/>
            <a:ext cx="7239000" cy="1270000"/>
          </a:xfrm>
          <a:prstGeom prst="rect">
            <a:avLst/>
          </a:prstGeom>
          <a:solidFill>
            <a:srgbClr val="EBF0F7"/>
          </a:solidFill>
          <a:ln/>
        </p:spPr>
      </p:sp>
      <p:sp>
        <p:nvSpPr>
          <p:cNvPr id="17" name="Shape 15"/>
          <p:cNvSpPr/>
          <p:nvPr/>
        </p:nvSpPr>
        <p:spPr>
          <a:xfrm>
            <a:off x="8318500" y="1320800"/>
            <a:ext cx="7239000" cy="38100"/>
          </a:xfrm>
          <a:prstGeom prst="rect">
            <a:avLst/>
          </a:prstGeom>
          <a:solidFill>
            <a:srgbClr val="1B3A6B"/>
          </a:solidFill>
          <a:ln/>
        </p:spPr>
      </p:sp>
      <p:sp>
        <p:nvSpPr>
          <p:cNvPr id="18" name="Text 16"/>
          <p:cNvSpPr/>
          <p:nvPr/>
        </p:nvSpPr>
        <p:spPr>
          <a:xfrm>
            <a:off x="8483600" y="1447800"/>
            <a:ext cx="6908800" cy="279400"/>
          </a:xfrm>
          <a:prstGeom prst="rect">
            <a:avLst/>
          </a:prstGeom>
          <a:noFill/>
          <a:ln/>
        </p:spPr>
        <p:txBody>
          <a:bodyPr wrap="none" lIns="0" tIns="0" rIns="0" bIns="0" rtlCol="0" anchor="ctr"/>
          <a:lstStyle/>
          <a:p>
            <a:pPr algn="l">
              <a:lnSpc>
                <a:spcPct val="120000"/>
              </a:lnSpc>
            </a:pPr>
            <a:r>
              <a:rPr lang="en-US" sz="1500" b="1" dirty="0">
                <a:solidFill>
                  <a:srgbClr val="1B3A6B"/>
                </a:solidFill>
                <a:latin typeface="Sorts Mill Goudy" pitchFamily="34" charset="0"/>
                <a:ea typeface="Sorts Mill Goudy" pitchFamily="34" charset="-122"/>
                <a:cs typeface="Sorts Mill Goudy" pitchFamily="34" charset="-120"/>
              </a:rPr>
              <a:t>Faster Than Manual Import</a:t>
            </a:r>
            <a:endParaRPr lang="en-US" sz="1500" dirty="0"/>
          </a:p>
        </p:txBody>
      </p:sp>
      <p:sp>
        <p:nvSpPr>
          <p:cNvPr id="19" name="Text 17"/>
          <p:cNvSpPr/>
          <p:nvPr/>
        </p:nvSpPr>
        <p:spPr>
          <a:xfrm>
            <a:off x="8483600" y="1778000"/>
            <a:ext cx="6908800" cy="7112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Bulk loading operates at the storage engine level, bypassing SQL parsing overhead for significantly faster ingestion.</a:t>
            </a:r>
            <a:endParaRPr lang="en-US" sz="1300" dirty="0"/>
          </a:p>
        </p:txBody>
      </p:sp>
      <p:sp>
        <p:nvSpPr>
          <p:cNvPr id="20" name="Shape 18"/>
          <p:cNvSpPr/>
          <p:nvPr/>
        </p:nvSpPr>
        <p:spPr>
          <a:xfrm>
            <a:off x="8318500" y="2717800"/>
            <a:ext cx="7239000" cy="1206500"/>
          </a:xfrm>
          <a:prstGeom prst="rect">
            <a:avLst/>
          </a:prstGeom>
          <a:solidFill>
            <a:srgbClr val="EBF0F7"/>
          </a:solidFill>
          <a:ln/>
        </p:spPr>
      </p:sp>
      <p:sp>
        <p:nvSpPr>
          <p:cNvPr id="21" name="Shape 19"/>
          <p:cNvSpPr/>
          <p:nvPr/>
        </p:nvSpPr>
        <p:spPr>
          <a:xfrm>
            <a:off x="8318500" y="2590800"/>
            <a:ext cx="7239000" cy="38100"/>
          </a:xfrm>
          <a:prstGeom prst="rect">
            <a:avLst/>
          </a:prstGeom>
          <a:solidFill>
            <a:srgbClr val="C9963B"/>
          </a:solidFill>
          <a:ln/>
        </p:spPr>
      </p:sp>
      <p:sp>
        <p:nvSpPr>
          <p:cNvPr id="22" name="Text 20"/>
          <p:cNvSpPr/>
          <p:nvPr/>
        </p:nvSpPr>
        <p:spPr>
          <a:xfrm>
            <a:off x="8483600" y="2717800"/>
            <a:ext cx="6908800" cy="279400"/>
          </a:xfrm>
          <a:prstGeom prst="rect">
            <a:avLst/>
          </a:prstGeom>
          <a:noFill/>
          <a:ln/>
        </p:spPr>
        <p:txBody>
          <a:bodyPr wrap="none" lIns="0" tIns="0" rIns="0" bIns="0" rtlCol="0" anchor="ctr"/>
          <a:lstStyle/>
          <a:p>
            <a:pPr algn="l">
              <a:lnSpc>
                <a:spcPct val="120000"/>
              </a:lnSpc>
            </a:pPr>
            <a:r>
              <a:rPr lang="en-US" sz="1500" b="1" dirty="0">
                <a:solidFill>
                  <a:srgbClr val="C9963B"/>
                </a:solidFill>
                <a:latin typeface="Sorts Mill Goudy" pitchFamily="34" charset="0"/>
                <a:ea typeface="Sorts Mill Goudy" pitchFamily="34" charset="-122"/>
                <a:cs typeface="Sorts Mill Goudy" pitchFamily="34" charset="-120"/>
              </a:rPr>
              <a:t>Suitable for Huge Datasets</a:t>
            </a:r>
            <a:endParaRPr lang="en-US" sz="1500" dirty="0"/>
          </a:p>
        </p:txBody>
      </p:sp>
      <p:sp>
        <p:nvSpPr>
          <p:cNvPr id="23" name="Text 21"/>
          <p:cNvSpPr/>
          <p:nvPr/>
        </p:nvSpPr>
        <p:spPr>
          <a:xfrm>
            <a:off x="8483600" y="3175000"/>
            <a:ext cx="6908800" cy="7112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Handles millions of rows efficiently without memory constraints that affect row-by-row insertion methods.</a:t>
            </a:r>
            <a:endParaRPr lang="en-US" sz="1300" dirty="0"/>
          </a:p>
        </p:txBody>
      </p:sp>
      <p:sp>
        <p:nvSpPr>
          <p:cNvPr id="24" name="Shape 22"/>
          <p:cNvSpPr/>
          <p:nvPr/>
        </p:nvSpPr>
        <p:spPr>
          <a:xfrm>
            <a:off x="8318500" y="4051300"/>
            <a:ext cx="7239000" cy="1270000"/>
          </a:xfrm>
          <a:prstGeom prst="rect">
            <a:avLst/>
          </a:prstGeom>
          <a:solidFill>
            <a:srgbClr val="EBF0F7"/>
          </a:solidFill>
          <a:ln/>
        </p:spPr>
      </p:sp>
      <p:sp>
        <p:nvSpPr>
          <p:cNvPr id="25" name="Shape 23"/>
          <p:cNvSpPr/>
          <p:nvPr/>
        </p:nvSpPr>
        <p:spPr>
          <a:xfrm>
            <a:off x="8318500" y="4051300"/>
            <a:ext cx="7239000" cy="38100"/>
          </a:xfrm>
          <a:prstGeom prst="rect">
            <a:avLst/>
          </a:prstGeom>
          <a:solidFill>
            <a:srgbClr val="1B3A6B"/>
          </a:solidFill>
          <a:ln/>
        </p:spPr>
      </p:sp>
      <p:sp>
        <p:nvSpPr>
          <p:cNvPr id="26" name="Text 24"/>
          <p:cNvSpPr/>
          <p:nvPr/>
        </p:nvSpPr>
        <p:spPr>
          <a:xfrm>
            <a:off x="8483600" y="4165600"/>
            <a:ext cx="6908800" cy="279400"/>
          </a:xfrm>
          <a:prstGeom prst="rect">
            <a:avLst/>
          </a:prstGeom>
          <a:noFill/>
          <a:ln/>
        </p:spPr>
        <p:txBody>
          <a:bodyPr wrap="none" lIns="0" tIns="0" rIns="0" bIns="0" rtlCol="0" anchor="ctr"/>
          <a:lstStyle/>
          <a:p>
            <a:pPr algn="l">
              <a:lnSpc>
                <a:spcPct val="120000"/>
              </a:lnSpc>
            </a:pPr>
            <a:r>
              <a:rPr lang="en-US" sz="1500" b="1" dirty="0">
                <a:solidFill>
                  <a:srgbClr val="1B3A6B"/>
                </a:solidFill>
                <a:latin typeface="Sorts Mill Goudy" pitchFamily="34" charset="0"/>
                <a:ea typeface="Sorts Mill Goudy" pitchFamily="34" charset="-122"/>
                <a:cs typeface="Sorts Mill Goudy" pitchFamily="34" charset="-120"/>
              </a:rPr>
              <a:t>Efficient Bulk Loading</a:t>
            </a:r>
            <a:endParaRPr lang="en-US" sz="1500" dirty="0"/>
          </a:p>
        </p:txBody>
      </p:sp>
      <p:sp>
        <p:nvSpPr>
          <p:cNvPr id="27" name="Text 25"/>
          <p:cNvSpPr/>
          <p:nvPr/>
        </p:nvSpPr>
        <p:spPr>
          <a:xfrm>
            <a:off x="8483600" y="4521200"/>
            <a:ext cx="6908800" cy="7112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Configurable field terminators, line endings, and optional enclosure handling for flexible data format support.</a:t>
            </a:r>
            <a:endParaRPr lang="en-US" sz="1300" dirty="0"/>
          </a:p>
        </p:txBody>
      </p:sp>
      <p:sp>
        <p:nvSpPr>
          <p:cNvPr id="28" name="Shape 26"/>
          <p:cNvSpPr/>
          <p:nvPr/>
        </p:nvSpPr>
        <p:spPr>
          <a:xfrm>
            <a:off x="635000" y="8331200"/>
            <a:ext cx="14986000" cy="12700"/>
          </a:xfrm>
          <a:prstGeom prst="rect">
            <a:avLst/>
          </a:prstGeom>
          <a:solidFill>
            <a:srgbClr val="D0D8E4"/>
          </a:solidFill>
          <a:ln/>
        </p:spPr>
      </p:sp>
      <p:sp>
        <p:nvSpPr>
          <p:cNvPr id="29" name="Text 27"/>
          <p:cNvSpPr/>
          <p:nvPr/>
        </p:nvSpPr>
        <p:spPr>
          <a:xfrm>
            <a:off x="15240000" y="8432800"/>
            <a:ext cx="762000" cy="279400"/>
          </a:xfrm>
          <a:prstGeom prst="rect">
            <a:avLst/>
          </a:prstGeom>
          <a:noFill/>
          <a:ln/>
        </p:spPr>
        <p:txBody>
          <a:bodyPr wrap="none" lIns="0" tIns="0" rIns="0" bIns="0" rtlCol="0" anchor="ctr"/>
          <a:lstStyle/>
          <a:p>
            <a:pPr algn="r">
              <a:lnSpc>
                <a:spcPct val="120000"/>
              </a:lnSpc>
            </a:pPr>
            <a:r>
              <a:rPr lang="en-US" sz="1200" dirty="0">
                <a:solidFill>
                  <a:srgbClr val="8899AA"/>
                </a:solidFill>
                <a:latin typeface="MiSans" pitchFamily="34" charset="0"/>
                <a:ea typeface="MiSans" pitchFamily="34" charset="-122"/>
                <a:cs typeface="MiSans" pitchFamily="34" charset="-120"/>
              </a:rPr>
              <a:t>08</a:t>
            </a:r>
            <a:endParaRPr lang="en-US" sz="1200" dirty="0"/>
          </a:p>
        </p:txBody>
      </p:sp>
      <p:sp>
        <p:nvSpPr>
          <p:cNvPr id="31" name="TextBox 30">
            <a:extLst>
              <a:ext uri="{FF2B5EF4-FFF2-40B4-BE49-F238E27FC236}">
                <a16:creationId xmlns:a16="http://schemas.microsoft.com/office/drawing/2014/main" id="{CE6345BC-51DD-B4FD-9825-FB445D17F5F6}"/>
              </a:ext>
            </a:extLst>
          </p:cNvPr>
          <p:cNvSpPr txBox="1"/>
          <p:nvPr/>
        </p:nvSpPr>
        <p:spPr>
          <a:xfrm>
            <a:off x="822411" y="5402305"/>
            <a:ext cx="4231503" cy="1754326"/>
          </a:xfrm>
          <a:prstGeom prst="rect">
            <a:avLst/>
          </a:prstGeom>
          <a:noFill/>
        </p:spPr>
        <p:txBody>
          <a:bodyPr wrap="square">
            <a:spAutoFit/>
          </a:bodyPr>
          <a:lstStyle/>
          <a:p>
            <a:pPr>
              <a:buNone/>
            </a:pPr>
            <a:r>
              <a:rPr lang="en-IN" dirty="0"/>
              <a:t>LOAD DATA INFILE 'dataset.csv'</a:t>
            </a:r>
          </a:p>
          <a:p>
            <a:pPr>
              <a:buNone/>
            </a:pPr>
            <a:r>
              <a:rPr lang="en-IN" dirty="0"/>
              <a:t>INTO TABLE retail_2009_2010</a:t>
            </a:r>
          </a:p>
          <a:p>
            <a:pPr>
              <a:buNone/>
            </a:pPr>
            <a:r>
              <a:rPr lang="en-IN" dirty="0"/>
              <a:t>FIELDS TERMINATED BY ','</a:t>
            </a:r>
          </a:p>
          <a:p>
            <a:pPr>
              <a:buNone/>
            </a:pPr>
            <a:r>
              <a:rPr lang="en-IN" dirty="0"/>
              <a:t>OPTIONALLY ENCLOSED BY '"'</a:t>
            </a:r>
          </a:p>
          <a:p>
            <a:pPr>
              <a:buNone/>
            </a:pPr>
            <a:r>
              <a:rPr lang="en-IN" dirty="0"/>
              <a:t>LINES TERMINATED BY '\r\n'</a:t>
            </a:r>
          </a:p>
          <a:p>
            <a:pPr>
              <a:buNone/>
            </a:pPr>
            <a:r>
              <a:rPr lang="en-IN" dirty="0"/>
              <a:t>IGNORE 1 ROWS;</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1B3A6B"/>
          </a:solidFill>
          <a:ln/>
        </p:spPr>
      </p:sp>
      <p:sp>
        <p:nvSpPr>
          <p:cNvPr id="3" name="Shape 1"/>
          <p:cNvSpPr/>
          <p:nvPr/>
        </p:nvSpPr>
        <p:spPr>
          <a:xfrm>
            <a:off x="635000" y="127000"/>
            <a:ext cx="50800" cy="685800"/>
          </a:xfrm>
          <a:prstGeom prst="rect">
            <a:avLst/>
          </a:prstGeom>
          <a:solidFill>
            <a:srgbClr val="C9963B"/>
          </a:solidFill>
          <a:ln/>
        </p:spPr>
      </p:sp>
      <p:sp>
        <p:nvSpPr>
          <p:cNvPr id="4" name="Text 2"/>
          <p:cNvSpPr/>
          <p:nvPr/>
        </p:nvSpPr>
        <p:spPr>
          <a:xfrm>
            <a:off x="787400" y="152400"/>
            <a:ext cx="14605000" cy="635000"/>
          </a:xfrm>
          <a:prstGeom prst="rect">
            <a:avLst/>
          </a:prstGeom>
          <a:noFill/>
          <a:ln/>
        </p:spPr>
        <p:txBody>
          <a:bodyPr wrap="square" lIns="0" tIns="0" rIns="0" bIns="0" rtlCol="0" anchor="ctr"/>
          <a:lstStyle/>
          <a:p>
            <a:pPr algn="l">
              <a:lnSpc>
                <a:spcPct val="120000"/>
              </a:lnSpc>
            </a:pPr>
            <a:r>
              <a:rPr lang="en-US" sz="2200" b="1" dirty="0">
                <a:solidFill>
                  <a:srgbClr val="0F2647"/>
                </a:solidFill>
                <a:latin typeface="Sorts Mill Goudy" pitchFamily="34" charset="0"/>
                <a:ea typeface="Sorts Mill Goudy" pitchFamily="34" charset="-122"/>
                <a:cs typeface="Sorts Mill Goudy" pitchFamily="34" charset="-120"/>
              </a:rPr>
              <a:t>Strategic solutions resolved all import challenges, enabling stable data transformation and dashboard loading</a:t>
            </a:r>
            <a:endParaRPr lang="en-US" sz="2200" dirty="0"/>
          </a:p>
        </p:txBody>
      </p:sp>
      <p:sp>
        <p:nvSpPr>
          <p:cNvPr id="5" name="Shape 3"/>
          <p:cNvSpPr/>
          <p:nvPr/>
        </p:nvSpPr>
        <p:spPr>
          <a:xfrm>
            <a:off x="635000" y="863600"/>
            <a:ext cx="14986000" cy="12700"/>
          </a:xfrm>
          <a:prstGeom prst="rect">
            <a:avLst/>
          </a:prstGeom>
          <a:solidFill>
            <a:srgbClr val="D0D8E4"/>
          </a:solidFill>
          <a:ln/>
        </p:spPr>
      </p:sp>
      <p:sp>
        <p:nvSpPr>
          <p:cNvPr id="6" name="Shape 4"/>
          <p:cNvSpPr/>
          <p:nvPr/>
        </p:nvSpPr>
        <p:spPr>
          <a:xfrm>
            <a:off x="635000" y="965200"/>
            <a:ext cx="7493000" cy="279400"/>
          </a:xfrm>
          <a:prstGeom prst="rect">
            <a:avLst/>
          </a:prstGeom>
          <a:solidFill>
            <a:srgbClr val="EBF0F7"/>
          </a:solidFill>
          <a:ln/>
        </p:spPr>
      </p:sp>
      <p:sp>
        <p:nvSpPr>
          <p:cNvPr id="7" name="Shape 5"/>
          <p:cNvSpPr/>
          <p:nvPr/>
        </p:nvSpPr>
        <p:spPr>
          <a:xfrm>
            <a:off x="635000" y="965200"/>
            <a:ext cx="38100" cy="279400"/>
          </a:xfrm>
          <a:prstGeom prst="rect">
            <a:avLst/>
          </a:prstGeom>
          <a:solidFill>
            <a:srgbClr val="C9963B"/>
          </a:solidFill>
          <a:ln/>
        </p:spPr>
      </p:sp>
      <p:sp>
        <p:nvSpPr>
          <p:cNvPr id="8" name="Text 6"/>
          <p:cNvSpPr/>
          <p:nvPr/>
        </p:nvSpPr>
        <p:spPr>
          <a:xfrm>
            <a:off x="736600" y="965200"/>
            <a:ext cx="7366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Solutions Applied</a:t>
            </a:r>
            <a:endParaRPr lang="en-US" sz="1300" dirty="0"/>
          </a:p>
        </p:txBody>
      </p:sp>
      <p:sp>
        <p:nvSpPr>
          <p:cNvPr id="9" name="Text 7"/>
          <p:cNvSpPr/>
          <p:nvPr/>
        </p:nvSpPr>
        <p:spPr>
          <a:xfrm>
            <a:off x="736600" y="1320800"/>
            <a:ext cx="7264400" cy="5080000"/>
          </a:xfrm>
          <a:prstGeom prst="rect">
            <a:avLst/>
          </a:prstGeom>
          <a:noFill/>
          <a:ln/>
        </p:spPr>
        <p:txBody>
          <a:bodyPr wrap="square" lIns="0" tIns="0" rIns="0" bIns="0" rtlCol="0" anchor="t"/>
          <a:lstStyle/>
          <a:p>
            <a:pPr algn="l">
              <a:lnSpc>
                <a:spcPct val="170000"/>
              </a:lnSpc>
            </a:pPr>
            <a:r>
              <a:rPr lang="en-US" sz="1400" b="1" dirty="0">
                <a:solidFill>
                  <a:srgbClr val="2D2D2D"/>
                </a:solidFill>
                <a:latin typeface="Liter" pitchFamily="34" charset="0"/>
                <a:ea typeface="Liter" pitchFamily="34" charset="-122"/>
                <a:cs typeface="Liter" pitchFamily="34" charset="-120"/>
              </a:rPr>
              <a:t>1. Encoding Resolution</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 Used utf8mb4 encoding for full Unicode character support</a:t>
            </a:r>
            <a:endParaRPr lang="en-US" sz="1400" dirty="0"/>
          </a:p>
          <a:p>
            <a:pPr algn="l">
              <a:lnSpc>
                <a:spcPct val="170000"/>
              </a:lnSpc>
              <a:spcBef>
                <a:spcPts val="800"/>
              </a:spcBef>
            </a:pPr>
            <a:r>
              <a:rPr lang="en-US" sz="1400" b="1" dirty="0">
                <a:solidFill>
                  <a:srgbClr val="2D2D2D"/>
                </a:solidFill>
                <a:latin typeface="Liter" pitchFamily="34" charset="0"/>
                <a:ea typeface="Liter" pitchFamily="34" charset="-122"/>
                <a:cs typeface="Liter" pitchFamily="34" charset="-120"/>
              </a:rPr>
              <a:t>2. Delimiter Strategy</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 Used TSV export method to avoid comma-related parsing issues</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 Applied proper delimiters for stable data transfer</a:t>
            </a:r>
            <a:endParaRPr lang="en-US" sz="1400" dirty="0"/>
          </a:p>
          <a:p>
            <a:pPr algn="l">
              <a:lnSpc>
                <a:spcPct val="170000"/>
              </a:lnSpc>
              <a:spcBef>
                <a:spcPts val="800"/>
              </a:spcBef>
            </a:pPr>
            <a:r>
              <a:rPr lang="en-US" sz="1400" b="1" dirty="0">
                <a:solidFill>
                  <a:srgbClr val="2D2D2D"/>
                </a:solidFill>
                <a:latin typeface="Liter" pitchFamily="34" charset="0"/>
                <a:ea typeface="Liter" pitchFamily="34" charset="-122"/>
                <a:cs typeface="Liter" pitchFamily="34" charset="-120"/>
              </a:rPr>
              <a:t>3. Data Quality Fixes</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 Removed invalid rows using SQL DELETE statements</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 Converted dates using STR_TO_DATE function</a:t>
            </a:r>
            <a:endParaRPr lang="en-US" sz="1400" dirty="0"/>
          </a:p>
          <a:p>
            <a:pPr algn="l">
              <a:lnSpc>
                <a:spcPct val="170000"/>
              </a:lnSpc>
              <a:spcBef>
                <a:spcPts val="800"/>
              </a:spcBef>
            </a:pPr>
            <a:r>
              <a:rPr lang="en-US" sz="1400" b="1" dirty="0">
                <a:solidFill>
                  <a:srgbClr val="2D2D2D"/>
                </a:solidFill>
                <a:latin typeface="Liter" pitchFamily="34" charset="0"/>
                <a:ea typeface="Liter" pitchFamily="34" charset="-122"/>
                <a:cs typeface="Liter" pitchFamily="34" charset="-120"/>
              </a:rPr>
              <a:t>4. Power BI Configuration</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 Assigned Power BI datatypes manually for correct interpretation</a:t>
            </a:r>
            <a:endParaRPr lang="en-US" sz="1400" dirty="0"/>
          </a:p>
        </p:txBody>
      </p:sp>
      <p:sp>
        <p:nvSpPr>
          <p:cNvPr id="10" name="Shape 8"/>
          <p:cNvSpPr/>
          <p:nvPr/>
        </p:nvSpPr>
        <p:spPr>
          <a:xfrm>
            <a:off x="8255000" y="965200"/>
            <a:ext cx="7366000" cy="279400"/>
          </a:xfrm>
          <a:prstGeom prst="rect">
            <a:avLst/>
          </a:prstGeom>
          <a:solidFill>
            <a:srgbClr val="EBF0F7"/>
          </a:solidFill>
          <a:ln/>
        </p:spPr>
      </p:sp>
      <p:sp>
        <p:nvSpPr>
          <p:cNvPr id="11" name="Shape 9"/>
          <p:cNvSpPr/>
          <p:nvPr/>
        </p:nvSpPr>
        <p:spPr>
          <a:xfrm>
            <a:off x="8255000" y="965200"/>
            <a:ext cx="38100" cy="279400"/>
          </a:xfrm>
          <a:prstGeom prst="rect">
            <a:avLst/>
          </a:prstGeom>
          <a:solidFill>
            <a:srgbClr val="C9963B"/>
          </a:solidFill>
          <a:ln/>
        </p:spPr>
      </p:sp>
      <p:sp>
        <p:nvSpPr>
          <p:cNvPr id="12" name="Text 10"/>
          <p:cNvSpPr/>
          <p:nvPr/>
        </p:nvSpPr>
        <p:spPr>
          <a:xfrm>
            <a:off x="8356600" y="965200"/>
            <a:ext cx="7239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Results Achieved</a:t>
            </a:r>
            <a:endParaRPr lang="en-US" sz="1300" dirty="0"/>
          </a:p>
        </p:txBody>
      </p:sp>
      <p:sp>
        <p:nvSpPr>
          <p:cNvPr id="13" name="Shape 11"/>
          <p:cNvSpPr/>
          <p:nvPr/>
        </p:nvSpPr>
        <p:spPr>
          <a:xfrm>
            <a:off x="8318500" y="1320800"/>
            <a:ext cx="7239000" cy="1270000"/>
          </a:xfrm>
          <a:prstGeom prst="rect">
            <a:avLst/>
          </a:prstGeom>
          <a:solidFill>
            <a:srgbClr val="EBF0F7"/>
          </a:solidFill>
          <a:ln/>
        </p:spPr>
      </p:sp>
      <p:sp>
        <p:nvSpPr>
          <p:cNvPr id="14" name="Shape 12"/>
          <p:cNvSpPr/>
          <p:nvPr/>
        </p:nvSpPr>
        <p:spPr>
          <a:xfrm>
            <a:off x="8318500" y="1320800"/>
            <a:ext cx="7239000" cy="38100"/>
          </a:xfrm>
          <a:prstGeom prst="rect">
            <a:avLst/>
          </a:prstGeom>
          <a:solidFill>
            <a:srgbClr val="1B3A6B"/>
          </a:solidFill>
          <a:ln/>
        </p:spPr>
      </p:sp>
      <p:sp>
        <p:nvSpPr>
          <p:cNvPr id="15" name="Text 13"/>
          <p:cNvSpPr/>
          <p:nvPr/>
        </p:nvSpPr>
        <p:spPr>
          <a:xfrm>
            <a:off x="8483600" y="1447800"/>
            <a:ext cx="508000" cy="508000"/>
          </a:xfrm>
          <a:prstGeom prst="rect">
            <a:avLst/>
          </a:prstGeom>
          <a:noFill/>
          <a:ln/>
        </p:spPr>
        <p:txBody>
          <a:bodyPr wrap="none" lIns="0" tIns="0" rIns="0" bIns="0" rtlCol="0" anchor="ctr"/>
          <a:lstStyle/>
          <a:p>
            <a:pPr algn="ctr">
              <a:lnSpc>
                <a:spcPct val="120000"/>
              </a:lnSpc>
            </a:pPr>
            <a:r>
              <a:rPr lang="en-US" sz="2800" b="1" dirty="0">
                <a:solidFill>
                  <a:srgbClr val="1B3A6B"/>
                </a:solidFill>
                <a:latin typeface="Sorts Mill Goudy" pitchFamily="34" charset="0"/>
                <a:ea typeface="Sorts Mill Goudy" pitchFamily="34" charset="-122"/>
                <a:cs typeface="Sorts Mill Goudy" pitchFamily="34" charset="-120"/>
              </a:rPr>
              <a:t>✓</a:t>
            </a:r>
            <a:endParaRPr lang="en-US" sz="2800" dirty="0"/>
          </a:p>
        </p:txBody>
      </p:sp>
      <p:sp>
        <p:nvSpPr>
          <p:cNvPr id="16" name="Text 14"/>
          <p:cNvSpPr/>
          <p:nvPr/>
        </p:nvSpPr>
        <p:spPr>
          <a:xfrm>
            <a:off x="9067800" y="1447800"/>
            <a:ext cx="6299200" cy="304800"/>
          </a:xfrm>
          <a:prstGeom prst="rect">
            <a:avLst/>
          </a:prstGeom>
          <a:noFill/>
          <a:ln/>
        </p:spPr>
        <p:txBody>
          <a:bodyPr wrap="none" lIns="0" tIns="0" rIns="0" bIns="0" rtlCol="0" anchor="ctr"/>
          <a:lstStyle/>
          <a:p>
            <a:pPr algn="l">
              <a:lnSpc>
                <a:spcPct val="120000"/>
              </a:lnSpc>
            </a:pPr>
            <a:r>
              <a:rPr lang="en-US" sz="1500" b="1" dirty="0">
                <a:solidFill>
                  <a:srgbClr val="1B3A6B"/>
                </a:solidFill>
                <a:latin typeface="Sorts Mill Goudy" pitchFamily="34" charset="0"/>
                <a:ea typeface="Sorts Mill Goudy" pitchFamily="34" charset="-122"/>
                <a:cs typeface="Sorts Mill Goudy" pitchFamily="34" charset="-120"/>
              </a:rPr>
              <a:t>Successful Data Import</a:t>
            </a:r>
            <a:endParaRPr lang="en-US" sz="1500" dirty="0"/>
          </a:p>
        </p:txBody>
      </p:sp>
      <p:sp>
        <p:nvSpPr>
          <p:cNvPr id="17" name="Text 15"/>
          <p:cNvSpPr/>
          <p:nvPr/>
        </p:nvSpPr>
        <p:spPr>
          <a:xfrm>
            <a:off x="9067800" y="1803400"/>
            <a:ext cx="6299200" cy="7112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All datasets successfully imported into MySQL without encoding errors or data loss.</a:t>
            </a:r>
            <a:endParaRPr lang="en-US" sz="1300" dirty="0"/>
          </a:p>
        </p:txBody>
      </p:sp>
      <p:sp>
        <p:nvSpPr>
          <p:cNvPr id="18" name="Shape 16"/>
          <p:cNvSpPr/>
          <p:nvPr/>
        </p:nvSpPr>
        <p:spPr>
          <a:xfrm>
            <a:off x="8318500" y="3035300"/>
            <a:ext cx="7239000" cy="1524000"/>
          </a:xfrm>
          <a:prstGeom prst="rect">
            <a:avLst/>
          </a:prstGeom>
          <a:solidFill>
            <a:srgbClr val="EBF0F7"/>
          </a:solidFill>
          <a:ln/>
        </p:spPr>
      </p:sp>
      <p:sp>
        <p:nvSpPr>
          <p:cNvPr id="19" name="Shape 17"/>
          <p:cNvSpPr/>
          <p:nvPr/>
        </p:nvSpPr>
        <p:spPr>
          <a:xfrm>
            <a:off x="8318500" y="3035300"/>
            <a:ext cx="7239000" cy="38100"/>
          </a:xfrm>
          <a:prstGeom prst="rect">
            <a:avLst/>
          </a:prstGeom>
          <a:solidFill>
            <a:srgbClr val="C9963B"/>
          </a:solidFill>
          <a:ln/>
        </p:spPr>
      </p:sp>
      <p:sp>
        <p:nvSpPr>
          <p:cNvPr id="20" name="Text 18"/>
          <p:cNvSpPr/>
          <p:nvPr/>
        </p:nvSpPr>
        <p:spPr>
          <a:xfrm>
            <a:off x="8483600" y="3162300"/>
            <a:ext cx="508000" cy="508000"/>
          </a:xfrm>
          <a:prstGeom prst="rect">
            <a:avLst/>
          </a:prstGeom>
          <a:noFill/>
          <a:ln/>
        </p:spPr>
        <p:txBody>
          <a:bodyPr wrap="none" lIns="0" tIns="0" rIns="0" bIns="0" rtlCol="0" anchor="ctr"/>
          <a:lstStyle/>
          <a:p>
            <a:pPr algn="ctr">
              <a:lnSpc>
                <a:spcPct val="120000"/>
              </a:lnSpc>
            </a:pPr>
            <a:r>
              <a:rPr lang="en-US" sz="2800" b="1" dirty="0">
                <a:solidFill>
                  <a:srgbClr val="C9963B"/>
                </a:solidFill>
                <a:latin typeface="Sorts Mill Goudy" pitchFamily="34" charset="0"/>
                <a:ea typeface="Sorts Mill Goudy" pitchFamily="34" charset="-122"/>
                <a:cs typeface="Sorts Mill Goudy" pitchFamily="34" charset="-120"/>
              </a:rPr>
              <a:t>✓</a:t>
            </a:r>
            <a:endParaRPr lang="en-US" sz="2800" dirty="0"/>
          </a:p>
        </p:txBody>
      </p:sp>
      <p:sp>
        <p:nvSpPr>
          <p:cNvPr id="21" name="Text 19"/>
          <p:cNvSpPr/>
          <p:nvPr/>
        </p:nvSpPr>
        <p:spPr>
          <a:xfrm>
            <a:off x="9067800" y="3162300"/>
            <a:ext cx="6299200" cy="304800"/>
          </a:xfrm>
          <a:prstGeom prst="rect">
            <a:avLst/>
          </a:prstGeom>
          <a:noFill/>
          <a:ln/>
        </p:spPr>
        <p:txBody>
          <a:bodyPr wrap="none" lIns="0" tIns="0" rIns="0" bIns="0" rtlCol="0" anchor="ctr"/>
          <a:lstStyle/>
          <a:p>
            <a:pPr algn="l">
              <a:lnSpc>
                <a:spcPct val="120000"/>
              </a:lnSpc>
            </a:pPr>
            <a:r>
              <a:rPr lang="en-US" sz="1500" b="1" dirty="0">
                <a:solidFill>
                  <a:srgbClr val="C9963B"/>
                </a:solidFill>
                <a:latin typeface="Sorts Mill Goudy" pitchFamily="34" charset="0"/>
                <a:ea typeface="Sorts Mill Goudy" pitchFamily="34" charset="-122"/>
                <a:cs typeface="Sorts Mill Goudy" pitchFamily="34" charset="-120"/>
              </a:rPr>
              <a:t>Proper Data Transformation</a:t>
            </a:r>
            <a:endParaRPr lang="en-US" sz="1500" dirty="0"/>
          </a:p>
        </p:txBody>
      </p:sp>
      <p:sp>
        <p:nvSpPr>
          <p:cNvPr id="22" name="Text 20"/>
          <p:cNvSpPr/>
          <p:nvPr/>
        </p:nvSpPr>
        <p:spPr>
          <a:xfrm>
            <a:off x="9067800" y="3517900"/>
            <a:ext cx="6299200" cy="8890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Cleaning pipeline removed all invalid records and standardized formats for analysis.</a:t>
            </a:r>
            <a:endParaRPr lang="en-US" sz="1300" dirty="0"/>
          </a:p>
        </p:txBody>
      </p:sp>
      <p:sp>
        <p:nvSpPr>
          <p:cNvPr id="23" name="Shape 21"/>
          <p:cNvSpPr/>
          <p:nvPr/>
        </p:nvSpPr>
        <p:spPr>
          <a:xfrm>
            <a:off x="8318500" y="4749800"/>
            <a:ext cx="7239000" cy="1524000"/>
          </a:xfrm>
          <a:prstGeom prst="rect">
            <a:avLst/>
          </a:prstGeom>
          <a:solidFill>
            <a:srgbClr val="EBF0F7"/>
          </a:solidFill>
          <a:ln/>
        </p:spPr>
      </p:sp>
      <p:sp>
        <p:nvSpPr>
          <p:cNvPr id="24" name="Shape 22"/>
          <p:cNvSpPr/>
          <p:nvPr/>
        </p:nvSpPr>
        <p:spPr>
          <a:xfrm>
            <a:off x="8318500" y="4749800"/>
            <a:ext cx="7239000" cy="38100"/>
          </a:xfrm>
          <a:prstGeom prst="rect">
            <a:avLst/>
          </a:prstGeom>
          <a:solidFill>
            <a:srgbClr val="1B3A6B"/>
          </a:solidFill>
          <a:ln/>
        </p:spPr>
      </p:sp>
      <p:sp>
        <p:nvSpPr>
          <p:cNvPr id="25" name="Text 23"/>
          <p:cNvSpPr/>
          <p:nvPr/>
        </p:nvSpPr>
        <p:spPr>
          <a:xfrm>
            <a:off x="8483600" y="4876800"/>
            <a:ext cx="508000" cy="508000"/>
          </a:xfrm>
          <a:prstGeom prst="rect">
            <a:avLst/>
          </a:prstGeom>
          <a:noFill/>
          <a:ln/>
        </p:spPr>
        <p:txBody>
          <a:bodyPr wrap="none" lIns="0" tIns="0" rIns="0" bIns="0" rtlCol="0" anchor="ctr"/>
          <a:lstStyle/>
          <a:p>
            <a:pPr algn="ctr">
              <a:lnSpc>
                <a:spcPct val="120000"/>
              </a:lnSpc>
            </a:pPr>
            <a:r>
              <a:rPr lang="en-US" sz="2800" b="1" dirty="0">
                <a:solidFill>
                  <a:srgbClr val="1B3A6B"/>
                </a:solidFill>
                <a:latin typeface="Sorts Mill Goudy" pitchFamily="34" charset="0"/>
                <a:ea typeface="Sorts Mill Goudy" pitchFamily="34" charset="-122"/>
                <a:cs typeface="Sorts Mill Goudy" pitchFamily="34" charset="-120"/>
              </a:rPr>
              <a:t>✓</a:t>
            </a:r>
            <a:endParaRPr lang="en-US" sz="2800" dirty="0"/>
          </a:p>
        </p:txBody>
      </p:sp>
      <p:sp>
        <p:nvSpPr>
          <p:cNvPr id="26" name="Text 24"/>
          <p:cNvSpPr/>
          <p:nvPr/>
        </p:nvSpPr>
        <p:spPr>
          <a:xfrm>
            <a:off x="9067800" y="4876800"/>
            <a:ext cx="6299200" cy="304800"/>
          </a:xfrm>
          <a:prstGeom prst="rect">
            <a:avLst/>
          </a:prstGeom>
          <a:noFill/>
          <a:ln/>
        </p:spPr>
        <p:txBody>
          <a:bodyPr wrap="none" lIns="0" tIns="0" rIns="0" bIns="0" rtlCol="0" anchor="ctr"/>
          <a:lstStyle/>
          <a:p>
            <a:pPr algn="l">
              <a:lnSpc>
                <a:spcPct val="120000"/>
              </a:lnSpc>
            </a:pPr>
            <a:r>
              <a:rPr lang="en-US" sz="1500" b="1" dirty="0">
                <a:solidFill>
                  <a:srgbClr val="1B3A6B"/>
                </a:solidFill>
                <a:latin typeface="Sorts Mill Goudy" pitchFamily="34" charset="0"/>
                <a:ea typeface="Sorts Mill Goudy" pitchFamily="34" charset="-122"/>
                <a:cs typeface="Sorts Mill Goudy" pitchFamily="34" charset="-120"/>
              </a:rPr>
              <a:t>Stable Dashboard Loading</a:t>
            </a:r>
            <a:endParaRPr lang="en-US" sz="1500" dirty="0"/>
          </a:p>
        </p:txBody>
      </p:sp>
      <p:sp>
        <p:nvSpPr>
          <p:cNvPr id="27" name="Text 25"/>
          <p:cNvSpPr/>
          <p:nvPr/>
        </p:nvSpPr>
        <p:spPr>
          <a:xfrm>
            <a:off x="9067800" y="5232400"/>
            <a:ext cx="6299200" cy="8890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Power BI dashboard loads reliably with correct datatypes and no parsing errors.</a:t>
            </a:r>
            <a:endParaRPr lang="en-US" sz="1300" dirty="0"/>
          </a:p>
        </p:txBody>
      </p:sp>
      <p:sp>
        <p:nvSpPr>
          <p:cNvPr id="28" name="Shape 26"/>
          <p:cNvSpPr/>
          <p:nvPr/>
        </p:nvSpPr>
        <p:spPr>
          <a:xfrm>
            <a:off x="635000" y="8331200"/>
            <a:ext cx="14986000" cy="12700"/>
          </a:xfrm>
          <a:prstGeom prst="rect">
            <a:avLst/>
          </a:prstGeom>
          <a:solidFill>
            <a:srgbClr val="D0D8E4"/>
          </a:solidFill>
          <a:ln/>
        </p:spPr>
      </p:sp>
      <p:sp>
        <p:nvSpPr>
          <p:cNvPr id="29" name="Text 27"/>
          <p:cNvSpPr/>
          <p:nvPr/>
        </p:nvSpPr>
        <p:spPr>
          <a:xfrm>
            <a:off x="15240000" y="8432800"/>
            <a:ext cx="762000" cy="279400"/>
          </a:xfrm>
          <a:prstGeom prst="rect">
            <a:avLst/>
          </a:prstGeom>
          <a:noFill/>
          <a:ln/>
        </p:spPr>
        <p:txBody>
          <a:bodyPr wrap="none" lIns="0" tIns="0" rIns="0" bIns="0" rtlCol="0" anchor="ctr"/>
          <a:lstStyle/>
          <a:p>
            <a:pPr algn="r">
              <a:lnSpc>
                <a:spcPct val="120000"/>
              </a:lnSpc>
            </a:pPr>
            <a:r>
              <a:rPr lang="en-US" sz="1200" dirty="0">
                <a:solidFill>
                  <a:srgbClr val="8899AA"/>
                </a:solidFill>
                <a:latin typeface="MiSans" pitchFamily="34" charset="0"/>
                <a:ea typeface="MiSans" pitchFamily="34" charset="-122"/>
                <a:cs typeface="MiSans" pitchFamily="34" charset="-120"/>
              </a:rPr>
              <a:t>10</a:t>
            </a:r>
            <a:endParaRPr lang="en-US" sz="12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1B3A6B"/>
          </a:solidFill>
          <a:ln/>
        </p:spPr>
      </p:sp>
      <p:sp>
        <p:nvSpPr>
          <p:cNvPr id="3" name="Shape 1"/>
          <p:cNvSpPr/>
          <p:nvPr/>
        </p:nvSpPr>
        <p:spPr>
          <a:xfrm>
            <a:off x="635000" y="127000"/>
            <a:ext cx="50800" cy="685800"/>
          </a:xfrm>
          <a:prstGeom prst="rect">
            <a:avLst/>
          </a:prstGeom>
          <a:solidFill>
            <a:srgbClr val="C9963B"/>
          </a:solidFill>
          <a:ln/>
        </p:spPr>
      </p:sp>
      <p:sp>
        <p:nvSpPr>
          <p:cNvPr id="4" name="Text 2"/>
          <p:cNvSpPr/>
          <p:nvPr/>
        </p:nvSpPr>
        <p:spPr>
          <a:xfrm>
            <a:off x="787400" y="152400"/>
            <a:ext cx="14605000" cy="635000"/>
          </a:xfrm>
          <a:prstGeom prst="rect">
            <a:avLst/>
          </a:prstGeom>
          <a:noFill/>
          <a:ln/>
        </p:spPr>
        <p:txBody>
          <a:bodyPr wrap="square" lIns="0" tIns="0" rIns="0" bIns="0" rtlCol="0" anchor="ctr"/>
          <a:lstStyle/>
          <a:p>
            <a:pPr algn="l">
              <a:lnSpc>
                <a:spcPct val="120000"/>
              </a:lnSpc>
            </a:pPr>
            <a:r>
              <a:rPr lang="en-US" sz="2200" b="1" dirty="0">
                <a:solidFill>
                  <a:srgbClr val="0F2647"/>
                </a:solidFill>
                <a:latin typeface="Sorts Mill Goudy" pitchFamily="34" charset="0"/>
                <a:ea typeface="Sorts Mill Goudy" pitchFamily="34" charset="-122"/>
                <a:cs typeface="Sorts Mill Goudy" pitchFamily="34" charset="-120"/>
              </a:rPr>
              <a:t>Systematic SQL-based cleaning removed null records, invalid prices, and negative quantities to ensure data quality</a:t>
            </a:r>
            <a:endParaRPr lang="en-US" sz="2200" dirty="0"/>
          </a:p>
        </p:txBody>
      </p:sp>
      <p:sp>
        <p:nvSpPr>
          <p:cNvPr id="5" name="Shape 3"/>
          <p:cNvSpPr/>
          <p:nvPr/>
        </p:nvSpPr>
        <p:spPr>
          <a:xfrm>
            <a:off x="635000" y="863600"/>
            <a:ext cx="14986000" cy="12700"/>
          </a:xfrm>
          <a:prstGeom prst="rect">
            <a:avLst/>
          </a:prstGeom>
          <a:solidFill>
            <a:srgbClr val="D0D8E4"/>
          </a:solidFill>
          <a:ln/>
        </p:spPr>
      </p:sp>
      <p:sp>
        <p:nvSpPr>
          <p:cNvPr id="6" name="Shape 4"/>
          <p:cNvSpPr/>
          <p:nvPr/>
        </p:nvSpPr>
        <p:spPr>
          <a:xfrm>
            <a:off x="635000" y="965200"/>
            <a:ext cx="7493000" cy="279400"/>
          </a:xfrm>
          <a:prstGeom prst="rect">
            <a:avLst/>
          </a:prstGeom>
          <a:solidFill>
            <a:srgbClr val="EBF0F7"/>
          </a:solidFill>
          <a:ln/>
        </p:spPr>
      </p:sp>
      <p:sp>
        <p:nvSpPr>
          <p:cNvPr id="7" name="Shape 5"/>
          <p:cNvSpPr/>
          <p:nvPr/>
        </p:nvSpPr>
        <p:spPr>
          <a:xfrm>
            <a:off x="635000" y="965200"/>
            <a:ext cx="38100" cy="279400"/>
          </a:xfrm>
          <a:prstGeom prst="rect">
            <a:avLst/>
          </a:prstGeom>
          <a:solidFill>
            <a:srgbClr val="C9963B"/>
          </a:solidFill>
          <a:ln/>
        </p:spPr>
      </p:sp>
      <p:sp>
        <p:nvSpPr>
          <p:cNvPr id="8" name="Text 6"/>
          <p:cNvSpPr/>
          <p:nvPr/>
        </p:nvSpPr>
        <p:spPr>
          <a:xfrm>
            <a:off x="736600" y="965200"/>
            <a:ext cx="7366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SQL Query — Data Cleaning</a:t>
            </a:r>
            <a:endParaRPr lang="en-US" sz="1300" dirty="0"/>
          </a:p>
        </p:txBody>
      </p:sp>
      <p:sp>
        <p:nvSpPr>
          <p:cNvPr id="9" name="Shape 7"/>
          <p:cNvSpPr/>
          <p:nvPr/>
        </p:nvSpPr>
        <p:spPr>
          <a:xfrm>
            <a:off x="635000" y="1295400"/>
            <a:ext cx="7493000" cy="1524000"/>
          </a:xfrm>
          <a:prstGeom prst="rect">
            <a:avLst/>
          </a:prstGeom>
          <a:solidFill>
            <a:srgbClr val="EBF0F7"/>
          </a:solidFill>
          <a:ln/>
        </p:spPr>
      </p:sp>
      <p:sp>
        <p:nvSpPr>
          <p:cNvPr id="10" name="Shape 8"/>
          <p:cNvSpPr/>
          <p:nvPr/>
        </p:nvSpPr>
        <p:spPr>
          <a:xfrm>
            <a:off x="635000" y="1295400"/>
            <a:ext cx="50800" cy="1524000"/>
          </a:xfrm>
          <a:prstGeom prst="rect">
            <a:avLst/>
          </a:prstGeom>
          <a:solidFill>
            <a:srgbClr val="C9963B"/>
          </a:solidFill>
          <a:ln/>
        </p:spPr>
      </p:sp>
      <p:sp>
        <p:nvSpPr>
          <p:cNvPr id="11" name="Text 9"/>
          <p:cNvSpPr/>
          <p:nvPr/>
        </p:nvSpPr>
        <p:spPr>
          <a:xfrm>
            <a:off x="812800" y="1371600"/>
            <a:ext cx="7162800" cy="1371600"/>
          </a:xfrm>
          <a:prstGeom prst="rect">
            <a:avLst/>
          </a:prstGeom>
          <a:noFill/>
          <a:ln/>
        </p:spPr>
        <p:txBody>
          <a:bodyPr wrap="square" lIns="0" tIns="0" rIns="0" bIns="0" rtlCol="0" anchor="t"/>
          <a:lstStyle/>
          <a:p>
            <a:pPr algn="l">
              <a:lnSpc>
                <a:spcPct val="150000"/>
              </a:lnSpc>
            </a:pPr>
            <a:r>
              <a:rPr lang="en-US" sz="1200" b="1" dirty="0">
                <a:solidFill>
                  <a:srgbClr val="0F2647"/>
                </a:solidFill>
                <a:latin typeface="Liter" pitchFamily="34" charset="0"/>
                <a:ea typeface="Liter" pitchFamily="34" charset="-122"/>
                <a:cs typeface="Liter" pitchFamily="34" charset="-120"/>
              </a:rPr>
              <a:t>DELETE FROM</a:t>
            </a:r>
            <a:r>
              <a:rPr lang="en-US" sz="1200" dirty="0">
                <a:solidFill>
                  <a:srgbClr val="0F2647"/>
                </a:solidFill>
                <a:latin typeface="Liter" pitchFamily="34" charset="0"/>
                <a:ea typeface="Liter" pitchFamily="34" charset="-122"/>
                <a:cs typeface="Liter" pitchFamily="34" charset="-120"/>
              </a:rPr>
              <a:t> retail_2009_2010</a:t>
            </a:r>
            <a:endParaRPr lang="en-US" sz="1200" dirty="0"/>
          </a:p>
          <a:p>
            <a:pPr algn="l">
              <a:lnSpc>
                <a:spcPct val="150000"/>
              </a:lnSpc>
            </a:pPr>
            <a:r>
              <a:rPr lang="en-US" sz="1200" b="1" dirty="0">
                <a:solidFill>
                  <a:srgbClr val="0F2647"/>
                </a:solidFill>
                <a:latin typeface="Liter" pitchFamily="34" charset="0"/>
                <a:ea typeface="Liter" pitchFamily="34" charset="-122"/>
                <a:cs typeface="Liter" pitchFamily="34" charset="-120"/>
              </a:rPr>
              <a:t>WHERE</a:t>
            </a:r>
            <a:r>
              <a:rPr lang="en-US" sz="1200" dirty="0">
                <a:solidFill>
                  <a:srgbClr val="0F2647"/>
                </a:solidFill>
                <a:latin typeface="Liter" pitchFamily="34" charset="0"/>
                <a:ea typeface="Liter" pitchFamily="34" charset="-122"/>
                <a:cs typeface="Liter" pitchFamily="34" charset="-120"/>
              </a:rPr>
              <a:t> Price &lt;= 0</a:t>
            </a:r>
            <a:endParaRPr lang="en-US" sz="1200" dirty="0"/>
          </a:p>
          <a:p>
            <a:pPr algn="l">
              <a:lnSpc>
                <a:spcPct val="150000"/>
              </a:lnSpc>
            </a:pPr>
            <a:r>
              <a:rPr lang="en-US" sz="1200" dirty="0">
                <a:solidFill>
                  <a:srgbClr val="0F2647"/>
                </a:solidFill>
                <a:latin typeface="Liter" pitchFamily="34" charset="0"/>
                <a:ea typeface="Liter" pitchFamily="34" charset="-122"/>
                <a:cs typeface="Liter" pitchFamily="34" charset="-120"/>
              </a:rPr>
              <a:t>  </a:t>
            </a:r>
            <a:r>
              <a:rPr lang="en-US" sz="1200" b="1" dirty="0">
                <a:solidFill>
                  <a:srgbClr val="0F2647"/>
                </a:solidFill>
                <a:latin typeface="Liter" pitchFamily="34" charset="0"/>
                <a:ea typeface="Liter" pitchFamily="34" charset="-122"/>
                <a:cs typeface="Liter" pitchFamily="34" charset="-120"/>
              </a:rPr>
              <a:t>OR</a:t>
            </a:r>
            <a:r>
              <a:rPr lang="en-US" sz="1200" dirty="0">
                <a:solidFill>
                  <a:srgbClr val="0F2647"/>
                </a:solidFill>
                <a:latin typeface="Liter" pitchFamily="34" charset="0"/>
                <a:ea typeface="Liter" pitchFamily="34" charset="-122"/>
                <a:cs typeface="Liter" pitchFamily="34" charset="-120"/>
              </a:rPr>
              <a:t> Quantity &lt;= 0;</a:t>
            </a:r>
            <a:endParaRPr lang="en-US" sz="1200" dirty="0"/>
          </a:p>
        </p:txBody>
      </p:sp>
      <p:sp>
        <p:nvSpPr>
          <p:cNvPr id="12" name="Text 10"/>
          <p:cNvSpPr/>
          <p:nvPr/>
        </p:nvSpPr>
        <p:spPr>
          <a:xfrm>
            <a:off x="736600" y="2971800"/>
            <a:ext cx="7264400" cy="3556000"/>
          </a:xfrm>
          <a:prstGeom prst="rect">
            <a:avLst/>
          </a:prstGeom>
          <a:noFill/>
          <a:ln/>
        </p:spPr>
        <p:txBody>
          <a:bodyPr wrap="square" lIns="0" tIns="0" rIns="0" bIns="0" rtlCol="0" anchor="t"/>
          <a:lstStyle/>
          <a:p>
            <a:pPr algn="l">
              <a:lnSpc>
                <a:spcPct val="160000"/>
              </a:lnSpc>
            </a:pPr>
            <a:r>
              <a:rPr lang="en-US" sz="1400" b="1" dirty="0">
                <a:solidFill>
                  <a:srgbClr val="2D2D2D"/>
                </a:solidFill>
                <a:latin typeface="Liter" pitchFamily="34" charset="0"/>
                <a:ea typeface="Liter" pitchFamily="34" charset="-122"/>
                <a:cs typeface="Liter" pitchFamily="34" charset="-120"/>
              </a:rPr>
              <a:t>Cleaning Steps Performed</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 Removed null customer ID records</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 Removed invalid price rows (Price &lt;= 0)</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 Removed negative quantities (Quantity &lt;= 0)</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 Standardized datetime format</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 Eliminated duplicate transactions</a:t>
            </a:r>
            <a:endParaRPr lang="en-US" sz="1400" dirty="0"/>
          </a:p>
        </p:txBody>
      </p:sp>
      <p:sp>
        <p:nvSpPr>
          <p:cNvPr id="13" name="Shape 11"/>
          <p:cNvSpPr/>
          <p:nvPr/>
        </p:nvSpPr>
        <p:spPr>
          <a:xfrm>
            <a:off x="8255000" y="965200"/>
            <a:ext cx="7366000" cy="279400"/>
          </a:xfrm>
          <a:prstGeom prst="rect">
            <a:avLst/>
          </a:prstGeom>
          <a:solidFill>
            <a:srgbClr val="EBF0F7"/>
          </a:solidFill>
          <a:ln/>
        </p:spPr>
      </p:sp>
      <p:sp>
        <p:nvSpPr>
          <p:cNvPr id="14" name="Shape 12"/>
          <p:cNvSpPr/>
          <p:nvPr/>
        </p:nvSpPr>
        <p:spPr>
          <a:xfrm>
            <a:off x="8255000" y="965200"/>
            <a:ext cx="38100" cy="279400"/>
          </a:xfrm>
          <a:prstGeom prst="rect">
            <a:avLst/>
          </a:prstGeom>
          <a:solidFill>
            <a:srgbClr val="C9963B"/>
          </a:solidFill>
          <a:ln/>
        </p:spPr>
      </p:sp>
      <p:sp>
        <p:nvSpPr>
          <p:cNvPr id="15" name="Text 13"/>
          <p:cNvSpPr/>
          <p:nvPr/>
        </p:nvSpPr>
        <p:spPr>
          <a:xfrm>
            <a:off x="8356600" y="965200"/>
            <a:ext cx="7239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Benefits of Data Cleaning</a:t>
            </a:r>
            <a:endParaRPr lang="en-US" sz="1300" dirty="0"/>
          </a:p>
        </p:txBody>
      </p:sp>
      <p:sp>
        <p:nvSpPr>
          <p:cNvPr id="16" name="Shape 14"/>
          <p:cNvSpPr/>
          <p:nvPr/>
        </p:nvSpPr>
        <p:spPr>
          <a:xfrm>
            <a:off x="8318500" y="1320800"/>
            <a:ext cx="7239000" cy="1524000"/>
          </a:xfrm>
          <a:prstGeom prst="rect">
            <a:avLst/>
          </a:prstGeom>
          <a:solidFill>
            <a:srgbClr val="EBF0F7"/>
          </a:solidFill>
          <a:ln/>
        </p:spPr>
      </p:sp>
      <p:sp>
        <p:nvSpPr>
          <p:cNvPr id="17" name="Shape 15"/>
          <p:cNvSpPr/>
          <p:nvPr/>
        </p:nvSpPr>
        <p:spPr>
          <a:xfrm>
            <a:off x="8318500" y="1320800"/>
            <a:ext cx="7239000" cy="38100"/>
          </a:xfrm>
          <a:prstGeom prst="rect">
            <a:avLst/>
          </a:prstGeom>
          <a:solidFill>
            <a:srgbClr val="1B3A6B"/>
          </a:solidFill>
          <a:ln/>
        </p:spPr>
      </p:sp>
      <p:sp>
        <p:nvSpPr>
          <p:cNvPr id="18" name="Text 16"/>
          <p:cNvSpPr/>
          <p:nvPr/>
        </p:nvSpPr>
        <p:spPr>
          <a:xfrm>
            <a:off x="8483600" y="1447800"/>
            <a:ext cx="6908800" cy="304800"/>
          </a:xfrm>
          <a:prstGeom prst="rect">
            <a:avLst/>
          </a:prstGeom>
          <a:noFill/>
          <a:ln/>
        </p:spPr>
        <p:txBody>
          <a:bodyPr wrap="none" lIns="0" tIns="0" rIns="0" bIns="0" rtlCol="0" anchor="ctr"/>
          <a:lstStyle/>
          <a:p>
            <a:pPr algn="l">
              <a:lnSpc>
                <a:spcPct val="120000"/>
              </a:lnSpc>
            </a:pPr>
            <a:r>
              <a:rPr lang="en-US" sz="1500" b="1" dirty="0">
                <a:solidFill>
                  <a:srgbClr val="1B3A6B"/>
                </a:solidFill>
                <a:latin typeface="Sorts Mill Goudy" pitchFamily="34" charset="0"/>
                <a:ea typeface="Sorts Mill Goudy" pitchFamily="34" charset="-122"/>
                <a:cs typeface="Sorts Mill Goudy" pitchFamily="34" charset="-120"/>
              </a:rPr>
              <a:t>Improved Data Quality</a:t>
            </a:r>
            <a:endParaRPr lang="en-US" sz="1500" dirty="0"/>
          </a:p>
        </p:txBody>
      </p:sp>
      <p:sp>
        <p:nvSpPr>
          <p:cNvPr id="19" name="Text 17"/>
          <p:cNvSpPr/>
          <p:nvPr/>
        </p:nvSpPr>
        <p:spPr>
          <a:xfrm>
            <a:off x="8483600" y="1803400"/>
            <a:ext cx="6908800" cy="8890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Elimination of invalid records ensures all analysis is based on accurate, reliable transaction data without outliers skewing results.</a:t>
            </a:r>
            <a:endParaRPr lang="en-US" sz="1300" dirty="0"/>
          </a:p>
        </p:txBody>
      </p:sp>
      <p:sp>
        <p:nvSpPr>
          <p:cNvPr id="20" name="Shape 18"/>
          <p:cNvSpPr/>
          <p:nvPr/>
        </p:nvSpPr>
        <p:spPr>
          <a:xfrm>
            <a:off x="8318500" y="2971800"/>
            <a:ext cx="7239000" cy="1524000"/>
          </a:xfrm>
          <a:prstGeom prst="rect">
            <a:avLst/>
          </a:prstGeom>
          <a:solidFill>
            <a:srgbClr val="EBF0F7"/>
          </a:solidFill>
          <a:ln/>
        </p:spPr>
      </p:sp>
      <p:sp>
        <p:nvSpPr>
          <p:cNvPr id="21" name="Shape 19"/>
          <p:cNvSpPr/>
          <p:nvPr/>
        </p:nvSpPr>
        <p:spPr>
          <a:xfrm>
            <a:off x="8318500" y="2971800"/>
            <a:ext cx="7239000" cy="38100"/>
          </a:xfrm>
          <a:prstGeom prst="rect">
            <a:avLst/>
          </a:prstGeom>
          <a:solidFill>
            <a:srgbClr val="C9963B"/>
          </a:solidFill>
          <a:ln/>
        </p:spPr>
      </p:sp>
      <p:sp>
        <p:nvSpPr>
          <p:cNvPr id="22" name="Text 20"/>
          <p:cNvSpPr/>
          <p:nvPr/>
        </p:nvSpPr>
        <p:spPr>
          <a:xfrm>
            <a:off x="8483600" y="3098800"/>
            <a:ext cx="6908800" cy="304800"/>
          </a:xfrm>
          <a:prstGeom prst="rect">
            <a:avLst/>
          </a:prstGeom>
          <a:noFill/>
          <a:ln/>
        </p:spPr>
        <p:txBody>
          <a:bodyPr wrap="none" lIns="0" tIns="0" rIns="0" bIns="0" rtlCol="0" anchor="ctr"/>
          <a:lstStyle/>
          <a:p>
            <a:pPr algn="l">
              <a:lnSpc>
                <a:spcPct val="120000"/>
              </a:lnSpc>
            </a:pPr>
            <a:r>
              <a:rPr lang="en-US" sz="1500" b="1" dirty="0">
                <a:solidFill>
                  <a:srgbClr val="C9963B"/>
                </a:solidFill>
                <a:latin typeface="Sorts Mill Goudy" pitchFamily="34" charset="0"/>
                <a:ea typeface="Sorts Mill Goudy" pitchFamily="34" charset="-122"/>
                <a:cs typeface="Sorts Mill Goudy" pitchFamily="34" charset="-120"/>
              </a:rPr>
              <a:t>Accurate Analysis Results</a:t>
            </a:r>
            <a:endParaRPr lang="en-US" sz="1500" dirty="0"/>
          </a:p>
        </p:txBody>
      </p:sp>
      <p:sp>
        <p:nvSpPr>
          <p:cNvPr id="23" name="Text 21"/>
          <p:cNvSpPr/>
          <p:nvPr/>
        </p:nvSpPr>
        <p:spPr>
          <a:xfrm>
            <a:off x="8483600" y="3454400"/>
            <a:ext cx="6908800" cy="8890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Clean data produces trustworthy KPIs, revenue calculations, and trend analysis that stakeholders can confidently act upon.</a:t>
            </a:r>
            <a:endParaRPr lang="en-US" sz="1300" dirty="0"/>
          </a:p>
        </p:txBody>
      </p:sp>
      <p:sp>
        <p:nvSpPr>
          <p:cNvPr id="24" name="Shape 22"/>
          <p:cNvSpPr/>
          <p:nvPr/>
        </p:nvSpPr>
        <p:spPr>
          <a:xfrm>
            <a:off x="8318500" y="4622800"/>
            <a:ext cx="7239000" cy="1524000"/>
          </a:xfrm>
          <a:prstGeom prst="rect">
            <a:avLst/>
          </a:prstGeom>
          <a:solidFill>
            <a:srgbClr val="EBF0F7"/>
          </a:solidFill>
          <a:ln/>
        </p:spPr>
      </p:sp>
      <p:sp>
        <p:nvSpPr>
          <p:cNvPr id="25" name="Shape 23"/>
          <p:cNvSpPr/>
          <p:nvPr/>
        </p:nvSpPr>
        <p:spPr>
          <a:xfrm>
            <a:off x="8318500" y="4622800"/>
            <a:ext cx="7239000" cy="38100"/>
          </a:xfrm>
          <a:prstGeom prst="rect">
            <a:avLst/>
          </a:prstGeom>
          <a:solidFill>
            <a:srgbClr val="1B3A6B"/>
          </a:solidFill>
          <a:ln/>
        </p:spPr>
      </p:sp>
      <p:sp>
        <p:nvSpPr>
          <p:cNvPr id="26" name="Text 24"/>
          <p:cNvSpPr/>
          <p:nvPr/>
        </p:nvSpPr>
        <p:spPr>
          <a:xfrm>
            <a:off x="8483600" y="4749800"/>
            <a:ext cx="6908800" cy="304800"/>
          </a:xfrm>
          <a:prstGeom prst="rect">
            <a:avLst/>
          </a:prstGeom>
          <a:noFill/>
          <a:ln/>
        </p:spPr>
        <p:txBody>
          <a:bodyPr wrap="none" lIns="0" tIns="0" rIns="0" bIns="0" rtlCol="0" anchor="ctr"/>
          <a:lstStyle/>
          <a:p>
            <a:pPr algn="l">
              <a:lnSpc>
                <a:spcPct val="120000"/>
              </a:lnSpc>
            </a:pPr>
            <a:r>
              <a:rPr lang="en-US" sz="1500" b="1" dirty="0">
                <a:solidFill>
                  <a:srgbClr val="1B3A6B"/>
                </a:solidFill>
                <a:latin typeface="Sorts Mill Goudy" pitchFamily="34" charset="0"/>
                <a:ea typeface="Sorts Mill Goudy" pitchFamily="34" charset="-122"/>
                <a:cs typeface="Sorts Mill Goudy" pitchFamily="34" charset="-120"/>
              </a:rPr>
              <a:t>Optimized Performance</a:t>
            </a:r>
            <a:endParaRPr lang="en-US" sz="1500" dirty="0"/>
          </a:p>
        </p:txBody>
      </p:sp>
      <p:sp>
        <p:nvSpPr>
          <p:cNvPr id="27" name="Text 25"/>
          <p:cNvSpPr/>
          <p:nvPr/>
        </p:nvSpPr>
        <p:spPr>
          <a:xfrm>
            <a:off x="8483600" y="5105400"/>
            <a:ext cx="6908800" cy="8890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Reduced dataset size after cleaning improves query execution speed and dashboard refresh performance in Power BI.</a:t>
            </a:r>
            <a:endParaRPr lang="en-US" sz="1300" dirty="0"/>
          </a:p>
        </p:txBody>
      </p:sp>
      <p:sp>
        <p:nvSpPr>
          <p:cNvPr id="28" name="Shape 26"/>
          <p:cNvSpPr/>
          <p:nvPr/>
        </p:nvSpPr>
        <p:spPr>
          <a:xfrm>
            <a:off x="635000" y="8331200"/>
            <a:ext cx="14986000" cy="12700"/>
          </a:xfrm>
          <a:prstGeom prst="rect">
            <a:avLst/>
          </a:prstGeom>
          <a:solidFill>
            <a:srgbClr val="D0D8E4"/>
          </a:solidFill>
          <a:ln/>
        </p:spPr>
      </p:sp>
      <p:sp>
        <p:nvSpPr>
          <p:cNvPr id="29" name="Text 27"/>
          <p:cNvSpPr/>
          <p:nvPr/>
        </p:nvSpPr>
        <p:spPr>
          <a:xfrm>
            <a:off x="15240000" y="8432800"/>
            <a:ext cx="762000" cy="279400"/>
          </a:xfrm>
          <a:prstGeom prst="rect">
            <a:avLst/>
          </a:prstGeom>
          <a:noFill/>
          <a:ln/>
        </p:spPr>
        <p:txBody>
          <a:bodyPr wrap="none" lIns="0" tIns="0" rIns="0" bIns="0" rtlCol="0" anchor="ctr"/>
          <a:lstStyle/>
          <a:p>
            <a:pPr algn="r">
              <a:lnSpc>
                <a:spcPct val="120000"/>
              </a:lnSpc>
            </a:pPr>
            <a:r>
              <a:rPr lang="en-US" sz="1200" dirty="0">
                <a:solidFill>
                  <a:srgbClr val="8899AA"/>
                </a:solidFill>
                <a:latin typeface="MiSans" pitchFamily="34" charset="0"/>
                <a:ea typeface="MiSans" pitchFamily="34" charset="-122"/>
                <a:cs typeface="MiSans" pitchFamily="34" charset="-120"/>
              </a:rPr>
              <a:t>11</a:t>
            </a:r>
            <a:endParaRPr lang="en-US" sz="12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1B3A6B"/>
          </a:solidFill>
          <a:ln/>
        </p:spPr>
      </p:sp>
      <p:sp>
        <p:nvSpPr>
          <p:cNvPr id="3" name="Shape 1"/>
          <p:cNvSpPr/>
          <p:nvPr/>
        </p:nvSpPr>
        <p:spPr>
          <a:xfrm>
            <a:off x="635000" y="127000"/>
            <a:ext cx="50800" cy="685800"/>
          </a:xfrm>
          <a:prstGeom prst="rect">
            <a:avLst/>
          </a:prstGeom>
          <a:solidFill>
            <a:srgbClr val="C9963B"/>
          </a:solidFill>
          <a:ln/>
        </p:spPr>
      </p:sp>
      <p:sp>
        <p:nvSpPr>
          <p:cNvPr id="4" name="Text 2"/>
          <p:cNvSpPr/>
          <p:nvPr/>
        </p:nvSpPr>
        <p:spPr>
          <a:xfrm>
            <a:off x="787400" y="152400"/>
            <a:ext cx="14605000" cy="635000"/>
          </a:xfrm>
          <a:prstGeom prst="rect">
            <a:avLst/>
          </a:prstGeom>
          <a:noFill/>
          <a:ln/>
        </p:spPr>
        <p:txBody>
          <a:bodyPr wrap="square" lIns="0" tIns="0" rIns="0" bIns="0" rtlCol="0" anchor="ctr"/>
          <a:lstStyle/>
          <a:p>
            <a:pPr algn="l">
              <a:lnSpc>
                <a:spcPct val="120000"/>
              </a:lnSpc>
            </a:pPr>
            <a:r>
              <a:rPr lang="en-US" sz="2000" b="1" dirty="0">
                <a:solidFill>
                  <a:srgbClr val="0F2647"/>
                </a:solidFill>
                <a:latin typeface="Sorts Mill Goudy" pitchFamily="34" charset="0"/>
                <a:ea typeface="Sorts Mill Goudy" pitchFamily="34" charset="-122"/>
                <a:cs typeface="Sorts Mill Goudy" pitchFamily="34" charset="-120"/>
              </a:rPr>
              <a:t>VARCHAR InvoiceDate converted to DATETIME format enabling accurate time-based and monthly reporting analysis</a:t>
            </a:r>
            <a:endParaRPr lang="en-US" sz="2000" dirty="0"/>
          </a:p>
        </p:txBody>
      </p:sp>
      <p:sp>
        <p:nvSpPr>
          <p:cNvPr id="5" name="Shape 3"/>
          <p:cNvSpPr/>
          <p:nvPr/>
        </p:nvSpPr>
        <p:spPr>
          <a:xfrm>
            <a:off x="635000" y="863600"/>
            <a:ext cx="14986000" cy="12700"/>
          </a:xfrm>
          <a:prstGeom prst="rect">
            <a:avLst/>
          </a:prstGeom>
          <a:solidFill>
            <a:srgbClr val="D0D8E4"/>
          </a:solidFill>
          <a:ln/>
        </p:spPr>
      </p:sp>
      <p:sp>
        <p:nvSpPr>
          <p:cNvPr id="6" name="Shape 4"/>
          <p:cNvSpPr/>
          <p:nvPr/>
        </p:nvSpPr>
        <p:spPr>
          <a:xfrm>
            <a:off x="635000" y="965200"/>
            <a:ext cx="7493000" cy="279400"/>
          </a:xfrm>
          <a:prstGeom prst="rect">
            <a:avLst/>
          </a:prstGeom>
          <a:solidFill>
            <a:srgbClr val="EBF0F7"/>
          </a:solidFill>
          <a:ln/>
        </p:spPr>
      </p:sp>
      <p:sp>
        <p:nvSpPr>
          <p:cNvPr id="7" name="Shape 5"/>
          <p:cNvSpPr/>
          <p:nvPr/>
        </p:nvSpPr>
        <p:spPr>
          <a:xfrm>
            <a:off x="635000" y="965200"/>
            <a:ext cx="38100" cy="279400"/>
          </a:xfrm>
          <a:prstGeom prst="rect">
            <a:avLst/>
          </a:prstGeom>
          <a:solidFill>
            <a:srgbClr val="C9963B"/>
          </a:solidFill>
          <a:ln/>
        </p:spPr>
      </p:sp>
      <p:sp>
        <p:nvSpPr>
          <p:cNvPr id="8" name="Text 6"/>
          <p:cNvSpPr/>
          <p:nvPr/>
        </p:nvSpPr>
        <p:spPr>
          <a:xfrm>
            <a:off x="736600" y="965200"/>
            <a:ext cx="7366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SQL Query — Date Conversion</a:t>
            </a:r>
            <a:endParaRPr lang="en-US" sz="1300" dirty="0"/>
          </a:p>
        </p:txBody>
      </p:sp>
      <p:sp>
        <p:nvSpPr>
          <p:cNvPr id="9" name="Shape 7"/>
          <p:cNvSpPr/>
          <p:nvPr/>
        </p:nvSpPr>
        <p:spPr>
          <a:xfrm>
            <a:off x="635000" y="1295400"/>
            <a:ext cx="7493000" cy="1778000"/>
          </a:xfrm>
          <a:prstGeom prst="rect">
            <a:avLst/>
          </a:prstGeom>
          <a:solidFill>
            <a:srgbClr val="EBF0F7"/>
          </a:solidFill>
          <a:ln/>
        </p:spPr>
      </p:sp>
      <p:sp>
        <p:nvSpPr>
          <p:cNvPr id="10" name="Shape 8"/>
          <p:cNvSpPr/>
          <p:nvPr/>
        </p:nvSpPr>
        <p:spPr>
          <a:xfrm>
            <a:off x="635000" y="1295400"/>
            <a:ext cx="50800" cy="1778000"/>
          </a:xfrm>
          <a:prstGeom prst="rect">
            <a:avLst/>
          </a:prstGeom>
          <a:solidFill>
            <a:srgbClr val="C9963B"/>
          </a:solidFill>
          <a:ln/>
        </p:spPr>
      </p:sp>
      <p:sp>
        <p:nvSpPr>
          <p:cNvPr id="11" name="Text 9"/>
          <p:cNvSpPr/>
          <p:nvPr/>
        </p:nvSpPr>
        <p:spPr>
          <a:xfrm>
            <a:off x="812800" y="1371600"/>
            <a:ext cx="7162800" cy="1625600"/>
          </a:xfrm>
          <a:prstGeom prst="rect">
            <a:avLst/>
          </a:prstGeom>
          <a:noFill/>
          <a:ln/>
        </p:spPr>
        <p:txBody>
          <a:bodyPr wrap="square" lIns="0" tIns="0" rIns="0" bIns="0" rtlCol="0" anchor="t"/>
          <a:lstStyle/>
          <a:p>
            <a:pPr algn="l">
              <a:lnSpc>
                <a:spcPct val="150000"/>
              </a:lnSpc>
            </a:pPr>
            <a:r>
              <a:rPr lang="en-US" sz="1200" b="1" dirty="0">
                <a:solidFill>
                  <a:srgbClr val="0F2647"/>
                </a:solidFill>
                <a:latin typeface="Liter" pitchFamily="34" charset="0"/>
                <a:ea typeface="Liter" pitchFamily="34" charset="-122"/>
                <a:cs typeface="Liter" pitchFamily="34" charset="-120"/>
              </a:rPr>
              <a:t>UPDATE</a:t>
            </a:r>
            <a:r>
              <a:rPr lang="en-US" sz="1200" dirty="0">
                <a:solidFill>
                  <a:srgbClr val="0F2647"/>
                </a:solidFill>
                <a:latin typeface="Liter" pitchFamily="34" charset="0"/>
                <a:ea typeface="Liter" pitchFamily="34" charset="-122"/>
                <a:cs typeface="Liter" pitchFamily="34" charset="-120"/>
              </a:rPr>
              <a:t> retail_2009_2010</a:t>
            </a:r>
            <a:endParaRPr lang="en-US" sz="1200" dirty="0"/>
          </a:p>
          <a:p>
            <a:pPr algn="l">
              <a:lnSpc>
                <a:spcPct val="150000"/>
              </a:lnSpc>
            </a:pPr>
            <a:r>
              <a:rPr lang="en-US" sz="1200" b="1" dirty="0">
                <a:solidFill>
                  <a:srgbClr val="0F2647"/>
                </a:solidFill>
                <a:latin typeface="Liter" pitchFamily="34" charset="0"/>
                <a:ea typeface="Liter" pitchFamily="34" charset="-122"/>
                <a:cs typeface="Liter" pitchFamily="34" charset="-120"/>
              </a:rPr>
              <a:t>SET</a:t>
            </a:r>
            <a:r>
              <a:rPr lang="en-US" sz="1200" dirty="0">
                <a:solidFill>
                  <a:srgbClr val="0F2647"/>
                </a:solidFill>
                <a:latin typeface="Liter" pitchFamily="34" charset="0"/>
                <a:ea typeface="Liter" pitchFamily="34" charset="-122"/>
                <a:cs typeface="Liter" pitchFamily="34" charset="-120"/>
              </a:rPr>
              <a:t> InvoiceDate_New =</a:t>
            </a:r>
            <a:endParaRPr lang="en-US" sz="1200" dirty="0"/>
          </a:p>
          <a:p>
            <a:pPr algn="l">
              <a:lnSpc>
                <a:spcPct val="150000"/>
              </a:lnSpc>
            </a:pPr>
            <a:r>
              <a:rPr lang="en-US" sz="1200" dirty="0">
                <a:solidFill>
                  <a:srgbClr val="0F2647"/>
                </a:solidFill>
                <a:latin typeface="Liter" pitchFamily="34" charset="0"/>
                <a:ea typeface="Liter" pitchFamily="34" charset="-122"/>
                <a:cs typeface="Liter" pitchFamily="34" charset="-120"/>
              </a:rPr>
              <a:t>  </a:t>
            </a:r>
            <a:r>
              <a:rPr lang="en-US" sz="1200" b="1" dirty="0">
                <a:solidFill>
                  <a:srgbClr val="0F2647"/>
                </a:solidFill>
                <a:latin typeface="Liter" pitchFamily="34" charset="0"/>
                <a:ea typeface="Liter" pitchFamily="34" charset="-122"/>
                <a:cs typeface="Liter" pitchFamily="34" charset="-120"/>
              </a:rPr>
              <a:t>STR_TO_DATE</a:t>
            </a:r>
            <a:r>
              <a:rPr lang="en-US" sz="1200" dirty="0">
                <a:solidFill>
                  <a:srgbClr val="0F2647"/>
                </a:solidFill>
                <a:latin typeface="Liter" pitchFamily="34" charset="0"/>
                <a:ea typeface="Liter" pitchFamily="34" charset="-122"/>
                <a:cs typeface="Liter" pitchFamily="34" charset="-120"/>
              </a:rPr>
              <a:t>(InvoiceDate,</a:t>
            </a:r>
            <a:endParaRPr lang="en-US" sz="1200" dirty="0"/>
          </a:p>
          <a:p>
            <a:pPr algn="l">
              <a:lnSpc>
                <a:spcPct val="150000"/>
              </a:lnSpc>
            </a:pPr>
            <a:r>
              <a:rPr lang="en-US" sz="1200" dirty="0">
                <a:solidFill>
                  <a:srgbClr val="0F2647"/>
                </a:solidFill>
                <a:latin typeface="Liter" pitchFamily="34" charset="0"/>
                <a:ea typeface="Liter" pitchFamily="34" charset="-122"/>
                <a:cs typeface="Liter" pitchFamily="34" charset="-120"/>
              </a:rPr>
              <a:t>  '</a:t>
            </a:r>
            <a:r>
              <a:rPr lang="en-US" sz="1200" b="1" dirty="0">
                <a:solidFill>
                  <a:srgbClr val="0F2647"/>
                </a:solidFill>
                <a:latin typeface="Liter" pitchFamily="34" charset="0"/>
                <a:ea typeface="Liter" pitchFamily="34" charset="-122"/>
                <a:cs typeface="Liter" pitchFamily="34" charset="-120"/>
              </a:rPr>
              <a:t>%m/%d/%Y %H:%i</a:t>
            </a:r>
            <a:r>
              <a:rPr lang="en-US" sz="1200" dirty="0">
                <a:solidFill>
                  <a:srgbClr val="0F2647"/>
                </a:solidFill>
                <a:latin typeface="Liter" pitchFamily="34" charset="0"/>
                <a:ea typeface="Liter" pitchFamily="34" charset="-122"/>
                <a:cs typeface="Liter" pitchFamily="34" charset="-120"/>
              </a:rPr>
              <a:t>');</a:t>
            </a:r>
            <a:endParaRPr lang="en-US" sz="1200" dirty="0"/>
          </a:p>
        </p:txBody>
      </p:sp>
      <p:sp>
        <p:nvSpPr>
          <p:cNvPr id="12" name="Text 10"/>
          <p:cNvSpPr/>
          <p:nvPr/>
        </p:nvSpPr>
        <p:spPr>
          <a:xfrm>
            <a:off x="736600" y="3225800"/>
            <a:ext cx="7264400" cy="1270000"/>
          </a:xfrm>
          <a:prstGeom prst="rect">
            <a:avLst/>
          </a:prstGeom>
          <a:noFill/>
          <a:ln/>
        </p:spPr>
        <p:txBody>
          <a:bodyPr wrap="square" lIns="0" tIns="0" rIns="0" bIns="0" rtlCol="0" anchor="t"/>
          <a:lstStyle/>
          <a:p>
            <a:pPr algn="l">
              <a:lnSpc>
                <a:spcPct val="160000"/>
              </a:lnSpc>
            </a:pPr>
            <a:r>
              <a:rPr lang="en-US" sz="1400" b="1" dirty="0">
                <a:solidFill>
                  <a:srgbClr val="2D2D2D"/>
                </a:solidFill>
                <a:latin typeface="Liter" pitchFamily="34" charset="0"/>
                <a:ea typeface="Liter" pitchFamily="34" charset="-122"/>
                <a:cs typeface="Liter" pitchFamily="34" charset="-120"/>
              </a:rPr>
              <a:t>Problem Identified</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InvoiceDate stored as VARCHAR in original dataset, preventing time-based calculations, sorting, and date filtering in both SQL and Power BI.</a:t>
            </a:r>
            <a:endParaRPr lang="en-US" sz="1400" dirty="0"/>
          </a:p>
        </p:txBody>
      </p:sp>
      <p:sp>
        <p:nvSpPr>
          <p:cNvPr id="13" name="Text 11"/>
          <p:cNvSpPr/>
          <p:nvPr/>
        </p:nvSpPr>
        <p:spPr>
          <a:xfrm>
            <a:off x="736600" y="4622800"/>
            <a:ext cx="7264400" cy="1270000"/>
          </a:xfrm>
          <a:prstGeom prst="rect">
            <a:avLst/>
          </a:prstGeom>
          <a:noFill/>
          <a:ln/>
        </p:spPr>
        <p:txBody>
          <a:bodyPr wrap="square" lIns="0" tIns="0" rIns="0" bIns="0" rtlCol="0" anchor="t"/>
          <a:lstStyle/>
          <a:p>
            <a:pPr algn="l">
              <a:lnSpc>
                <a:spcPct val="160000"/>
              </a:lnSpc>
            </a:pPr>
            <a:r>
              <a:rPr lang="en-US" sz="1400" b="1" dirty="0">
                <a:solidFill>
                  <a:srgbClr val="2D2D2D"/>
                </a:solidFill>
                <a:latin typeface="Liter" pitchFamily="34" charset="0"/>
                <a:ea typeface="Liter" pitchFamily="34" charset="-122"/>
                <a:cs typeface="Liter" pitchFamily="34" charset="-120"/>
              </a:rPr>
              <a:t>Solution Applied</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STR_TO_DATE function converted VARCHAR to DATETIME using format specifier %m/%d/%Y %H:%i matching the original data format.</a:t>
            </a:r>
            <a:endParaRPr lang="en-US" sz="1400" dirty="0"/>
          </a:p>
        </p:txBody>
      </p:sp>
      <p:sp>
        <p:nvSpPr>
          <p:cNvPr id="14" name="Shape 12"/>
          <p:cNvSpPr/>
          <p:nvPr/>
        </p:nvSpPr>
        <p:spPr>
          <a:xfrm>
            <a:off x="8255000" y="965200"/>
            <a:ext cx="7366000" cy="279400"/>
          </a:xfrm>
          <a:prstGeom prst="rect">
            <a:avLst/>
          </a:prstGeom>
          <a:solidFill>
            <a:srgbClr val="EBF0F7"/>
          </a:solidFill>
          <a:ln/>
        </p:spPr>
      </p:sp>
      <p:sp>
        <p:nvSpPr>
          <p:cNvPr id="15" name="Shape 13"/>
          <p:cNvSpPr/>
          <p:nvPr/>
        </p:nvSpPr>
        <p:spPr>
          <a:xfrm>
            <a:off x="8255000" y="965200"/>
            <a:ext cx="38100" cy="279400"/>
          </a:xfrm>
          <a:prstGeom prst="rect">
            <a:avLst/>
          </a:prstGeom>
          <a:solidFill>
            <a:srgbClr val="C9963B"/>
          </a:solidFill>
          <a:ln/>
        </p:spPr>
      </p:sp>
      <p:sp>
        <p:nvSpPr>
          <p:cNvPr id="16" name="Text 14"/>
          <p:cNvSpPr/>
          <p:nvPr/>
        </p:nvSpPr>
        <p:spPr>
          <a:xfrm>
            <a:off x="8356600" y="965200"/>
            <a:ext cx="7239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Results Enabled</a:t>
            </a:r>
            <a:endParaRPr lang="en-US" sz="1300" dirty="0"/>
          </a:p>
        </p:txBody>
      </p:sp>
      <p:sp>
        <p:nvSpPr>
          <p:cNvPr id="17" name="Shape 15"/>
          <p:cNvSpPr/>
          <p:nvPr/>
        </p:nvSpPr>
        <p:spPr>
          <a:xfrm>
            <a:off x="8318500" y="1320800"/>
            <a:ext cx="7239000" cy="1524000"/>
          </a:xfrm>
          <a:prstGeom prst="rect">
            <a:avLst/>
          </a:prstGeom>
          <a:solidFill>
            <a:srgbClr val="EBF0F7"/>
          </a:solidFill>
          <a:ln/>
        </p:spPr>
      </p:sp>
      <p:sp>
        <p:nvSpPr>
          <p:cNvPr id="18" name="Shape 16"/>
          <p:cNvSpPr/>
          <p:nvPr/>
        </p:nvSpPr>
        <p:spPr>
          <a:xfrm>
            <a:off x="8318500" y="1320800"/>
            <a:ext cx="7239000" cy="38100"/>
          </a:xfrm>
          <a:prstGeom prst="rect">
            <a:avLst/>
          </a:prstGeom>
          <a:solidFill>
            <a:srgbClr val="1B3A6B"/>
          </a:solidFill>
          <a:ln/>
        </p:spPr>
      </p:sp>
      <p:sp>
        <p:nvSpPr>
          <p:cNvPr id="19" name="Text 17"/>
          <p:cNvSpPr/>
          <p:nvPr/>
        </p:nvSpPr>
        <p:spPr>
          <a:xfrm>
            <a:off x="8483600" y="1447800"/>
            <a:ext cx="6908800" cy="304800"/>
          </a:xfrm>
          <a:prstGeom prst="rect">
            <a:avLst/>
          </a:prstGeom>
          <a:noFill/>
          <a:ln/>
        </p:spPr>
        <p:txBody>
          <a:bodyPr wrap="none" lIns="0" tIns="0" rIns="0" bIns="0" rtlCol="0" anchor="ctr"/>
          <a:lstStyle/>
          <a:p>
            <a:pPr algn="l">
              <a:lnSpc>
                <a:spcPct val="120000"/>
              </a:lnSpc>
            </a:pPr>
            <a:r>
              <a:rPr lang="en-US" sz="1500" b="1" dirty="0">
                <a:solidFill>
                  <a:srgbClr val="1B3A6B"/>
                </a:solidFill>
                <a:latin typeface="Sorts Mill Goudy" pitchFamily="34" charset="0"/>
                <a:ea typeface="Sorts Mill Goudy" pitchFamily="34" charset="-122"/>
                <a:cs typeface="Sorts Mill Goudy" pitchFamily="34" charset="-120"/>
              </a:rPr>
              <a:t>Accurate Time-Based Analysis</a:t>
            </a:r>
            <a:endParaRPr lang="en-US" sz="1500" dirty="0"/>
          </a:p>
        </p:txBody>
      </p:sp>
      <p:sp>
        <p:nvSpPr>
          <p:cNvPr id="20" name="Text 18"/>
          <p:cNvSpPr/>
          <p:nvPr/>
        </p:nvSpPr>
        <p:spPr>
          <a:xfrm>
            <a:off x="8483600" y="1803400"/>
            <a:ext cx="6908800" cy="8890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DATETIME format enables precise time-series analysis, hourly patterns, and chronological sorting of transactions.</a:t>
            </a:r>
            <a:endParaRPr lang="en-US" sz="1300" dirty="0"/>
          </a:p>
        </p:txBody>
      </p:sp>
      <p:sp>
        <p:nvSpPr>
          <p:cNvPr id="21" name="Shape 19"/>
          <p:cNvSpPr/>
          <p:nvPr/>
        </p:nvSpPr>
        <p:spPr>
          <a:xfrm>
            <a:off x="8318500" y="2971800"/>
            <a:ext cx="7239000" cy="1524000"/>
          </a:xfrm>
          <a:prstGeom prst="rect">
            <a:avLst/>
          </a:prstGeom>
          <a:solidFill>
            <a:srgbClr val="EBF0F7"/>
          </a:solidFill>
          <a:ln/>
        </p:spPr>
      </p:sp>
      <p:sp>
        <p:nvSpPr>
          <p:cNvPr id="22" name="Shape 20"/>
          <p:cNvSpPr/>
          <p:nvPr/>
        </p:nvSpPr>
        <p:spPr>
          <a:xfrm>
            <a:off x="8318500" y="2971800"/>
            <a:ext cx="7239000" cy="38100"/>
          </a:xfrm>
          <a:prstGeom prst="rect">
            <a:avLst/>
          </a:prstGeom>
          <a:solidFill>
            <a:srgbClr val="C9963B"/>
          </a:solidFill>
          <a:ln/>
        </p:spPr>
      </p:sp>
      <p:sp>
        <p:nvSpPr>
          <p:cNvPr id="23" name="Text 21"/>
          <p:cNvSpPr/>
          <p:nvPr/>
        </p:nvSpPr>
        <p:spPr>
          <a:xfrm>
            <a:off x="8483600" y="3098800"/>
            <a:ext cx="6908800" cy="304800"/>
          </a:xfrm>
          <a:prstGeom prst="rect">
            <a:avLst/>
          </a:prstGeom>
          <a:noFill/>
          <a:ln/>
        </p:spPr>
        <p:txBody>
          <a:bodyPr wrap="none" lIns="0" tIns="0" rIns="0" bIns="0" rtlCol="0" anchor="ctr"/>
          <a:lstStyle/>
          <a:p>
            <a:pPr algn="l">
              <a:lnSpc>
                <a:spcPct val="120000"/>
              </a:lnSpc>
            </a:pPr>
            <a:r>
              <a:rPr lang="en-US" sz="1500" b="1" dirty="0">
                <a:solidFill>
                  <a:srgbClr val="C9963B"/>
                </a:solidFill>
                <a:latin typeface="Sorts Mill Goudy" pitchFamily="34" charset="0"/>
                <a:ea typeface="Sorts Mill Goudy" pitchFamily="34" charset="-122"/>
                <a:cs typeface="Sorts Mill Goudy" pitchFamily="34" charset="-120"/>
              </a:rPr>
              <a:t>Monthly and Yearly Reporting</a:t>
            </a:r>
            <a:endParaRPr lang="en-US" sz="1500" dirty="0"/>
          </a:p>
        </p:txBody>
      </p:sp>
      <p:sp>
        <p:nvSpPr>
          <p:cNvPr id="24" name="Text 22"/>
          <p:cNvSpPr/>
          <p:nvPr/>
        </p:nvSpPr>
        <p:spPr>
          <a:xfrm>
            <a:off x="8483600" y="3454400"/>
            <a:ext cx="6908800" cy="8890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Power BI can now group and filter by month, quarter, and year for trend analysis and period-over-period comparisons.</a:t>
            </a:r>
            <a:endParaRPr lang="en-US" sz="1300" dirty="0"/>
          </a:p>
        </p:txBody>
      </p:sp>
      <p:sp>
        <p:nvSpPr>
          <p:cNvPr id="25" name="Shape 23"/>
          <p:cNvSpPr/>
          <p:nvPr/>
        </p:nvSpPr>
        <p:spPr>
          <a:xfrm>
            <a:off x="8318500" y="4622800"/>
            <a:ext cx="7239000" cy="1524000"/>
          </a:xfrm>
          <a:prstGeom prst="rect">
            <a:avLst/>
          </a:prstGeom>
          <a:solidFill>
            <a:srgbClr val="EBF0F7"/>
          </a:solidFill>
          <a:ln/>
        </p:spPr>
      </p:sp>
      <p:sp>
        <p:nvSpPr>
          <p:cNvPr id="26" name="Shape 24"/>
          <p:cNvSpPr/>
          <p:nvPr/>
        </p:nvSpPr>
        <p:spPr>
          <a:xfrm>
            <a:off x="8318500" y="4622800"/>
            <a:ext cx="7239000" cy="38100"/>
          </a:xfrm>
          <a:prstGeom prst="rect">
            <a:avLst/>
          </a:prstGeom>
          <a:solidFill>
            <a:srgbClr val="1B3A6B"/>
          </a:solidFill>
          <a:ln/>
        </p:spPr>
      </p:sp>
      <p:sp>
        <p:nvSpPr>
          <p:cNvPr id="27" name="Text 25"/>
          <p:cNvSpPr/>
          <p:nvPr/>
        </p:nvSpPr>
        <p:spPr>
          <a:xfrm>
            <a:off x="8483600" y="4749800"/>
            <a:ext cx="6908800" cy="304800"/>
          </a:xfrm>
          <a:prstGeom prst="rect">
            <a:avLst/>
          </a:prstGeom>
          <a:noFill/>
          <a:ln/>
        </p:spPr>
        <p:txBody>
          <a:bodyPr wrap="none" lIns="0" tIns="0" rIns="0" bIns="0" rtlCol="0" anchor="ctr"/>
          <a:lstStyle/>
          <a:p>
            <a:pPr algn="l">
              <a:lnSpc>
                <a:spcPct val="120000"/>
              </a:lnSpc>
            </a:pPr>
            <a:r>
              <a:rPr lang="en-US" sz="1500" b="1" dirty="0">
                <a:solidFill>
                  <a:srgbClr val="1B3A6B"/>
                </a:solidFill>
                <a:latin typeface="Sorts Mill Goudy" pitchFamily="34" charset="0"/>
                <a:ea typeface="Sorts Mill Goudy" pitchFamily="34" charset="-122"/>
                <a:cs typeface="Sorts Mill Goudy" pitchFamily="34" charset="-120"/>
              </a:rPr>
              <a:t>Dashboard Date Slicers</a:t>
            </a:r>
            <a:endParaRPr lang="en-US" sz="1500" dirty="0"/>
          </a:p>
        </p:txBody>
      </p:sp>
      <p:sp>
        <p:nvSpPr>
          <p:cNvPr id="28" name="Text 26"/>
          <p:cNvSpPr/>
          <p:nvPr/>
        </p:nvSpPr>
        <p:spPr>
          <a:xfrm>
            <a:off x="8483600" y="5105400"/>
            <a:ext cx="6908800" cy="8890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Interactive date filters in Power BI allow users to dynamically explore sales data across custom time ranges.</a:t>
            </a:r>
            <a:endParaRPr lang="en-US" sz="1300" dirty="0"/>
          </a:p>
        </p:txBody>
      </p:sp>
      <p:sp>
        <p:nvSpPr>
          <p:cNvPr id="29" name="Shape 27"/>
          <p:cNvSpPr/>
          <p:nvPr/>
        </p:nvSpPr>
        <p:spPr>
          <a:xfrm>
            <a:off x="635000" y="8331200"/>
            <a:ext cx="14986000" cy="12700"/>
          </a:xfrm>
          <a:prstGeom prst="rect">
            <a:avLst/>
          </a:prstGeom>
          <a:solidFill>
            <a:srgbClr val="D0D8E4"/>
          </a:solidFill>
          <a:ln/>
        </p:spPr>
      </p:sp>
      <p:sp>
        <p:nvSpPr>
          <p:cNvPr id="30" name="Text 28"/>
          <p:cNvSpPr/>
          <p:nvPr/>
        </p:nvSpPr>
        <p:spPr>
          <a:xfrm>
            <a:off x="15240000" y="8432800"/>
            <a:ext cx="762000" cy="279400"/>
          </a:xfrm>
          <a:prstGeom prst="rect">
            <a:avLst/>
          </a:prstGeom>
          <a:noFill/>
          <a:ln/>
        </p:spPr>
        <p:txBody>
          <a:bodyPr wrap="none" lIns="0" tIns="0" rIns="0" bIns="0" rtlCol="0" anchor="ctr"/>
          <a:lstStyle/>
          <a:p>
            <a:pPr algn="r">
              <a:lnSpc>
                <a:spcPct val="120000"/>
              </a:lnSpc>
            </a:pPr>
            <a:r>
              <a:rPr lang="en-US" sz="1200" dirty="0">
                <a:solidFill>
                  <a:srgbClr val="8899AA"/>
                </a:solidFill>
                <a:latin typeface="MiSans" pitchFamily="34" charset="0"/>
                <a:ea typeface="MiSans" pitchFamily="34" charset="-122"/>
                <a:cs typeface="MiSans" pitchFamily="34" charset="-120"/>
              </a:rPr>
              <a:t>12</a:t>
            </a:r>
            <a:endParaRPr lang="en-US" sz="12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DC39CCC-DE66-F11C-D89B-D74FCBA6DEA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22702" y="630195"/>
            <a:ext cx="10614822" cy="5552165"/>
          </a:xfrm>
          <a:prstGeom prst="rect">
            <a:avLst/>
          </a:prstGeom>
          <a:noFill/>
          <a:ln>
            <a:noFill/>
          </a:ln>
        </p:spPr>
      </p:pic>
    </p:spTree>
    <p:extLst>
      <p:ext uri="{BB962C8B-B14F-4D97-AF65-F5344CB8AC3E}">
        <p14:creationId xmlns:p14="http://schemas.microsoft.com/office/powerpoint/2010/main" val="3668225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1B3A6B"/>
          </a:solidFill>
          <a:ln/>
        </p:spPr>
      </p:sp>
      <p:sp>
        <p:nvSpPr>
          <p:cNvPr id="3" name="Shape 1"/>
          <p:cNvSpPr/>
          <p:nvPr/>
        </p:nvSpPr>
        <p:spPr>
          <a:xfrm>
            <a:off x="635000" y="127000"/>
            <a:ext cx="50800" cy="685800"/>
          </a:xfrm>
          <a:prstGeom prst="rect">
            <a:avLst/>
          </a:prstGeom>
          <a:solidFill>
            <a:srgbClr val="C9963B"/>
          </a:solidFill>
          <a:ln/>
        </p:spPr>
      </p:sp>
      <p:sp>
        <p:nvSpPr>
          <p:cNvPr id="4" name="Text 2"/>
          <p:cNvSpPr/>
          <p:nvPr/>
        </p:nvSpPr>
        <p:spPr>
          <a:xfrm>
            <a:off x="787400" y="152400"/>
            <a:ext cx="14605000" cy="635000"/>
          </a:xfrm>
          <a:prstGeom prst="rect">
            <a:avLst/>
          </a:prstGeom>
          <a:noFill/>
          <a:ln/>
        </p:spPr>
        <p:txBody>
          <a:bodyPr wrap="square" lIns="0" tIns="0" rIns="0" bIns="0" rtlCol="0" anchor="ctr"/>
          <a:lstStyle/>
          <a:p>
            <a:pPr algn="l">
              <a:lnSpc>
                <a:spcPct val="120000"/>
              </a:lnSpc>
            </a:pPr>
            <a:r>
              <a:rPr lang="en-US" sz="2200" b="1" dirty="0">
                <a:solidFill>
                  <a:srgbClr val="0F2647"/>
                </a:solidFill>
                <a:latin typeface="Sorts Mill Goudy" pitchFamily="34" charset="0"/>
                <a:ea typeface="Sorts Mill Goudy" pitchFamily="34" charset="-122"/>
                <a:cs typeface="Sorts Mill Goudy" pitchFamily="34" charset="-120"/>
              </a:rPr>
              <a:t>Yearly transaction tables merged using UNION ALL into a single master retail table for unified analysis</a:t>
            </a:r>
            <a:endParaRPr lang="en-US" sz="2200" dirty="0"/>
          </a:p>
        </p:txBody>
      </p:sp>
      <p:sp>
        <p:nvSpPr>
          <p:cNvPr id="5" name="Shape 3"/>
          <p:cNvSpPr/>
          <p:nvPr/>
        </p:nvSpPr>
        <p:spPr>
          <a:xfrm>
            <a:off x="635000" y="863600"/>
            <a:ext cx="14986000" cy="12700"/>
          </a:xfrm>
          <a:prstGeom prst="rect">
            <a:avLst/>
          </a:prstGeom>
          <a:solidFill>
            <a:srgbClr val="D0D8E4"/>
          </a:solidFill>
          <a:ln/>
        </p:spPr>
      </p:sp>
      <p:sp>
        <p:nvSpPr>
          <p:cNvPr id="6" name="Shape 4"/>
          <p:cNvSpPr/>
          <p:nvPr/>
        </p:nvSpPr>
        <p:spPr>
          <a:xfrm>
            <a:off x="635000" y="965200"/>
            <a:ext cx="7493000" cy="279400"/>
          </a:xfrm>
          <a:prstGeom prst="rect">
            <a:avLst/>
          </a:prstGeom>
          <a:solidFill>
            <a:srgbClr val="EBF0F7"/>
          </a:solidFill>
          <a:ln/>
        </p:spPr>
      </p:sp>
      <p:sp>
        <p:nvSpPr>
          <p:cNvPr id="7" name="Shape 5"/>
          <p:cNvSpPr/>
          <p:nvPr/>
        </p:nvSpPr>
        <p:spPr>
          <a:xfrm>
            <a:off x="635000" y="965200"/>
            <a:ext cx="38100" cy="279400"/>
          </a:xfrm>
          <a:prstGeom prst="rect">
            <a:avLst/>
          </a:prstGeom>
          <a:solidFill>
            <a:srgbClr val="C9963B"/>
          </a:solidFill>
          <a:ln/>
        </p:spPr>
      </p:sp>
      <p:sp>
        <p:nvSpPr>
          <p:cNvPr id="8" name="Text 6"/>
          <p:cNvSpPr/>
          <p:nvPr/>
        </p:nvSpPr>
        <p:spPr>
          <a:xfrm>
            <a:off x="736600" y="965200"/>
            <a:ext cx="7366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SQL Query — Combining Datasets</a:t>
            </a:r>
            <a:endParaRPr lang="en-US" sz="1300" dirty="0"/>
          </a:p>
        </p:txBody>
      </p:sp>
      <p:sp>
        <p:nvSpPr>
          <p:cNvPr id="9" name="Shape 7"/>
          <p:cNvSpPr/>
          <p:nvPr/>
        </p:nvSpPr>
        <p:spPr>
          <a:xfrm>
            <a:off x="635000" y="1295400"/>
            <a:ext cx="7493000" cy="2032000"/>
          </a:xfrm>
          <a:prstGeom prst="rect">
            <a:avLst/>
          </a:prstGeom>
          <a:solidFill>
            <a:srgbClr val="EBF0F7"/>
          </a:solidFill>
          <a:ln/>
        </p:spPr>
      </p:sp>
      <p:sp>
        <p:nvSpPr>
          <p:cNvPr id="10" name="Shape 8"/>
          <p:cNvSpPr/>
          <p:nvPr/>
        </p:nvSpPr>
        <p:spPr>
          <a:xfrm>
            <a:off x="635000" y="1295400"/>
            <a:ext cx="50800" cy="2032000"/>
          </a:xfrm>
          <a:prstGeom prst="rect">
            <a:avLst/>
          </a:prstGeom>
          <a:solidFill>
            <a:srgbClr val="C9963B"/>
          </a:solidFill>
          <a:ln/>
        </p:spPr>
      </p:sp>
      <p:sp>
        <p:nvSpPr>
          <p:cNvPr id="11" name="Text 9"/>
          <p:cNvSpPr/>
          <p:nvPr/>
        </p:nvSpPr>
        <p:spPr>
          <a:xfrm>
            <a:off x="812800" y="1371600"/>
            <a:ext cx="7162800" cy="1879600"/>
          </a:xfrm>
          <a:prstGeom prst="rect">
            <a:avLst/>
          </a:prstGeom>
          <a:noFill/>
          <a:ln/>
        </p:spPr>
        <p:txBody>
          <a:bodyPr wrap="square" lIns="0" tIns="0" rIns="0" bIns="0" rtlCol="0" anchor="t"/>
          <a:lstStyle/>
          <a:p>
            <a:pPr algn="l">
              <a:lnSpc>
                <a:spcPct val="150000"/>
              </a:lnSpc>
            </a:pPr>
            <a:r>
              <a:rPr lang="en-US" sz="1200" b="1" dirty="0">
                <a:solidFill>
                  <a:srgbClr val="0F2647"/>
                </a:solidFill>
                <a:latin typeface="Liter" pitchFamily="34" charset="0"/>
                <a:ea typeface="Liter" pitchFamily="34" charset="-122"/>
                <a:cs typeface="Liter" pitchFamily="34" charset="-120"/>
              </a:rPr>
              <a:t>CREATE TABLE</a:t>
            </a:r>
            <a:r>
              <a:rPr lang="en-US" sz="1200" dirty="0">
                <a:solidFill>
                  <a:srgbClr val="0F2647"/>
                </a:solidFill>
                <a:latin typeface="Liter" pitchFamily="34" charset="0"/>
                <a:ea typeface="Liter" pitchFamily="34" charset="-122"/>
                <a:cs typeface="Liter" pitchFamily="34" charset="-120"/>
              </a:rPr>
              <a:t> retail_combined </a:t>
            </a:r>
            <a:r>
              <a:rPr lang="en-US" sz="1200" b="1" dirty="0">
                <a:solidFill>
                  <a:srgbClr val="0F2647"/>
                </a:solidFill>
                <a:latin typeface="Liter" pitchFamily="34" charset="0"/>
                <a:ea typeface="Liter" pitchFamily="34" charset="-122"/>
                <a:cs typeface="Liter" pitchFamily="34" charset="-120"/>
              </a:rPr>
              <a:t>AS</a:t>
            </a:r>
            <a:endParaRPr lang="en-US" sz="1200" dirty="0"/>
          </a:p>
          <a:p>
            <a:pPr algn="l">
              <a:lnSpc>
                <a:spcPct val="150000"/>
              </a:lnSpc>
            </a:pPr>
            <a:r>
              <a:rPr lang="en-US" sz="1200" b="1" dirty="0">
                <a:solidFill>
                  <a:srgbClr val="0F2647"/>
                </a:solidFill>
                <a:latin typeface="Liter" pitchFamily="34" charset="0"/>
                <a:ea typeface="Liter" pitchFamily="34" charset="-122"/>
                <a:cs typeface="Liter" pitchFamily="34" charset="-120"/>
              </a:rPr>
              <a:t>SELECT</a:t>
            </a:r>
            <a:r>
              <a:rPr lang="en-US" sz="1200" dirty="0">
                <a:solidFill>
                  <a:srgbClr val="0F2647"/>
                </a:solidFill>
                <a:latin typeface="Liter" pitchFamily="34" charset="0"/>
                <a:ea typeface="Liter" pitchFamily="34" charset="-122"/>
                <a:cs typeface="Liter" pitchFamily="34" charset="-120"/>
              </a:rPr>
              <a:t> * </a:t>
            </a:r>
            <a:r>
              <a:rPr lang="en-US" sz="1200" b="1" dirty="0">
                <a:solidFill>
                  <a:srgbClr val="0F2647"/>
                </a:solidFill>
                <a:latin typeface="Liter" pitchFamily="34" charset="0"/>
                <a:ea typeface="Liter" pitchFamily="34" charset="-122"/>
                <a:cs typeface="Liter" pitchFamily="34" charset="-120"/>
              </a:rPr>
              <a:t>FROM</a:t>
            </a:r>
            <a:r>
              <a:rPr lang="en-US" sz="1200" dirty="0">
                <a:solidFill>
                  <a:srgbClr val="0F2647"/>
                </a:solidFill>
                <a:latin typeface="Liter" pitchFamily="34" charset="0"/>
                <a:ea typeface="Liter" pitchFamily="34" charset="-122"/>
                <a:cs typeface="Liter" pitchFamily="34" charset="-120"/>
              </a:rPr>
              <a:t> retail_2009_2010</a:t>
            </a:r>
            <a:endParaRPr lang="en-US" sz="1200" dirty="0"/>
          </a:p>
          <a:p>
            <a:pPr algn="l">
              <a:lnSpc>
                <a:spcPct val="150000"/>
              </a:lnSpc>
            </a:pPr>
            <a:r>
              <a:rPr lang="en-US" sz="1200" b="1" dirty="0">
                <a:solidFill>
                  <a:srgbClr val="0F2647"/>
                </a:solidFill>
                <a:latin typeface="Liter" pitchFamily="34" charset="0"/>
                <a:ea typeface="Liter" pitchFamily="34" charset="-122"/>
                <a:cs typeface="Liter" pitchFamily="34" charset="-120"/>
              </a:rPr>
              <a:t>UNION ALL</a:t>
            </a:r>
            <a:endParaRPr lang="en-US" sz="1200" dirty="0"/>
          </a:p>
          <a:p>
            <a:pPr algn="l">
              <a:lnSpc>
                <a:spcPct val="150000"/>
              </a:lnSpc>
            </a:pPr>
            <a:r>
              <a:rPr lang="en-US" sz="1200" b="1" dirty="0">
                <a:solidFill>
                  <a:srgbClr val="0F2647"/>
                </a:solidFill>
                <a:latin typeface="Liter" pitchFamily="34" charset="0"/>
                <a:ea typeface="Liter" pitchFamily="34" charset="-122"/>
                <a:cs typeface="Liter" pitchFamily="34" charset="-120"/>
              </a:rPr>
              <a:t>SELECT</a:t>
            </a:r>
            <a:r>
              <a:rPr lang="en-US" sz="1200" dirty="0">
                <a:solidFill>
                  <a:srgbClr val="0F2647"/>
                </a:solidFill>
                <a:latin typeface="Liter" pitchFamily="34" charset="0"/>
                <a:ea typeface="Liter" pitchFamily="34" charset="-122"/>
                <a:cs typeface="Liter" pitchFamily="34" charset="-120"/>
              </a:rPr>
              <a:t> * </a:t>
            </a:r>
            <a:r>
              <a:rPr lang="en-US" sz="1200" b="1" dirty="0">
                <a:solidFill>
                  <a:srgbClr val="0F2647"/>
                </a:solidFill>
                <a:latin typeface="Liter" pitchFamily="34" charset="0"/>
                <a:ea typeface="Liter" pitchFamily="34" charset="-122"/>
                <a:cs typeface="Liter" pitchFamily="34" charset="-120"/>
              </a:rPr>
              <a:t>FROM</a:t>
            </a:r>
            <a:r>
              <a:rPr lang="en-US" sz="1200" dirty="0">
                <a:solidFill>
                  <a:srgbClr val="0F2647"/>
                </a:solidFill>
                <a:latin typeface="Liter" pitchFamily="34" charset="0"/>
                <a:ea typeface="Liter" pitchFamily="34" charset="-122"/>
                <a:cs typeface="Liter" pitchFamily="34" charset="-120"/>
              </a:rPr>
              <a:t> retail_2010_2011;</a:t>
            </a:r>
            <a:endParaRPr lang="en-US" sz="1200" dirty="0"/>
          </a:p>
        </p:txBody>
      </p:sp>
      <p:sp>
        <p:nvSpPr>
          <p:cNvPr id="12" name="Text 10"/>
          <p:cNvSpPr/>
          <p:nvPr/>
        </p:nvSpPr>
        <p:spPr>
          <a:xfrm>
            <a:off x="736600" y="3479800"/>
            <a:ext cx="7264400" cy="2540000"/>
          </a:xfrm>
          <a:prstGeom prst="rect">
            <a:avLst/>
          </a:prstGeom>
          <a:noFill/>
          <a:ln/>
        </p:spPr>
        <p:txBody>
          <a:bodyPr wrap="square" lIns="0" tIns="0" rIns="0" bIns="0" rtlCol="0" anchor="t"/>
          <a:lstStyle/>
          <a:p>
            <a:pPr algn="l">
              <a:lnSpc>
                <a:spcPct val="160000"/>
              </a:lnSpc>
            </a:pPr>
            <a:r>
              <a:rPr lang="en-US" sz="1400" b="1" dirty="0">
                <a:solidFill>
                  <a:srgbClr val="2D2D2D"/>
                </a:solidFill>
                <a:latin typeface="Liter" pitchFamily="34" charset="0"/>
                <a:ea typeface="Liter" pitchFamily="34" charset="-122"/>
                <a:cs typeface="Liter" pitchFamily="34" charset="-120"/>
              </a:rPr>
              <a:t>Objective</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Merge yearly transaction tables into a unified dataset for comprehensive multi-year analysis.</a:t>
            </a:r>
            <a:endParaRPr lang="en-US" sz="1400" dirty="0"/>
          </a:p>
          <a:p>
            <a:pPr algn="l">
              <a:lnSpc>
                <a:spcPct val="160000"/>
              </a:lnSpc>
              <a:spcBef>
                <a:spcPts val="800"/>
              </a:spcBef>
            </a:pPr>
            <a:r>
              <a:rPr lang="en-US" sz="1400" b="1" dirty="0">
                <a:solidFill>
                  <a:srgbClr val="2D2D2D"/>
                </a:solidFill>
                <a:latin typeface="Liter" pitchFamily="34" charset="0"/>
                <a:ea typeface="Liter" pitchFamily="34" charset="-122"/>
                <a:cs typeface="Liter" pitchFamily="34" charset="-120"/>
              </a:rPr>
              <a:t>Why UNION ALL</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 Preserves all records including any duplicates</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 Faster than UNION (no duplicate elimination)</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 Appropriate when source tables are distinct</a:t>
            </a:r>
            <a:endParaRPr lang="en-US" sz="1400" dirty="0"/>
          </a:p>
        </p:txBody>
      </p:sp>
      <p:sp>
        <p:nvSpPr>
          <p:cNvPr id="13" name="Shape 11"/>
          <p:cNvSpPr/>
          <p:nvPr/>
        </p:nvSpPr>
        <p:spPr>
          <a:xfrm>
            <a:off x="8255000" y="965200"/>
            <a:ext cx="7366000" cy="279400"/>
          </a:xfrm>
          <a:prstGeom prst="rect">
            <a:avLst/>
          </a:prstGeom>
          <a:solidFill>
            <a:srgbClr val="EBF0F7"/>
          </a:solidFill>
          <a:ln/>
        </p:spPr>
      </p:sp>
      <p:sp>
        <p:nvSpPr>
          <p:cNvPr id="14" name="Shape 12"/>
          <p:cNvSpPr/>
          <p:nvPr/>
        </p:nvSpPr>
        <p:spPr>
          <a:xfrm>
            <a:off x="8255000" y="965200"/>
            <a:ext cx="38100" cy="279400"/>
          </a:xfrm>
          <a:prstGeom prst="rect">
            <a:avLst/>
          </a:prstGeom>
          <a:solidFill>
            <a:srgbClr val="C9963B"/>
          </a:solidFill>
          <a:ln/>
        </p:spPr>
      </p:sp>
      <p:sp>
        <p:nvSpPr>
          <p:cNvPr id="15" name="Text 13"/>
          <p:cNvSpPr/>
          <p:nvPr/>
        </p:nvSpPr>
        <p:spPr>
          <a:xfrm>
            <a:off x="8356600" y="965200"/>
            <a:ext cx="7239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Result and Benefits</a:t>
            </a:r>
            <a:endParaRPr lang="en-US" sz="1300" dirty="0"/>
          </a:p>
        </p:txBody>
      </p:sp>
      <p:sp>
        <p:nvSpPr>
          <p:cNvPr id="16" name="Shape 14"/>
          <p:cNvSpPr/>
          <p:nvPr/>
        </p:nvSpPr>
        <p:spPr>
          <a:xfrm>
            <a:off x="8318500" y="1320800"/>
            <a:ext cx="7239000" cy="1524000"/>
          </a:xfrm>
          <a:prstGeom prst="rect">
            <a:avLst/>
          </a:prstGeom>
          <a:solidFill>
            <a:srgbClr val="EBF0F7"/>
          </a:solidFill>
          <a:ln/>
        </p:spPr>
      </p:sp>
      <p:sp>
        <p:nvSpPr>
          <p:cNvPr id="17" name="Shape 15"/>
          <p:cNvSpPr/>
          <p:nvPr/>
        </p:nvSpPr>
        <p:spPr>
          <a:xfrm>
            <a:off x="8318500" y="1320800"/>
            <a:ext cx="7239000" cy="38100"/>
          </a:xfrm>
          <a:prstGeom prst="rect">
            <a:avLst/>
          </a:prstGeom>
          <a:solidFill>
            <a:srgbClr val="1B3A6B"/>
          </a:solidFill>
          <a:ln/>
        </p:spPr>
      </p:sp>
      <p:sp>
        <p:nvSpPr>
          <p:cNvPr id="18" name="Text 16"/>
          <p:cNvSpPr/>
          <p:nvPr/>
        </p:nvSpPr>
        <p:spPr>
          <a:xfrm>
            <a:off x="8483600" y="1447800"/>
            <a:ext cx="6908800" cy="304800"/>
          </a:xfrm>
          <a:prstGeom prst="rect">
            <a:avLst/>
          </a:prstGeom>
          <a:noFill/>
          <a:ln/>
        </p:spPr>
        <p:txBody>
          <a:bodyPr wrap="none" lIns="0" tIns="0" rIns="0" bIns="0" rtlCol="0" anchor="ctr"/>
          <a:lstStyle/>
          <a:p>
            <a:pPr algn="l">
              <a:lnSpc>
                <a:spcPct val="120000"/>
              </a:lnSpc>
            </a:pPr>
            <a:r>
              <a:rPr lang="en-US" sz="1500" b="1" dirty="0">
                <a:solidFill>
                  <a:srgbClr val="1B3A6B"/>
                </a:solidFill>
                <a:latin typeface="Sorts Mill Goudy" pitchFamily="34" charset="0"/>
                <a:ea typeface="Sorts Mill Goudy" pitchFamily="34" charset="-122"/>
                <a:cs typeface="Sorts Mill Goudy" pitchFamily="34" charset="-120"/>
              </a:rPr>
              <a:t>Single Master Retail Table Created</a:t>
            </a:r>
            <a:endParaRPr lang="en-US" sz="1500" dirty="0"/>
          </a:p>
        </p:txBody>
      </p:sp>
      <p:sp>
        <p:nvSpPr>
          <p:cNvPr id="19" name="Text 17"/>
          <p:cNvSpPr/>
          <p:nvPr/>
        </p:nvSpPr>
        <p:spPr>
          <a:xfrm>
            <a:off x="8483600" y="1803400"/>
            <a:ext cx="6908800" cy="8890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All transactions from both years consolidated into retail_combined table, enabling unified queries across the entire dataset.</a:t>
            </a:r>
            <a:endParaRPr lang="en-US" sz="1300" dirty="0"/>
          </a:p>
        </p:txBody>
      </p:sp>
      <p:sp>
        <p:nvSpPr>
          <p:cNvPr id="20" name="Text 18"/>
          <p:cNvSpPr/>
          <p:nvPr/>
        </p:nvSpPr>
        <p:spPr>
          <a:xfrm>
            <a:off x="8356600" y="3048000"/>
            <a:ext cx="7239000" cy="3048000"/>
          </a:xfrm>
          <a:prstGeom prst="rect">
            <a:avLst/>
          </a:prstGeom>
          <a:noFill/>
          <a:ln/>
        </p:spPr>
        <p:txBody>
          <a:bodyPr wrap="square" lIns="0" tIns="0" rIns="0" bIns="0" rtlCol="0" anchor="t"/>
          <a:lstStyle/>
          <a:p>
            <a:pPr algn="l">
              <a:lnSpc>
                <a:spcPct val="170000"/>
              </a:lnSpc>
            </a:pPr>
            <a:r>
              <a:rPr lang="en-US" sz="1400" b="1" dirty="0">
                <a:solidFill>
                  <a:srgbClr val="2D2D2D"/>
                </a:solidFill>
                <a:latin typeface="Liter" pitchFamily="34" charset="0"/>
                <a:ea typeface="Liter" pitchFamily="34" charset="-122"/>
                <a:cs typeface="Liter" pitchFamily="34" charset="-120"/>
              </a:rPr>
              <a:t>Key Benefits</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 Simplified querying — single table instead of multiple</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 Cross-year trend analysis enabled</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 Consistent schema across all data</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 Foundation for final clean table</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 Easier Power BI integration</a:t>
            </a:r>
            <a:endParaRPr lang="en-US" sz="1400" dirty="0"/>
          </a:p>
        </p:txBody>
      </p:sp>
      <p:sp>
        <p:nvSpPr>
          <p:cNvPr id="21" name="Shape 19"/>
          <p:cNvSpPr/>
          <p:nvPr/>
        </p:nvSpPr>
        <p:spPr>
          <a:xfrm>
            <a:off x="635000" y="8331200"/>
            <a:ext cx="14986000" cy="12700"/>
          </a:xfrm>
          <a:prstGeom prst="rect">
            <a:avLst/>
          </a:prstGeom>
          <a:solidFill>
            <a:srgbClr val="D0D8E4"/>
          </a:solidFill>
          <a:ln/>
        </p:spPr>
      </p:sp>
      <p:sp>
        <p:nvSpPr>
          <p:cNvPr id="22" name="Text 20"/>
          <p:cNvSpPr/>
          <p:nvPr/>
        </p:nvSpPr>
        <p:spPr>
          <a:xfrm>
            <a:off x="15240000" y="8432800"/>
            <a:ext cx="762000" cy="279400"/>
          </a:xfrm>
          <a:prstGeom prst="rect">
            <a:avLst/>
          </a:prstGeom>
          <a:noFill/>
          <a:ln/>
        </p:spPr>
        <p:txBody>
          <a:bodyPr wrap="none" lIns="0" tIns="0" rIns="0" bIns="0" rtlCol="0" anchor="ctr"/>
          <a:lstStyle/>
          <a:p>
            <a:pPr algn="r">
              <a:lnSpc>
                <a:spcPct val="120000"/>
              </a:lnSpc>
            </a:pPr>
            <a:r>
              <a:rPr lang="en-US" sz="1200" dirty="0">
                <a:solidFill>
                  <a:srgbClr val="8899AA"/>
                </a:solidFill>
                <a:latin typeface="MiSans" pitchFamily="34" charset="0"/>
                <a:ea typeface="MiSans" pitchFamily="34" charset="-122"/>
                <a:cs typeface="MiSans" pitchFamily="34" charset="-120"/>
              </a:rPr>
              <a:t>13</a:t>
            </a:r>
            <a:endParaRPr lang="en-US" sz="1200" dirty="0"/>
          </a:p>
        </p:txBody>
      </p:sp>
      <p:pic>
        <p:nvPicPr>
          <p:cNvPr id="23" name="Picture 22">
            <a:extLst>
              <a:ext uri="{FF2B5EF4-FFF2-40B4-BE49-F238E27FC236}">
                <a16:creationId xmlns:a16="http://schemas.microsoft.com/office/drawing/2014/main" id="{76D0EFC2-F2B1-E551-D5FF-E894D7C9665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10355" y="5335905"/>
            <a:ext cx="8505894" cy="3448719"/>
          </a:xfrm>
          <a:prstGeom prst="rect">
            <a:avLst/>
          </a:prstGeom>
          <a:noFill/>
          <a:ln>
            <a:noFill/>
          </a:ln>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1B3A6B"/>
          </a:solidFill>
          <a:ln/>
        </p:spPr>
      </p:sp>
      <p:sp>
        <p:nvSpPr>
          <p:cNvPr id="3" name="Shape 1"/>
          <p:cNvSpPr/>
          <p:nvPr/>
        </p:nvSpPr>
        <p:spPr>
          <a:xfrm>
            <a:off x="635000" y="127000"/>
            <a:ext cx="50800" cy="685800"/>
          </a:xfrm>
          <a:prstGeom prst="rect">
            <a:avLst/>
          </a:prstGeom>
          <a:solidFill>
            <a:srgbClr val="C9963B"/>
          </a:solidFill>
          <a:ln/>
        </p:spPr>
      </p:sp>
      <p:sp>
        <p:nvSpPr>
          <p:cNvPr id="4" name="Text 2"/>
          <p:cNvSpPr/>
          <p:nvPr/>
        </p:nvSpPr>
        <p:spPr>
          <a:xfrm>
            <a:off x="787400" y="152400"/>
            <a:ext cx="14605000" cy="635000"/>
          </a:xfrm>
          <a:prstGeom prst="rect">
            <a:avLst/>
          </a:prstGeom>
          <a:noFill/>
          <a:ln/>
        </p:spPr>
        <p:txBody>
          <a:bodyPr wrap="square" lIns="0" tIns="0" rIns="0" bIns="0" rtlCol="0" anchor="ctr"/>
          <a:lstStyle/>
          <a:p>
            <a:pPr algn="l">
              <a:lnSpc>
                <a:spcPct val="120000"/>
              </a:lnSpc>
            </a:pPr>
            <a:r>
              <a:rPr lang="en-US" sz="2200" b="1" dirty="0">
                <a:solidFill>
                  <a:srgbClr val="0F2647"/>
                </a:solidFill>
                <a:latin typeface="Sorts Mill Goudy" pitchFamily="34" charset="0"/>
                <a:ea typeface="Sorts Mill Goudy" pitchFamily="34" charset="-122"/>
                <a:cs typeface="Sorts Mill Goudy" pitchFamily="34" charset="-120"/>
              </a:rPr>
              <a:t>Clean reporting dataset with computed total_sales column optimized for direct Power BI consumption</a:t>
            </a:r>
            <a:endParaRPr lang="en-US" sz="2200" dirty="0"/>
          </a:p>
        </p:txBody>
      </p:sp>
      <p:sp>
        <p:nvSpPr>
          <p:cNvPr id="5" name="Shape 3"/>
          <p:cNvSpPr/>
          <p:nvPr/>
        </p:nvSpPr>
        <p:spPr>
          <a:xfrm>
            <a:off x="635000" y="863600"/>
            <a:ext cx="14986000" cy="12700"/>
          </a:xfrm>
          <a:prstGeom prst="rect">
            <a:avLst/>
          </a:prstGeom>
          <a:solidFill>
            <a:srgbClr val="D0D8E4"/>
          </a:solidFill>
          <a:ln/>
        </p:spPr>
      </p:sp>
      <p:sp>
        <p:nvSpPr>
          <p:cNvPr id="6" name="Shape 4"/>
          <p:cNvSpPr/>
          <p:nvPr/>
        </p:nvSpPr>
        <p:spPr>
          <a:xfrm>
            <a:off x="635000" y="965200"/>
            <a:ext cx="14986000" cy="279400"/>
          </a:xfrm>
          <a:prstGeom prst="rect">
            <a:avLst/>
          </a:prstGeom>
          <a:solidFill>
            <a:srgbClr val="EBF0F7"/>
          </a:solidFill>
          <a:ln/>
        </p:spPr>
      </p:sp>
      <p:sp>
        <p:nvSpPr>
          <p:cNvPr id="7" name="Shape 5"/>
          <p:cNvSpPr/>
          <p:nvPr/>
        </p:nvSpPr>
        <p:spPr>
          <a:xfrm>
            <a:off x="635000" y="965200"/>
            <a:ext cx="38100" cy="279400"/>
          </a:xfrm>
          <a:prstGeom prst="rect">
            <a:avLst/>
          </a:prstGeom>
          <a:solidFill>
            <a:srgbClr val="C9963B"/>
          </a:solidFill>
          <a:ln/>
        </p:spPr>
      </p:sp>
      <p:sp>
        <p:nvSpPr>
          <p:cNvPr id="8" name="Text 6"/>
          <p:cNvSpPr/>
          <p:nvPr/>
        </p:nvSpPr>
        <p:spPr>
          <a:xfrm>
            <a:off x="736600" y="965200"/>
            <a:ext cx="14859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SQL Query — Final Clean Table</a:t>
            </a:r>
            <a:endParaRPr lang="en-US" sz="1300" dirty="0"/>
          </a:p>
        </p:txBody>
      </p:sp>
      <p:sp>
        <p:nvSpPr>
          <p:cNvPr id="9" name="Shape 7"/>
          <p:cNvSpPr/>
          <p:nvPr/>
        </p:nvSpPr>
        <p:spPr>
          <a:xfrm>
            <a:off x="635000" y="1320800"/>
            <a:ext cx="14986000" cy="2540000"/>
          </a:xfrm>
          <a:prstGeom prst="rect">
            <a:avLst/>
          </a:prstGeom>
          <a:solidFill>
            <a:srgbClr val="EBF0F7"/>
          </a:solidFill>
          <a:ln/>
        </p:spPr>
      </p:sp>
      <p:sp>
        <p:nvSpPr>
          <p:cNvPr id="10" name="Shape 8"/>
          <p:cNvSpPr/>
          <p:nvPr/>
        </p:nvSpPr>
        <p:spPr>
          <a:xfrm>
            <a:off x="635000" y="1320800"/>
            <a:ext cx="50800" cy="2540000"/>
          </a:xfrm>
          <a:prstGeom prst="rect">
            <a:avLst/>
          </a:prstGeom>
          <a:solidFill>
            <a:srgbClr val="C9963B"/>
          </a:solidFill>
          <a:ln/>
        </p:spPr>
      </p:sp>
      <p:sp>
        <p:nvSpPr>
          <p:cNvPr id="11" name="Text 9"/>
          <p:cNvSpPr/>
          <p:nvPr/>
        </p:nvSpPr>
        <p:spPr>
          <a:xfrm>
            <a:off x="812800" y="1397000"/>
            <a:ext cx="14655800" cy="2387600"/>
          </a:xfrm>
          <a:prstGeom prst="rect">
            <a:avLst/>
          </a:prstGeom>
          <a:noFill/>
          <a:ln/>
        </p:spPr>
        <p:txBody>
          <a:bodyPr wrap="square" lIns="0" tIns="0" rIns="0" bIns="0" rtlCol="0" anchor="t"/>
          <a:lstStyle/>
          <a:p>
            <a:pPr algn="l">
              <a:lnSpc>
                <a:spcPct val="150000"/>
              </a:lnSpc>
            </a:pPr>
            <a:r>
              <a:rPr lang="en-US" sz="1200" b="1" dirty="0">
                <a:solidFill>
                  <a:srgbClr val="0F2647"/>
                </a:solidFill>
                <a:latin typeface="Liter" pitchFamily="34" charset="0"/>
                <a:ea typeface="Liter" pitchFamily="34" charset="-122"/>
                <a:cs typeface="Liter" pitchFamily="34" charset="-120"/>
              </a:rPr>
              <a:t>CREATE TABLE</a:t>
            </a:r>
            <a:r>
              <a:rPr lang="en-US" sz="1200" dirty="0">
                <a:solidFill>
                  <a:srgbClr val="0F2647"/>
                </a:solidFill>
                <a:latin typeface="Liter" pitchFamily="34" charset="0"/>
                <a:ea typeface="Liter" pitchFamily="34" charset="-122"/>
                <a:cs typeface="Liter" pitchFamily="34" charset="-120"/>
              </a:rPr>
              <a:t> retail_final_clean </a:t>
            </a:r>
            <a:r>
              <a:rPr lang="en-US" sz="1200" b="1" dirty="0">
                <a:solidFill>
                  <a:srgbClr val="0F2647"/>
                </a:solidFill>
                <a:latin typeface="Liter" pitchFamily="34" charset="0"/>
                <a:ea typeface="Liter" pitchFamily="34" charset="-122"/>
                <a:cs typeface="Liter" pitchFamily="34" charset="-120"/>
              </a:rPr>
              <a:t>AS</a:t>
            </a:r>
            <a:endParaRPr lang="en-US" sz="1200" dirty="0"/>
          </a:p>
          <a:p>
            <a:pPr algn="l">
              <a:lnSpc>
                <a:spcPct val="150000"/>
              </a:lnSpc>
            </a:pPr>
            <a:r>
              <a:rPr lang="en-US" sz="1200" b="1" dirty="0">
                <a:solidFill>
                  <a:srgbClr val="0F2647"/>
                </a:solidFill>
                <a:latin typeface="Liter" pitchFamily="34" charset="0"/>
                <a:ea typeface="Liter" pitchFamily="34" charset="-122"/>
                <a:cs typeface="Liter" pitchFamily="34" charset="-120"/>
              </a:rPr>
              <a:t>SELECT</a:t>
            </a:r>
            <a:endParaRPr lang="en-US" sz="1200" dirty="0"/>
          </a:p>
          <a:p>
            <a:pPr algn="l">
              <a:lnSpc>
                <a:spcPct val="150000"/>
              </a:lnSpc>
            </a:pPr>
            <a:r>
              <a:rPr lang="en-US" sz="1200" dirty="0">
                <a:solidFill>
                  <a:srgbClr val="0F2647"/>
                </a:solidFill>
                <a:latin typeface="Liter" pitchFamily="34" charset="0"/>
                <a:ea typeface="Liter" pitchFamily="34" charset="-122"/>
                <a:cs typeface="Liter" pitchFamily="34" charset="-120"/>
              </a:rPr>
              <a:t>    Invoice, StockCode, Description, Quantity,</a:t>
            </a:r>
            <a:endParaRPr lang="en-US" sz="1200" dirty="0"/>
          </a:p>
          <a:p>
            <a:pPr algn="l">
              <a:lnSpc>
                <a:spcPct val="150000"/>
              </a:lnSpc>
            </a:pPr>
            <a:r>
              <a:rPr lang="en-US" sz="1200" dirty="0">
                <a:solidFill>
                  <a:srgbClr val="0F2647"/>
                </a:solidFill>
                <a:latin typeface="Liter" pitchFamily="34" charset="0"/>
                <a:ea typeface="Liter" pitchFamily="34" charset="-122"/>
                <a:cs typeface="Liter" pitchFamily="34" charset="-120"/>
              </a:rPr>
              <a:t>    InvoiceDate, Price, CustomerID, Country,</a:t>
            </a:r>
            <a:endParaRPr lang="en-US" sz="1200" dirty="0"/>
          </a:p>
          <a:p>
            <a:pPr algn="l">
              <a:lnSpc>
                <a:spcPct val="150000"/>
              </a:lnSpc>
            </a:pPr>
            <a:r>
              <a:rPr lang="en-US" sz="1200" dirty="0">
                <a:solidFill>
                  <a:srgbClr val="0F2647"/>
                </a:solidFill>
                <a:latin typeface="Liter" pitchFamily="34" charset="0"/>
                <a:ea typeface="Liter" pitchFamily="34" charset="-122"/>
                <a:cs typeface="Liter" pitchFamily="34" charset="-120"/>
              </a:rPr>
              <a:t>    (Quantity * Price) </a:t>
            </a:r>
            <a:r>
              <a:rPr lang="en-US" sz="1200" b="1" dirty="0">
                <a:solidFill>
                  <a:srgbClr val="0F2647"/>
                </a:solidFill>
                <a:latin typeface="Liter" pitchFamily="34" charset="0"/>
                <a:ea typeface="Liter" pitchFamily="34" charset="-122"/>
                <a:cs typeface="Liter" pitchFamily="34" charset="-120"/>
              </a:rPr>
              <a:t>AS</a:t>
            </a:r>
            <a:r>
              <a:rPr lang="en-US" sz="1200" dirty="0">
                <a:solidFill>
                  <a:srgbClr val="0F2647"/>
                </a:solidFill>
                <a:latin typeface="Liter" pitchFamily="34" charset="0"/>
                <a:ea typeface="Liter" pitchFamily="34" charset="-122"/>
                <a:cs typeface="Liter" pitchFamily="34" charset="-120"/>
              </a:rPr>
              <a:t> total_sales</a:t>
            </a:r>
            <a:endParaRPr lang="en-US" sz="1200" dirty="0"/>
          </a:p>
          <a:p>
            <a:pPr algn="l">
              <a:lnSpc>
                <a:spcPct val="150000"/>
              </a:lnSpc>
            </a:pPr>
            <a:r>
              <a:rPr lang="en-US" sz="1200" b="1" dirty="0">
                <a:solidFill>
                  <a:srgbClr val="0F2647"/>
                </a:solidFill>
                <a:latin typeface="Liter" pitchFamily="34" charset="0"/>
                <a:ea typeface="Liter" pitchFamily="34" charset="-122"/>
                <a:cs typeface="Liter" pitchFamily="34" charset="-120"/>
              </a:rPr>
              <a:t>FROM</a:t>
            </a:r>
            <a:r>
              <a:rPr lang="en-US" sz="1200" dirty="0">
                <a:solidFill>
                  <a:srgbClr val="0F2647"/>
                </a:solidFill>
                <a:latin typeface="Liter" pitchFamily="34" charset="0"/>
                <a:ea typeface="Liter" pitchFamily="34" charset="-122"/>
                <a:cs typeface="Liter" pitchFamily="34" charset="-120"/>
              </a:rPr>
              <a:t> retail_combined</a:t>
            </a:r>
            <a:endParaRPr lang="en-US" sz="1200" dirty="0"/>
          </a:p>
          <a:p>
            <a:pPr algn="l">
              <a:lnSpc>
                <a:spcPct val="150000"/>
              </a:lnSpc>
            </a:pPr>
            <a:r>
              <a:rPr lang="en-US" sz="1200" b="1" dirty="0">
                <a:solidFill>
                  <a:srgbClr val="0F2647"/>
                </a:solidFill>
                <a:latin typeface="Liter" pitchFamily="34" charset="0"/>
                <a:ea typeface="Liter" pitchFamily="34" charset="-122"/>
                <a:cs typeface="Liter" pitchFamily="34" charset="-120"/>
              </a:rPr>
              <a:t>WHERE</a:t>
            </a:r>
            <a:r>
              <a:rPr lang="en-US" sz="1200" dirty="0">
                <a:solidFill>
                  <a:srgbClr val="0F2647"/>
                </a:solidFill>
                <a:latin typeface="Liter" pitchFamily="34" charset="0"/>
                <a:ea typeface="Liter" pitchFamily="34" charset="-122"/>
                <a:cs typeface="Liter" pitchFamily="34" charset="-120"/>
              </a:rPr>
              <a:t> Quantity &gt; 0 </a:t>
            </a:r>
            <a:r>
              <a:rPr lang="en-US" sz="1200" b="1" dirty="0">
                <a:solidFill>
                  <a:srgbClr val="0F2647"/>
                </a:solidFill>
                <a:latin typeface="Liter" pitchFamily="34" charset="0"/>
                <a:ea typeface="Liter" pitchFamily="34" charset="-122"/>
                <a:cs typeface="Liter" pitchFamily="34" charset="-120"/>
              </a:rPr>
              <a:t>AND</a:t>
            </a:r>
            <a:r>
              <a:rPr lang="en-US" sz="1200" dirty="0">
                <a:solidFill>
                  <a:srgbClr val="0F2647"/>
                </a:solidFill>
                <a:latin typeface="Liter" pitchFamily="34" charset="0"/>
                <a:ea typeface="Liter" pitchFamily="34" charset="-122"/>
                <a:cs typeface="Liter" pitchFamily="34" charset="-120"/>
              </a:rPr>
              <a:t> Price &gt; 0 </a:t>
            </a:r>
            <a:r>
              <a:rPr lang="en-US" sz="1200" b="1" dirty="0">
                <a:solidFill>
                  <a:srgbClr val="0F2647"/>
                </a:solidFill>
                <a:latin typeface="Liter" pitchFamily="34" charset="0"/>
                <a:ea typeface="Liter" pitchFamily="34" charset="-122"/>
                <a:cs typeface="Liter" pitchFamily="34" charset="-120"/>
              </a:rPr>
              <a:t>AND</a:t>
            </a:r>
            <a:r>
              <a:rPr lang="en-US" sz="1200" dirty="0">
                <a:solidFill>
                  <a:srgbClr val="0F2647"/>
                </a:solidFill>
                <a:latin typeface="Liter" pitchFamily="34" charset="0"/>
                <a:ea typeface="Liter" pitchFamily="34" charset="-122"/>
                <a:cs typeface="Liter" pitchFamily="34" charset="-120"/>
              </a:rPr>
              <a:t> CustomerID </a:t>
            </a:r>
            <a:r>
              <a:rPr lang="en-US" sz="1200" b="1" dirty="0">
                <a:solidFill>
                  <a:srgbClr val="0F2647"/>
                </a:solidFill>
                <a:latin typeface="Liter" pitchFamily="34" charset="0"/>
                <a:ea typeface="Liter" pitchFamily="34" charset="-122"/>
                <a:cs typeface="Liter" pitchFamily="34" charset="-120"/>
              </a:rPr>
              <a:t>IS NOT NULL</a:t>
            </a:r>
            <a:r>
              <a:rPr lang="en-US" sz="1200" dirty="0">
                <a:solidFill>
                  <a:srgbClr val="0F2647"/>
                </a:solidFill>
                <a:latin typeface="Liter" pitchFamily="34" charset="0"/>
                <a:ea typeface="Liter" pitchFamily="34" charset="-122"/>
                <a:cs typeface="Liter" pitchFamily="34" charset="-120"/>
              </a:rPr>
              <a:t>;</a:t>
            </a:r>
            <a:endParaRPr lang="en-US" sz="1200" dirty="0"/>
          </a:p>
        </p:txBody>
      </p:sp>
      <p:sp>
        <p:nvSpPr>
          <p:cNvPr id="12" name="Shape 10"/>
          <p:cNvSpPr/>
          <p:nvPr/>
        </p:nvSpPr>
        <p:spPr>
          <a:xfrm>
            <a:off x="635000" y="4013200"/>
            <a:ext cx="7366000" cy="279400"/>
          </a:xfrm>
          <a:prstGeom prst="rect">
            <a:avLst/>
          </a:prstGeom>
          <a:solidFill>
            <a:srgbClr val="EBF0F7"/>
          </a:solidFill>
          <a:ln/>
        </p:spPr>
      </p:sp>
      <p:sp>
        <p:nvSpPr>
          <p:cNvPr id="13" name="Shape 11"/>
          <p:cNvSpPr/>
          <p:nvPr/>
        </p:nvSpPr>
        <p:spPr>
          <a:xfrm>
            <a:off x="635000" y="4013200"/>
            <a:ext cx="38100" cy="279400"/>
          </a:xfrm>
          <a:prstGeom prst="rect">
            <a:avLst/>
          </a:prstGeom>
          <a:solidFill>
            <a:srgbClr val="C9963B"/>
          </a:solidFill>
          <a:ln/>
        </p:spPr>
      </p:sp>
      <p:sp>
        <p:nvSpPr>
          <p:cNvPr id="16" name="Shape 13"/>
          <p:cNvSpPr/>
          <p:nvPr/>
        </p:nvSpPr>
        <p:spPr>
          <a:xfrm>
            <a:off x="8255000" y="4013200"/>
            <a:ext cx="7366000" cy="279400"/>
          </a:xfrm>
          <a:prstGeom prst="rect">
            <a:avLst/>
          </a:prstGeom>
          <a:solidFill>
            <a:srgbClr val="EBF0F7"/>
          </a:solidFill>
          <a:ln/>
        </p:spPr>
      </p:sp>
      <p:sp>
        <p:nvSpPr>
          <p:cNvPr id="17" name="Shape 14"/>
          <p:cNvSpPr/>
          <p:nvPr/>
        </p:nvSpPr>
        <p:spPr>
          <a:xfrm>
            <a:off x="8255000" y="4013200"/>
            <a:ext cx="38100" cy="279400"/>
          </a:xfrm>
          <a:prstGeom prst="rect">
            <a:avLst/>
          </a:prstGeom>
          <a:solidFill>
            <a:srgbClr val="C9963B"/>
          </a:solidFill>
          <a:ln/>
        </p:spPr>
      </p:sp>
      <p:sp>
        <p:nvSpPr>
          <p:cNvPr id="18" name="Text 15"/>
          <p:cNvSpPr/>
          <p:nvPr/>
        </p:nvSpPr>
        <p:spPr>
          <a:xfrm>
            <a:off x="8356600" y="4013200"/>
            <a:ext cx="7239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Benefits</a:t>
            </a:r>
            <a:endParaRPr lang="en-US" sz="1300" dirty="0"/>
          </a:p>
        </p:txBody>
      </p:sp>
      <p:sp>
        <p:nvSpPr>
          <p:cNvPr id="19" name="Text 16"/>
          <p:cNvSpPr/>
          <p:nvPr/>
        </p:nvSpPr>
        <p:spPr>
          <a:xfrm>
            <a:off x="8356600" y="4394200"/>
            <a:ext cx="7239000" cy="3810000"/>
          </a:xfrm>
          <a:prstGeom prst="rect">
            <a:avLst/>
          </a:prstGeom>
          <a:noFill/>
          <a:ln/>
        </p:spPr>
        <p:txBody>
          <a:bodyPr wrap="square" lIns="0" tIns="0" rIns="0" bIns="0" rtlCol="0" anchor="t"/>
          <a:lstStyle/>
          <a:p>
            <a:pPr algn="l">
              <a:lnSpc>
                <a:spcPct val="170000"/>
              </a:lnSpc>
            </a:pPr>
            <a:r>
              <a:rPr lang="en-US" sz="1400" b="1" dirty="0">
                <a:solidFill>
                  <a:srgbClr val="2D2D2D"/>
                </a:solidFill>
                <a:latin typeface="Liter" pitchFamily="34" charset="0"/>
                <a:ea typeface="Liter" pitchFamily="34" charset="-122"/>
                <a:cs typeface="Liter" pitchFamily="34" charset="-120"/>
              </a:rPr>
              <a:t>Optimized for Power BI</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 Pre-computed total_sales eliminates need for calculated columns in Power BI</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 Clean datatypes enable direct import without conversion</a:t>
            </a:r>
            <a:endParaRPr lang="en-US" sz="1400" dirty="0"/>
          </a:p>
          <a:p>
            <a:pPr algn="l">
              <a:lnSpc>
                <a:spcPct val="170000"/>
              </a:lnSpc>
              <a:spcBef>
                <a:spcPts val="800"/>
              </a:spcBef>
            </a:pPr>
            <a:r>
              <a:rPr lang="en-US" sz="1400" b="1" dirty="0">
                <a:solidFill>
                  <a:srgbClr val="2D2D2D"/>
                </a:solidFill>
                <a:latin typeface="Liter" pitchFamily="34" charset="0"/>
                <a:ea typeface="Liter" pitchFamily="34" charset="-122"/>
                <a:cs typeface="Liter" pitchFamily="34" charset="-120"/>
              </a:rPr>
              <a:t>Business-Ready Dataset</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 All invalid records filtered out at source</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 Complete customer and product information</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 Geographic data for regional analysis</a:t>
            </a:r>
            <a:endParaRPr lang="en-US" sz="1400" dirty="0"/>
          </a:p>
          <a:p>
            <a:pPr algn="l">
              <a:lnSpc>
                <a:spcPct val="170000"/>
              </a:lnSpc>
              <a:spcBef>
                <a:spcPts val="800"/>
              </a:spcBef>
            </a:pPr>
            <a:r>
              <a:rPr lang="en-US" sz="1400" b="1" dirty="0">
                <a:solidFill>
                  <a:srgbClr val="2D2D2D"/>
                </a:solidFill>
                <a:latin typeface="Liter" pitchFamily="34" charset="0"/>
                <a:ea typeface="Liter" pitchFamily="34" charset="-122"/>
                <a:cs typeface="Liter" pitchFamily="34" charset="-120"/>
              </a:rPr>
              <a:t>Query Efficiency</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 Single table simplifies all analytical queries</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 WHERE clause ensures data quality at creation</a:t>
            </a:r>
            <a:endParaRPr lang="en-US" sz="1400" dirty="0"/>
          </a:p>
        </p:txBody>
      </p:sp>
      <p:sp>
        <p:nvSpPr>
          <p:cNvPr id="20" name="Shape 17"/>
          <p:cNvSpPr/>
          <p:nvPr/>
        </p:nvSpPr>
        <p:spPr>
          <a:xfrm>
            <a:off x="635000" y="8331200"/>
            <a:ext cx="14986000" cy="12700"/>
          </a:xfrm>
          <a:prstGeom prst="rect">
            <a:avLst/>
          </a:prstGeom>
          <a:solidFill>
            <a:srgbClr val="D0D8E4"/>
          </a:solidFill>
          <a:ln/>
        </p:spPr>
      </p:sp>
      <p:sp>
        <p:nvSpPr>
          <p:cNvPr id="21" name="Text 18"/>
          <p:cNvSpPr/>
          <p:nvPr/>
        </p:nvSpPr>
        <p:spPr>
          <a:xfrm>
            <a:off x="15240000" y="8432800"/>
            <a:ext cx="762000" cy="279400"/>
          </a:xfrm>
          <a:prstGeom prst="rect">
            <a:avLst/>
          </a:prstGeom>
          <a:noFill/>
          <a:ln/>
        </p:spPr>
        <p:txBody>
          <a:bodyPr wrap="none" lIns="0" tIns="0" rIns="0" bIns="0" rtlCol="0" anchor="ctr"/>
          <a:lstStyle/>
          <a:p>
            <a:pPr algn="r">
              <a:lnSpc>
                <a:spcPct val="120000"/>
              </a:lnSpc>
            </a:pPr>
            <a:r>
              <a:rPr lang="en-US" sz="1200" dirty="0">
                <a:solidFill>
                  <a:srgbClr val="8899AA"/>
                </a:solidFill>
                <a:latin typeface="MiSans" pitchFamily="34" charset="0"/>
                <a:ea typeface="MiSans" pitchFamily="34" charset="-122"/>
                <a:cs typeface="MiSans" pitchFamily="34" charset="-120"/>
              </a:rPr>
              <a:t>14</a:t>
            </a:r>
            <a:endParaRPr lang="en-US" sz="12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0F2647"/>
        </a:solidFill>
        <a:effectLst/>
      </p:bgPr>
    </p:bg>
    <p:spTree>
      <p:nvGrpSpPr>
        <p:cNvPr id="1" name=""/>
        <p:cNvGrpSpPr/>
        <p:nvPr/>
      </p:nvGrpSpPr>
      <p:grpSpPr>
        <a:xfrm>
          <a:off x="0" y="0"/>
          <a:ext cx="0" cy="0"/>
          <a:chOff x="0" y="0"/>
          <a:chExt cx="0" cy="0"/>
        </a:xfrm>
      </p:grpSpPr>
      <p:sp>
        <p:nvSpPr>
          <p:cNvPr id="2" name="Shape 0"/>
          <p:cNvSpPr/>
          <p:nvPr/>
        </p:nvSpPr>
        <p:spPr>
          <a:xfrm>
            <a:off x="0" y="0"/>
            <a:ext cx="16256000" cy="63500"/>
          </a:xfrm>
          <a:prstGeom prst="rect">
            <a:avLst/>
          </a:prstGeom>
          <a:solidFill>
            <a:srgbClr val="C9963B"/>
          </a:solidFill>
          <a:ln/>
        </p:spPr>
      </p:sp>
      <p:sp>
        <p:nvSpPr>
          <p:cNvPr id="3" name="Text 1"/>
          <p:cNvSpPr/>
          <p:nvPr/>
        </p:nvSpPr>
        <p:spPr>
          <a:xfrm>
            <a:off x="10414000" y="2794000"/>
            <a:ext cx="5588000" cy="2540000"/>
          </a:xfrm>
          <a:prstGeom prst="rect">
            <a:avLst/>
          </a:prstGeom>
          <a:noFill/>
          <a:ln/>
        </p:spPr>
        <p:txBody>
          <a:bodyPr wrap="none" lIns="0" tIns="0" rIns="0" bIns="0" rtlCol="0" anchor="ctr"/>
          <a:lstStyle/>
          <a:p>
            <a:pPr algn="l">
              <a:lnSpc>
                <a:spcPct val="120000"/>
              </a:lnSpc>
            </a:pPr>
            <a:r>
              <a:rPr lang="en-US" sz="18000" b="1" dirty="0">
                <a:solidFill>
                  <a:srgbClr val="FFFFFF">
                    <a:alpha val="10196"/>
                  </a:srgbClr>
                </a:solidFill>
                <a:latin typeface="Sorts Mill Goudy" pitchFamily="34" charset="0"/>
                <a:ea typeface="Sorts Mill Goudy" pitchFamily="34" charset="-122"/>
                <a:cs typeface="Sorts Mill Goudy" pitchFamily="34" charset="-120"/>
              </a:rPr>
              <a:t>02</a:t>
            </a:r>
            <a:endParaRPr lang="en-US" sz="18000" dirty="0"/>
          </a:p>
        </p:txBody>
      </p:sp>
      <p:sp>
        <p:nvSpPr>
          <p:cNvPr id="4" name="Text 2"/>
          <p:cNvSpPr/>
          <p:nvPr/>
        </p:nvSpPr>
        <p:spPr>
          <a:xfrm>
            <a:off x="1016000" y="2540000"/>
            <a:ext cx="7620000" cy="330200"/>
          </a:xfrm>
          <a:prstGeom prst="rect">
            <a:avLst/>
          </a:prstGeom>
          <a:noFill/>
          <a:ln/>
        </p:spPr>
        <p:txBody>
          <a:bodyPr wrap="none" lIns="0" tIns="0" rIns="0" bIns="0" rtlCol="0" anchor="ctr"/>
          <a:lstStyle/>
          <a:p>
            <a:pPr algn="l">
              <a:lnSpc>
                <a:spcPct val="120000"/>
              </a:lnSpc>
            </a:pPr>
            <a:r>
              <a:rPr lang="en-US" sz="1300" kern="0" spc="200" dirty="0">
                <a:solidFill>
                  <a:srgbClr val="FFFFFF">
                    <a:alpha val="53333"/>
                  </a:srgbClr>
                </a:solidFill>
                <a:latin typeface="Liter" pitchFamily="34" charset="0"/>
                <a:ea typeface="Liter" pitchFamily="34" charset="-122"/>
                <a:cs typeface="Liter" pitchFamily="34" charset="-120"/>
              </a:rPr>
              <a:t>CHAPTER 02</a:t>
            </a:r>
            <a:endParaRPr lang="en-US" sz="1300" dirty="0"/>
          </a:p>
        </p:txBody>
      </p:sp>
      <p:sp>
        <p:nvSpPr>
          <p:cNvPr id="5" name="Shape 3"/>
          <p:cNvSpPr/>
          <p:nvPr/>
        </p:nvSpPr>
        <p:spPr>
          <a:xfrm>
            <a:off x="1016000" y="3048000"/>
            <a:ext cx="1524000" cy="25400"/>
          </a:xfrm>
          <a:prstGeom prst="rect">
            <a:avLst/>
          </a:prstGeom>
          <a:solidFill>
            <a:srgbClr val="C9963B"/>
          </a:solidFill>
          <a:ln/>
        </p:spPr>
      </p:sp>
      <p:sp>
        <p:nvSpPr>
          <p:cNvPr id="6" name="Text 4"/>
          <p:cNvSpPr/>
          <p:nvPr/>
        </p:nvSpPr>
        <p:spPr>
          <a:xfrm>
            <a:off x="1016000" y="3302000"/>
            <a:ext cx="11430000" cy="889000"/>
          </a:xfrm>
          <a:prstGeom prst="rect">
            <a:avLst/>
          </a:prstGeom>
          <a:noFill/>
          <a:ln/>
        </p:spPr>
        <p:txBody>
          <a:bodyPr wrap="square" lIns="0" tIns="0" rIns="0" bIns="0" rtlCol="0" anchor="ctr"/>
          <a:lstStyle/>
          <a:p>
            <a:pPr algn="l">
              <a:lnSpc>
                <a:spcPct val="120000"/>
              </a:lnSpc>
            </a:pPr>
            <a:r>
              <a:rPr lang="en-US" sz="4000" b="1" dirty="0">
                <a:solidFill>
                  <a:srgbClr val="FFFFFF"/>
                </a:solidFill>
                <a:latin typeface="Sorts Mill Goudy" pitchFamily="34" charset="0"/>
                <a:ea typeface="Sorts Mill Goudy" pitchFamily="34" charset="-122"/>
                <a:cs typeface="Sorts Mill Goudy" pitchFamily="34" charset="-120"/>
              </a:rPr>
              <a:t>Analysis &amp; Measures</a:t>
            </a:r>
            <a:endParaRPr lang="en-US" sz="4000" dirty="0"/>
          </a:p>
        </p:txBody>
      </p:sp>
      <p:sp>
        <p:nvSpPr>
          <p:cNvPr id="7" name="Text 5"/>
          <p:cNvSpPr/>
          <p:nvPr/>
        </p:nvSpPr>
        <p:spPr>
          <a:xfrm>
            <a:off x="1016000" y="4318000"/>
            <a:ext cx="8890000" cy="355600"/>
          </a:xfrm>
          <a:prstGeom prst="rect">
            <a:avLst/>
          </a:prstGeom>
          <a:noFill/>
          <a:ln/>
        </p:spPr>
        <p:txBody>
          <a:bodyPr wrap="none" lIns="0" tIns="0" rIns="0" bIns="0" rtlCol="0" anchor="ctr"/>
          <a:lstStyle/>
          <a:p>
            <a:pPr algn="l">
              <a:lnSpc>
                <a:spcPct val="120000"/>
              </a:lnSpc>
            </a:pPr>
            <a:r>
              <a:rPr lang="en-US" sz="2000" dirty="0">
                <a:solidFill>
                  <a:srgbClr val="FFFFFF">
                    <a:alpha val="73333"/>
                  </a:srgbClr>
                </a:solidFill>
                <a:latin typeface="Liter" pitchFamily="34" charset="0"/>
                <a:ea typeface="Liter" pitchFamily="34" charset="-122"/>
                <a:cs typeface="Liter" pitchFamily="34" charset="-120"/>
              </a:rPr>
              <a:t>SQL Queries, Power BI Import, and DAX Measures</a:t>
            </a:r>
            <a:endParaRPr lang="en-US" sz="2000" dirty="0"/>
          </a:p>
        </p:txBody>
      </p:sp>
      <p:sp>
        <p:nvSpPr>
          <p:cNvPr id="8" name="Text 6"/>
          <p:cNvSpPr/>
          <p:nvPr/>
        </p:nvSpPr>
        <p:spPr>
          <a:xfrm>
            <a:off x="1016000" y="4953000"/>
            <a:ext cx="9906000" cy="1143000"/>
          </a:xfrm>
          <a:prstGeom prst="rect">
            <a:avLst/>
          </a:prstGeom>
          <a:noFill/>
          <a:ln/>
        </p:spPr>
        <p:txBody>
          <a:bodyPr wrap="square" lIns="0" tIns="0" rIns="0" bIns="0" rtlCol="0" anchor="t"/>
          <a:lstStyle/>
          <a:p>
            <a:pPr algn="l">
              <a:lnSpc>
                <a:spcPct val="160000"/>
              </a:lnSpc>
            </a:pPr>
            <a:r>
              <a:rPr lang="en-US" sz="1700" dirty="0">
                <a:solidFill>
                  <a:srgbClr val="FFFFFF">
                    <a:alpha val="66667"/>
                  </a:srgbClr>
                </a:solidFill>
                <a:latin typeface="Liter" pitchFamily="34" charset="0"/>
                <a:ea typeface="Liter" pitchFamily="34" charset="-122"/>
                <a:cs typeface="Liter" pitchFamily="34" charset="-120"/>
              </a:rPr>
              <a:t>Performing multi-dimensional SQL analysis, transferring cleaned data to Power BI via TSV, and creating DAX measures for interactive dashboard KPIs.</a:t>
            </a:r>
            <a:endParaRPr lang="en-US" sz="1700" dirty="0"/>
          </a:p>
        </p:txBody>
      </p:sp>
      <p:sp>
        <p:nvSpPr>
          <p:cNvPr id="9" name="Shape 7"/>
          <p:cNvSpPr/>
          <p:nvPr/>
        </p:nvSpPr>
        <p:spPr>
          <a:xfrm>
            <a:off x="0" y="9080500"/>
            <a:ext cx="16256000" cy="63500"/>
          </a:xfrm>
          <a:prstGeom prst="rect">
            <a:avLst/>
          </a:prstGeom>
          <a:solidFill>
            <a:srgbClr val="C9963B"/>
          </a:solidFill>
          <a:ln/>
        </p:spPr>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1B3A6B"/>
          </a:solidFill>
          <a:ln/>
        </p:spPr>
      </p:sp>
      <p:sp>
        <p:nvSpPr>
          <p:cNvPr id="3" name="Shape 1"/>
          <p:cNvSpPr/>
          <p:nvPr/>
        </p:nvSpPr>
        <p:spPr>
          <a:xfrm>
            <a:off x="635000" y="127000"/>
            <a:ext cx="50800" cy="685800"/>
          </a:xfrm>
          <a:prstGeom prst="rect">
            <a:avLst/>
          </a:prstGeom>
          <a:solidFill>
            <a:srgbClr val="C9963B"/>
          </a:solidFill>
          <a:ln/>
        </p:spPr>
      </p:sp>
      <p:sp>
        <p:nvSpPr>
          <p:cNvPr id="4" name="Text 2"/>
          <p:cNvSpPr/>
          <p:nvPr/>
        </p:nvSpPr>
        <p:spPr>
          <a:xfrm>
            <a:off x="787400" y="152400"/>
            <a:ext cx="14605000" cy="635000"/>
          </a:xfrm>
          <a:prstGeom prst="rect">
            <a:avLst/>
          </a:prstGeom>
          <a:noFill/>
          <a:ln/>
        </p:spPr>
        <p:txBody>
          <a:bodyPr wrap="square" lIns="0" tIns="0" rIns="0" bIns="0" rtlCol="0" anchor="ctr"/>
          <a:lstStyle/>
          <a:p>
            <a:pPr algn="l">
              <a:lnSpc>
                <a:spcPct val="120000"/>
              </a:lnSpc>
            </a:pPr>
            <a:r>
              <a:rPr lang="en-US" sz="2000" b="1" dirty="0">
                <a:solidFill>
                  <a:srgbClr val="0F2647"/>
                </a:solidFill>
                <a:latin typeface="Sorts Mill Goudy" pitchFamily="34" charset="0"/>
                <a:ea typeface="Sorts Mill Goudy" pitchFamily="34" charset="-122"/>
                <a:cs typeface="Sorts Mill Goudy" pitchFamily="34" charset="-120"/>
              </a:rPr>
              <a:t>Multi-dimensional SQL analysis uncovered revenue patterns, top products, country performance, and customer segments</a:t>
            </a:r>
            <a:endParaRPr lang="en-US" sz="2000" dirty="0"/>
          </a:p>
        </p:txBody>
      </p:sp>
      <p:sp>
        <p:nvSpPr>
          <p:cNvPr id="5" name="Shape 3"/>
          <p:cNvSpPr/>
          <p:nvPr/>
        </p:nvSpPr>
        <p:spPr>
          <a:xfrm>
            <a:off x="635000" y="863600"/>
            <a:ext cx="14986000" cy="12700"/>
          </a:xfrm>
          <a:prstGeom prst="rect">
            <a:avLst/>
          </a:prstGeom>
          <a:solidFill>
            <a:srgbClr val="D0D8E4"/>
          </a:solidFill>
          <a:ln/>
        </p:spPr>
      </p:sp>
      <p:sp>
        <p:nvSpPr>
          <p:cNvPr id="6" name="Shape 4"/>
          <p:cNvSpPr/>
          <p:nvPr/>
        </p:nvSpPr>
        <p:spPr>
          <a:xfrm>
            <a:off x="635000" y="965200"/>
            <a:ext cx="7493000" cy="279400"/>
          </a:xfrm>
          <a:prstGeom prst="rect">
            <a:avLst/>
          </a:prstGeom>
          <a:solidFill>
            <a:srgbClr val="EBF0F7"/>
          </a:solidFill>
          <a:ln/>
        </p:spPr>
      </p:sp>
      <p:sp>
        <p:nvSpPr>
          <p:cNvPr id="7" name="Shape 5"/>
          <p:cNvSpPr/>
          <p:nvPr/>
        </p:nvSpPr>
        <p:spPr>
          <a:xfrm>
            <a:off x="635000" y="965200"/>
            <a:ext cx="38100" cy="279400"/>
          </a:xfrm>
          <a:prstGeom prst="rect">
            <a:avLst/>
          </a:prstGeom>
          <a:solidFill>
            <a:srgbClr val="C9963B"/>
          </a:solidFill>
          <a:ln/>
        </p:spPr>
      </p:sp>
      <p:sp>
        <p:nvSpPr>
          <p:cNvPr id="8" name="Text 6"/>
          <p:cNvSpPr/>
          <p:nvPr/>
        </p:nvSpPr>
        <p:spPr>
          <a:xfrm>
            <a:off x="736600" y="965200"/>
            <a:ext cx="7366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Analysis Areas Covered</a:t>
            </a:r>
            <a:endParaRPr lang="en-US" sz="1300" dirty="0"/>
          </a:p>
        </p:txBody>
      </p:sp>
      <p:sp>
        <p:nvSpPr>
          <p:cNvPr id="9" name="Text 7"/>
          <p:cNvSpPr/>
          <p:nvPr/>
        </p:nvSpPr>
        <p:spPr>
          <a:xfrm>
            <a:off x="736600" y="1320800"/>
            <a:ext cx="7264400" cy="4318000"/>
          </a:xfrm>
          <a:prstGeom prst="rect">
            <a:avLst/>
          </a:prstGeom>
          <a:noFill/>
          <a:ln/>
        </p:spPr>
        <p:txBody>
          <a:bodyPr wrap="square" lIns="0" tIns="0" rIns="0" bIns="0" rtlCol="0" anchor="t"/>
          <a:lstStyle/>
          <a:p>
            <a:pPr algn="l">
              <a:lnSpc>
                <a:spcPct val="170000"/>
              </a:lnSpc>
            </a:pPr>
            <a:r>
              <a:rPr lang="en-US" sz="1400" b="1" dirty="0">
                <a:solidFill>
                  <a:srgbClr val="2D2D2D"/>
                </a:solidFill>
                <a:latin typeface="Liter" pitchFamily="34" charset="0"/>
                <a:ea typeface="Liter" pitchFamily="34" charset="-122"/>
                <a:cs typeface="Liter" pitchFamily="34" charset="-120"/>
              </a:rPr>
              <a:t>1. Total Revenue Analysis</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 Overall revenue calculation across all transactions</a:t>
            </a:r>
            <a:endParaRPr lang="en-US" sz="1400" dirty="0"/>
          </a:p>
          <a:p>
            <a:pPr algn="l">
              <a:lnSpc>
                <a:spcPct val="170000"/>
              </a:lnSpc>
              <a:spcBef>
                <a:spcPts val="800"/>
              </a:spcBef>
            </a:pPr>
            <a:r>
              <a:rPr lang="en-US" sz="1400" b="1" dirty="0">
                <a:solidFill>
                  <a:srgbClr val="2D2D2D"/>
                </a:solidFill>
                <a:latin typeface="Liter" pitchFamily="34" charset="0"/>
                <a:ea typeface="Liter" pitchFamily="34" charset="-122"/>
                <a:cs typeface="Liter" pitchFamily="34" charset="-120"/>
              </a:rPr>
              <a:t>2. Top Products Identification</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 Best-selling products by revenue and quantity</a:t>
            </a:r>
            <a:endParaRPr lang="en-US" sz="1400" dirty="0"/>
          </a:p>
          <a:p>
            <a:pPr algn="l">
              <a:lnSpc>
                <a:spcPct val="170000"/>
              </a:lnSpc>
              <a:spcBef>
                <a:spcPts val="800"/>
              </a:spcBef>
            </a:pPr>
            <a:r>
              <a:rPr lang="en-US" sz="1400" b="1" dirty="0">
                <a:solidFill>
                  <a:srgbClr val="2D2D2D"/>
                </a:solidFill>
                <a:latin typeface="Liter" pitchFamily="34" charset="0"/>
                <a:ea typeface="Liter" pitchFamily="34" charset="-122"/>
                <a:cs typeface="Liter" pitchFamily="34" charset="-120"/>
              </a:rPr>
              <a:t>3. Country-wise Revenue</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 Geographic sales distribution and ranking</a:t>
            </a:r>
            <a:endParaRPr lang="en-US" sz="1400" dirty="0"/>
          </a:p>
          <a:p>
            <a:pPr algn="l">
              <a:lnSpc>
                <a:spcPct val="170000"/>
              </a:lnSpc>
              <a:spcBef>
                <a:spcPts val="800"/>
              </a:spcBef>
            </a:pPr>
            <a:r>
              <a:rPr lang="en-US" sz="1400" b="1" dirty="0">
                <a:solidFill>
                  <a:srgbClr val="2D2D2D"/>
                </a:solidFill>
                <a:latin typeface="Liter" pitchFamily="34" charset="0"/>
                <a:ea typeface="Liter" pitchFamily="34" charset="-122"/>
                <a:cs typeface="Liter" pitchFamily="34" charset="-120"/>
              </a:rPr>
              <a:t>4. Top Customers Analysis</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 Highest revenue-generating customers</a:t>
            </a:r>
            <a:endParaRPr lang="en-US" sz="1400" dirty="0"/>
          </a:p>
          <a:p>
            <a:pPr algn="l">
              <a:lnSpc>
                <a:spcPct val="170000"/>
              </a:lnSpc>
              <a:spcBef>
                <a:spcPts val="800"/>
              </a:spcBef>
            </a:pPr>
            <a:r>
              <a:rPr lang="en-US" sz="1400" b="1" dirty="0">
                <a:solidFill>
                  <a:srgbClr val="2D2D2D"/>
                </a:solidFill>
                <a:latin typeface="Liter" pitchFamily="34" charset="0"/>
                <a:ea typeface="Liter" pitchFamily="34" charset="-122"/>
                <a:cs typeface="Liter" pitchFamily="34" charset="-120"/>
              </a:rPr>
              <a:t>5. Monthly Revenue Trend</a:t>
            </a:r>
            <a:endParaRPr lang="en-US" sz="1400" dirty="0"/>
          </a:p>
          <a:p>
            <a:pPr algn="l">
              <a:lnSpc>
                <a:spcPct val="170000"/>
              </a:lnSpc>
            </a:pPr>
            <a:r>
              <a:rPr lang="en-US" sz="1300" dirty="0">
                <a:solidFill>
                  <a:srgbClr val="555555"/>
                </a:solidFill>
                <a:latin typeface="Liter" pitchFamily="34" charset="0"/>
                <a:ea typeface="Liter" pitchFamily="34" charset="-122"/>
                <a:cs typeface="Liter" pitchFamily="34" charset="-120"/>
              </a:rPr>
              <a:t>■ Time-series revenue patterns and seasonality</a:t>
            </a:r>
            <a:endParaRPr lang="en-US" sz="1400" dirty="0"/>
          </a:p>
        </p:txBody>
      </p:sp>
      <p:sp>
        <p:nvSpPr>
          <p:cNvPr id="10" name="Shape 8"/>
          <p:cNvSpPr/>
          <p:nvPr/>
        </p:nvSpPr>
        <p:spPr>
          <a:xfrm>
            <a:off x="8255000" y="965200"/>
            <a:ext cx="7366000" cy="279400"/>
          </a:xfrm>
          <a:prstGeom prst="rect">
            <a:avLst/>
          </a:prstGeom>
          <a:solidFill>
            <a:srgbClr val="EBF0F7"/>
          </a:solidFill>
          <a:ln/>
        </p:spPr>
      </p:sp>
      <p:sp>
        <p:nvSpPr>
          <p:cNvPr id="11" name="Shape 9"/>
          <p:cNvSpPr/>
          <p:nvPr/>
        </p:nvSpPr>
        <p:spPr>
          <a:xfrm>
            <a:off x="8255000" y="965200"/>
            <a:ext cx="38100" cy="279400"/>
          </a:xfrm>
          <a:prstGeom prst="rect">
            <a:avLst/>
          </a:prstGeom>
          <a:solidFill>
            <a:srgbClr val="C9963B"/>
          </a:solidFill>
          <a:ln/>
        </p:spPr>
      </p:sp>
      <p:sp>
        <p:nvSpPr>
          <p:cNvPr id="12" name="Text 10"/>
          <p:cNvSpPr/>
          <p:nvPr/>
        </p:nvSpPr>
        <p:spPr>
          <a:xfrm>
            <a:off x="8356600" y="965200"/>
            <a:ext cx="7239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Example Query — Country-wise Revenue</a:t>
            </a:r>
            <a:endParaRPr lang="en-US" sz="1300" dirty="0"/>
          </a:p>
        </p:txBody>
      </p:sp>
      <p:sp>
        <p:nvSpPr>
          <p:cNvPr id="13" name="Shape 11"/>
          <p:cNvSpPr/>
          <p:nvPr/>
        </p:nvSpPr>
        <p:spPr>
          <a:xfrm>
            <a:off x="8255000" y="1295400"/>
            <a:ext cx="7366000" cy="2032000"/>
          </a:xfrm>
          <a:prstGeom prst="rect">
            <a:avLst/>
          </a:prstGeom>
          <a:solidFill>
            <a:srgbClr val="EBF0F7"/>
          </a:solidFill>
          <a:ln/>
        </p:spPr>
      </p:sp>
      <p:sp>
        <p:nvSpPr>
          <p:cNvPr id="14" name="Shape 12"/>
          <p:cNvSpPr/>
          <p:nvPr/>
        </p:nvSpPr>
        <p:spPr>
          <a:xfrm>
            <a:off x="8255000" y="1295400"/>
            <a:ext cx="50800" cy="2032000"/>
          </a:xfrm>
          <a:prstGeom prst="rect">
            <a:avLst/>
          </a:prstGeom>
          <a:solidFill>
            <a:srgbClr val="C9963B"/>
          </a:solidFill>
          <a:ln/>
        </p:spPr>
      </p:sp>
      <p:sp>
        <p:nvSpPr>
          <p:cNvPr id="15" name="Text 13"/>
          <p:cNvSpPr/>
          <p:nvPr/>
        </p:nvSpPr>
        <p:spPr>
          <a:xfrm>
            <a:off x="8432800" y="1371600"/>
            <a:ext cx="7035800" cy="1879600"/>
          </a:xfrm>
          <a:prstGeom prst="rect">
            <a:avLst/>
          </a:prstGeom>
          <a:noFill/>
          <a:ln/>
        </p:spPr>
        <p:txBody>
          <a:bodyPr wrap="square" lIns="0" tIns="0" rIns="0" bIns="0" rtlCol="0" anchor="t"/>
          <a:lstStyle/>
          <a:p>
            <a:pPr algn="l">
              <a:lnSpc>
                <a:spcPct val="150000"/>
              </a:lnSpc>
            </a:pPr>
            <a:r>
              <a:rPr lang="en-US" sz="1200" b="1" dirty="0">
                <a:solidFill>
                  <a:srgbClr val="0F2647"/>
                </a:solidFill>
                <a:latin typeface="Liter" pitchFamily="34" charset="0"/>
                <a:ea typeface="Liter" pitchFamily="34" charset="-122"/>
                <a:cs typeface="Liter" pitchFamily="34" charset="-120"/>
              </a:rPr>
              <a:t>SELECT</a:t>
            </a:r>
            <a:r>
              <a:rPr lang="en-US" sz="1200" dirty="0">
                <a:solidFill>
                  <a:srgbClr val="0F2647"/>
                </a:solidFill>
                <a:latin typeface="Liter" pitchFamily="34" charset="0"/>
                <a:ea typeface="Liter" pitchFamily="34" charset="-122"/>
                <a:cs typeface="Liter" pitchFamily="34" charset="-120"/>
              </a:rPr>
              <a:t> Country,</a:t>
            </a:r>
            <a:endParaRPr lang="en-US" sz="1200" dirty="0"/>
          </a:p>
          <a:p>
            <a:pPr algn="l">
              <a:lnSpc>
                <a:spcPct val="150000"/>
              </a:lnSpc>
            </a:pPr>
            <a:r>
              <a:rPr lang="en-US" sz="1200" dirty="0">
                <a:solidFill>
                  <a:srgbClr val="0F2647"/>
                </a:solidFill>
                <a:latin typeface="Liter" pitchFamily="34" charset="0"/>
                <a:ea typeface="Liter" pitchFamily="34" charset="-122"/>
                <a:cs typeface="Liter" pitchFamily="34" charset="-120"/>
              </a:rPr>
              <a:t>  </a:t>
            </a:r>
            <a:r>
              <a:rPr lang="en-US" sz="1200" b="1" dirty="0">
                <a:solidFill>
                  <a:srgbClr val="0F2647"/>
                </a:solidFill>
                <a:latin typeface="Liter" pitchFamily="34" charset="0"/>
                <a:ea typeface="Liter" pitchFamily="34" charset="-122"/>
                <a:cs typeface="Liter" pitchFamily="34" charset="-120"/>
              </a:rPr>
              <a:t>SUM</a:t>
            </a:r>
            <a:r>
              <a:rPr lang="en-US" sz="1200" dirty="0">
                <a:solidFill>
                  <a:srgbClr val="0F2647"/>
                </a:solidFill>
                <a:latin typeface="Liter" pitchFamily="34" charset="0"/>
                <a:ea typeface="Liter" pitchFamily="34" charset="-122"/>
                <a:cs typeface="Liter" pitchFamily="34" charset="-120"/>
              </a:rPr>
              <a:t>(total_sales) </a:t>
            </a:r>
            <a:r>
              <a:rPr lang="en-US" sz="1200" b="1" dirty="0">
                <a:solidFill>
                  <a:srgbClr val="0F2647"/>
                </a:solidFill>
                <a:latin typeface="Liter" pitchFamily="34" charset="0"/>
                <a:ea typeface="Liter" pitchFamily="34" charset="-122"/>
                <a:cs typeface="Liter" pitchFamily="34" charset="-120"/>
              </a:rPr>
              <a:t>AS</a:t>
            </a:r>
            <a:r>
              <a:rPr lang="en-US" sz="1200" dirty="0">
                <a:solidFill>
                  <a:srgbClr val="0F2647"/>
                </a:solidFill>
                <a:latin typeface="Liter" pitchFamily="34" charset="0"/>
                <a:ea typeface="Liter" pitchFamily="34" charset="-122"/>
                <a:cs typeface="Liter" pitchFamily="34" charset="-120"/>
              </a:rPr>
              <a:t> revenue</a:t>
            </a:r>
            <a:endParaRPr lang="en-US" sz="1200" dirty="0"/>
          </a:p>
          <a:p>
            <a:pPr algn="l">
              <a:lnSpc>
                <a:spcPct val="150000"/>
              </a:lnSpc>
            </a:pPr>
            <a:r>
              <a:rPr lang="en-US" sz="1200" b="1" dirty="0">
                <a:solidFill>
                  <a:srgbClr val="0F2647"/>
                </a:solidFill>
                <a:latin typeface="Liter" pitchFamily="34" charset="0"/>
                <a:ea typeface="Liter" pitchFamily="34" charset="-122"/>
                <a:cs typeface="Liter" pitchFamily="34" charset="-120"/>
              </a:rPr>
              <a:t>FROM</a:t>
            </a:r>
            <a:r>
              <a:rPr lang="en-US" sz="1200" dirty="0">
                <a:solidFill>
                  <a:srgbClr val="0F2647"/>
                </a:solidFill>
                <a:latin typeface="Liter" pitchFamily="34" charset="0"/>
                <a:ea typeface="Liter" pitchFamily="34" charset="-122"/>
                <a:cs typeface="Liter" pitchFamily="34" charset="-120"/>
              </a:rPr>
              <a:t> retail_final_clean</a:t>
            </a:r>
            <a:endParaRPr lang="en-US" sz="1200" dirty="0"/>
          </a:p>
          <a:p>
            <a:pPr algn="l">
              <a:lnSpc>
                <a:spcPct val="150000"/>
              </a:lnSpc>
            </a:pPr>
            <a:r>
              <a:rPr lang="en-US" sz="1200" b="1" dirty="0">
                <a:solidFill>
                  <a:srgbClr val="0F2647"/>
                </a:solidFill>
                <a:latin typeface="Liter" pitchFamily="34" charset="0"/>
                <a:ea typeface="Liter" pitchFamily="34" charset="-122"/>
                <a:cs typeface="Liter" pitchFamily="34" charset="-120"/>
              </a:rPr>
              <a:t>GROUP BY</a:t>
            </a:r>
            <a:r>
              <a:rPr lang="en-US" sz="1200" dirty="0">
                <a:solidFill>
                  <a:srgbClr val="0F2647"/>
                </a:solidFill>
                <a:latin typeface="Liter" pitchFamily="34" charset="0"/>
                <a:ea typeface="Liter" pitchFamily="34" charset="-122"/>
                <a:cs typeface="Liter" pitchFamily="34" charset="-120"/>
              </a:rPr>
              <a:t> Country</a:t>
            </a:r>
            <a:endParaRPr lang="en-US" sz="1200" dirty="0"/>
          </a:p>
          <a:p>
            <a:pPr algn="l">
              <a:lnSpc>
                <a:spcPct val="150000"/>
              </a:lnSpc>
            </a:pPr>
            <a:r>
              <a:rPr lang="en-US" sz="1200" b="1" dirty="0">
                <a:solidFill>
                  <a:srgbClr val="0F2647"/>
                </a:solidFill>
                <a:latin typeface="Liter" pitchFamily="34" charset="0"/>
                <a:ea typeface="Liter" pitchFamily="34" charset="-122"/>
                <a:cs typeface="Liter" pitchFamily="34" charset="-120"/>
              </a:rPr>
              <a:t>ORDER BY</a:t>
            </a:r>
            <a:r>
              <a:rPr lang="en-US" sz="1200" dirty="0">
                <a:solidFill>
                  <a:srgbClr val="0F2647"/>
                </a:solidFill>
                <a:latin typeface="Liter" pitchFamily="34" charset="0"/>
                <a:ea typeface="Liter" pitchFamily="34" charset="-122"/>
                <a:cs typeface="Liter" pitchFamily="34" charset="-120"/>
              </a:rPr>
              <a:t> revenue </a:t>
            </a:r>
            <a:r>
              <a:rPr lang="en-US" sz="1200" b="1" dirty="0">
                <a:solidFill>
                  <a:srgbClr val="0F2647"/>
                </a:solidFill>
                <a:latin typeface="Liter" pitchFamily="34" charset="0"/>
                <a:ea typeface="Liter" pitchFamily="34" charset="-122"/>
                <a:cs typeface="Liter" pitchFamily="34" charset="-120"/>
              </a:rPr>
              <a:t>DESC</a:t>
            </a:r>
            <a:r>
              <a:rPr lang="en-US" sz="1200" dirty="0">
                <a:solidFill>
                  <a:srgbClr val="0F2647"/>
                </a:solidFill>
                <a:latin typeface="Liter" pitchFamily="34" charset="0"/>
                <a:ea typeface="Liter" pitchFamily="34" charset="-122"/>
                <a:cs typeface="Liter" pitchFamily="34" charset="-120"/>
              </a:rPr>
              <a:t>;</a:t>
            </a:r>
            <a:endParaRPr lang="en-US" sz="1200" dirty="0"/>
          </a:p>
        </p:txBody>
      </p:sp>
      <p:sp>
        <p:nvSpPr>
          <p:cNvPr id="17" name="Text 14"/>
          <p:cNvSpPr/>
          <p:nvPr/>
        </p:nvSpPr>
        <p:spPr>
          <a:xfrm>
            <a:off x="8318500" y="6985000"/>
            <a:ext cx="7239000" cy="381000"/>
          </a:xfrm>
          <a:prstGeom prst="rect">
            <a:avLst/>
          </a:prstGeom>
          <a:noFill/>
          <a:ln/>
        </p:spPr>
        <p:txBody>
          <a:bodyPr wrap="none" lIns="0" tIns="0" rIns="0" bIns="0" rtlCol="0" anchor="t"/>
          <a:lstStyle/>
          <a:p>
            <a:pPr algn="l">
              <a:lnSpc>
                <a:spcPct val="120000"/>
              </a:lnSpc>
            </a:pPr>
            <a:r>
              <a:rPr lang="en-US" sz="1100" dirty="0">
                <a:solidFill>
                  <a:srgbClr val="8899AA"/>
                </a:solidFill>
                <a:latin typeface="Liter" pitchFamily="34" charset="0"/>
                <a:ea typeface="Liter" pitchFamily="34" charset="-122"/>
                <a:cs typeface="Liter" pitchFamily="34" charset="-120"/>
              </a:rPr>
              <a:t>Note: Sample data for illustration. Actual values from project dataset.</a:t>
            </a:r>
            <a:endParaRPr lang="en-US" sz="1100" dirty="0"/>
          </a:p>
        </p:txBody>
      </p:sp>
      <p:sp>
        <p:nvSpPr>
          <p:cNvPr id="18" name="Shape 15"/>
          <p:cNvSpPr/>
          <p:nvPr/>
        </p:nvSpPr>
        <p:spPr>
          <a:xfrm>
            <a:off x="635000" y="8331200"/>
            <a:ext cx="14986000" cy="12700"/>
          </a:xfrm>
          <a:prstGeom prst="rect">
            <a:avLst/>
          </a:prstGeom>
          <a:solidFill>
            <a:srgbClr val="D0D8E4"/>
          </a:solidFill>
          <a:ln/>
        </p:spPr>
      </p:sp>
      <p:sp>
        <p:nvSpPr>
          <p:cNvPr id="19" name="Text 16"/>
          <p:cNvSpPr/>
          <p:nvPr/>
        </p:nvSpPr>
        <p:spPr>
          <a:xfrm>
            <a:off x="15240000" y="8432800"/>
            <a:ext cx="762000" cy="279400"/>
          </a:xfrm>
          <a:prstGeom prst="rect">
            <a:avLst/>
          </a:prstGeom>
          <a:noFill/>
          <a:ln/>
        </p:spPr>
        <p:txBody>
          <a:bodyPr wrap="none" lIns="0" tIns="0" rIns="0" bIns="0" rtlCol="0" anchor="ctr"/>
          <a:lstStyle/>
          <a:p>
            <a:pPr algn="r">
              <a:lnSpc>
                <a:spcPct val="120000"/>
              </a:lnSpc>
            </a:pPr>
            <a:r>
              <a:rPr lang="en-US" sz="1200" dirty="0">
                <a:solidFill>
                  <a:srgbClr val="8899AA"/>
                </a:solidFill>
                <a:latin typeface="MiSans" pitchFamily="34" charset="0"/>
                <a:ea typeface="MiSans" pitchFamily="34" charset="-122"/>
                <a:cs typeface="MiSans" pitchFamily="34" charset="-120"/>
              </a:rPr>
              <a:t>16</a:t>
            </a:r>
            <a:endParaRPr lang="en-US" sz="1200" dirty="0"/>
          </a:p>
        </p:txBody>
      </p:sp>
      <p:pic>
        <p:nvPicPr>
          <p:cNvPr id="20" name="Picture 19">
            <a:extLst>
              <a:ext uri="{FF2B5EF4-FFF2-40B4-BE49-F238E27FC236}">
                <a16:creationId xmlns:a16="http://schemas.microsoft.com/office/drawing/2014/main" id="{6AB4AA02-4D3E-E4CC-315E-6745F4C2623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22457" y="3624496"/>
            <a:ext cx="11379543" cy="5087704"/>
          </a:xfrm>
          <a:prstGeom prst="rect">
            <a:avLst/>
          </a:prstGeom>
          <a:noFill/>
          <a:ln>
            <a:noFill/>
          </a:ln>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1B3A6B"/>
          </a:solidFill>
          <a:ln/>
        </p:spPr>
      </p:sp>
      <p:sp>
        <p:nvSpPr>
          <p:cNvPr id="3" name="Shape 1"/>
          <p:cNvSpPr/>
          <p:nvPr/>
        </p:nvSpPr>
        <p:spPr>
          <a:xfrm>
            <a:off x="635000" y="127000"/>
            <a:ext cx="50800" cy="685800"/>
          </a:xfrm>
          <a:prstGeom prst="rect">
            <a:avLst/>
          </a:prstGeom>
          <a:solidFill>
            <a:srgbClr val="C9963B"/>
          </a:solidFill>
          <a:ln/>
        </p:spPr>
      </p:sp>
      <p:sp>
        <p:nvSpPr>
          <p:cNvPr id="4" name="Text 2"/>
          <p:cNvSpPr/>
          <p:nvPr/>
        </p:nvSpPr>
        <p:spPr>
          <a:xfrm>
            <a:off x="787400" y="152400"/>
            <a:ext cx="14605000" cy="635000"/>
          </a:xfrm>
          <a:prstGeom prst="rect">
            <a:avLst/>
          </a:prstGeom>
          <a:noFill/>
          <a:ln/>
        </p:spPr>
        <p:txBody>
          <a:bodyPr wrap="square" lIns="0" tIns="0" rIns="0" bIns="0" rtlCol="0" anchor="ctr"/>
          <a:lstStyle/>
          <a:p>
            <a:pPr algn="l">
              <a:lnSpc>
                <a:spcPct val="120000"/>
              </a:lnSpc>
            </a:pPr>
            <a:r>
              <a:rPr lang="en-US" sz="2200" b="1" dirty="0">
                <a:solidFill>
                  <a:srgbClr val="0F2647"/>
                </a:solidFill>
                <a:latin typeface="Sorts Mill Goudy" pitchFamily="34" charset="0"/>
                <a:ea typeface="Sorts Mill Goudy" pitchFamily="34" charset="-122"/>
                <a:cs typeface="Sorts Mill Goudy" pitchFamily="34" charset="-120"/>
              </a:rPr>
              <a:t>TSV export strategy eliminated comma-parsing issues and ensured stable Power BI data ingestion</a:t>
            </a:r>
            <a:endParaRPr lang="en-US" sz="2200" dirty="0"/>
          </a:p>
        </p:txBody>
      </p:sp>
      <p:sp>
        <p:nvSpPr>
          <p:cNvPr id="5" name="Shape 3"/>
          <p:cNvSpPr/>
          <p:nvPr/>
        </p:nvSpPr>
        <p:spPr>
          <a:xfrm>
            <a:off x="635000" y="863600"/>
            <a:ext cx="14986000" cy="12700"/>
          </a:xfrm>
          <a:prstGeom prst="rect">
            <a:avLst/>
          </a:prstGeom>
          <a:solidFill>
            <a:srgbClr val="D0D8E4"/>
          </a:solidFill>
          <a:ln/>
        </p:spPr>
      </p:sp>
      <p:sp>
        <p:nvSpPr>
          <p:cNvPr id="6" name="Shape 4"/>
          <p:cNvSpPr/>
          <p:nvPr/>
        </p:nvSpPr>
        <p:spPr>
          <a:xfrm>
            <a:off x="635000" y="965200"/>
            <a:ext cx="7493000" cy="279400"/>
          </a:xfrm>
          <a:prstGeom prst="rect">
            <a:avLst/>
          </a:prstGeom>
          <a:solidFill>
            <a:srgbClr val="EBF0F7"/>
          </a:solidFill>
          <a:ln/>
        </p:spPr>
      </p:sp>
      <p:sp>
        <p:nvSpPr>
          <p:cNvPr id="7" name="Shape 5"/>
          <p:cNvSpPr/>
          <p:nvPr/>
        </p:nvSpPr>
        <p:spPr>
          <a:xfrm>
            <a:off x="635000" y="965200"/>
            <a:ext cx="38100" cy="279400"/>
          </a:xfrm>
          <a:prstGeom prst="rect">
            <a:avLst/>
          </a:prstGeom>
          <a:solidFill>
            <a:srgbClr val="C9963B"/>
          </a:solidFill>
          <a:ln/>
        </p:spPr>
      </p:sp>
      <p:sp>
        <p:nvSpPr>
          <p:cNvPr id="8" name="Text 6"/>
          <p:cNvSpPr/>
          <p:nvPr/>
        </p:nvSpPr>
        <p:spPr>
          <a:xfrm>
            <a:off x="736600" y="965200"/>
            <a:ext cx="7366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Import Steps Followed</a:t>
            </a:r>
            <a:endParaRPr lang="en-US" sz="1300" dirty="0"/>
          </a:p>
        </p:txBody>
      </p:sp>
      <p:sp>
        <p:nvSpPr>
          <p:cNvPr id="9" name="Shape 7"/>
          <p:cNvSpPr/>
          <p:nvPr/>
        </p:nvSpPr>
        <p:spPr>
          <a:xfrm>
            <a:off x="635000" y="1320800"/>
            <a:ext cx="7493000" cy="1016000"/>
          </a:xfrm>
          <a:prstGeom prst="rect">
            <a:avLst/>
          </a:prstGeom>
          <a:solidFill>
            <a:srgbClr val="EBF0F7"/>
          </a:solidFill>
          <a:ln/>
        </p:spPr>
      </p:sp>
      <p:sp>
        <p:nvSpPr>
          <p:cNvPr id="10" name="Shape 8"/>
          <p:cNvSpPr/>
          <p:nvPr/>
        </p:nvSpPr>
        <p:spPr>
          <a:xfrm>
            <a:off x="635000" y="1320800"/>
            <a:ext cx="50800" cy="1016000"/>
          </a:xfrm>
          <a:prstGeom prst="rect">
            <a:avLst/>
          </a:prstGeom>
          <a:solidFill>
            <a:srgbClr val="1B3A6B"/>
          </a:solidFill>
          <a:ln/>
        </p:spPr>
      </p:sp>
      <p:sp>
        <p:nvSpPr>
          <p:cNvPr id="11" name="Text 9"/>
          <p:cNvSpPr/>
          <p:nvPr/>
        </p:nvSpPr>
        <p:spPr>
          <a:xfrm>
            <a:off x="762000" y="1320800"/>
            <a:ext cx="635000" cy="1016000"/>
          </a:xfrm>
          <a:prstGeom prst="rect">
            <a:avLst/>
          </a:prstGeom>
          <a:noFill/>
          <a:ln/>
        </p:spPr>
        <p:txBody>
          <a:bodyPr wrap="none" lIns="0" tIns="0" rIns="0" bIns="0" rtlCol="0" anchor="ctr"/>
          <a:lstStyle/>
          <a:p>
            <a:pPr algn="ctr">
              <a:lnSpc>
                <a:spcPct val="120000"/>
              </a:lnSpc>
            </a:pPr>
            <a:r>
              <a:rPr lang="en-US" sz="2400" b="1" dirty="0">
                <a:solidFill>
                  <a:srgbClr val="1B3A6B"/>
                </a:solidFill>
                <a:latin typeface="Sorts Mill Goudy" pitchFamily="34" charset="0"/>
                <a:ea typeface="Sorts Mill Goudy" pitchFamily="34" charset="-122"/>
                <a:cs typeface="Sorts Mill Goudy" pitchFamily="34" charset="-120"/>
              </a:rPr>
              <a:t>01</a:t>
            </a:r>
            <a:endParaRPr lang="en-US" sz="2400" dirty="0"/>
          </a:p>
        </p:txBody>
      </p:sp>
      <p:sp>
        <p:nvSpPr>
          <p:cNvPr id="12" name="Text 10"/>
          <p:cNvSpPr/>
          <p:nvPr/>
        </p:nvSpPr>
        <p:spPr>
          <a:xfrm>
            <a:off x="1447800" y="1397000"/>
            <a:ext cx="6553200" cy="863600"/>
          </a:xfrm>
          <a:prstGeom prst="rect">
            <a:avLst/>
          </a:prstGeom>
          <a:noFill/>
          <a:ln/>
        </p:spPr>
        <p:txBody>
          <a:bodyPr wrap="square" lIns="0" tIns="0" rIns="0" bIns="0" rtlCol="0" anchor="t"/>
          <a:lstStyle/>
          <a:p>
            <a:pPr algn="l">
              <a:lnSpc>
                <a:spcPct val="150000"/>
              </a:lnSpc>
            </a:pPr>
            <a:r>
              <a:rPr lang="en-US" sz="1400" b="1" dirty="0">
                <a:solidFill>
                  <a:srgbClr val="2D2D2D"/>
                </a:solidFill>
                <a:latin typeface="Liter" pitchFamily="34" charset="0"/>
                <a:ea typeface="Liter" pitchFamily="34" charset="-122"/>
                <a:cs typeface="Liter" pitchFamily="34" charset="-120"/>
              </a:rPr>
              <a:t>Export Cleaned Data as TSV</a:t>
            </a:r>
            <a:endParaRPr lang="en-US" sz="1400" dirty="0"/>
          </a:p>
          <a:p>
            <a:pPr algn="l">
              <a:lnSpc>
                <a:spcPct val="150000"/>
              </a:lnSpc>
            </a:pPr>
            <a:r>
              <a:rPr lang="en-US" sz="1300" dirty="0">
                <a:solidFill>
                  <a:srgbClr val="555555"/>
                </a:solidFill>
                <a:latin typeface="Liter" pitchFamily="34" charset="0"/>
                <a:ea typeface="Liter" pitchFamily="34" charset="-122"/>
                <a:cs typeface="Liter" pitchFamily="34" charset="-120"/>
              </a:rPr>
              <a:t>Retail_final_clean table exported to tab-separated format from MySQL.</a:t>
            </a:r>
            <a:endParaRPr lang="en-US" sz="1400" dirty="0"/>
          </a:p>
        </p:txBody>
      </p:sp>
      <p:sp>
        <p:nvSpPr>
          <p:cNvPr id="13" name="Shape 11"/>
          <p:cNvSpPr/>
          <p:nvPr/>
        </p:nvSpPr>
        <p:spPr>
          <a:xfrm>
            <a:off x="635000" y="2463800"/>
            <a:ext cx="7493000" cy="1016000"/>
          </a:xfrm>
          <a:prstGeom prst="rect">
            <a:avLst/>
          </a:prstGeom>
          <a:solidFill>
            <a:srgbClr val="EBF0F7"/>
          </a:solidFill>
          <a:ln/>
        </p:spPr>
      </p:sp>
      <p:sp>
        <p:nvSpPr>
          <p:cNvPr id="14" name="Shape 12"/>
          <p:cNvSpPr/>
          <p:nvPr/>
        </p:nvSpPr>
        <p:spPr>
          <a:xfrm>
            <a:off x="635000" y="2463800"/>
            <a:ext cx="50800" cy="1016000"/>
          </a:xfrm>
          <a:prstGeom prst="rect">
            <a:avLst/>
          </a:prstGeom>
          <a:solidFill>
            <a:srgbClr val="C9963B"/>
          </a:solidFill>
          <a:ln/>
        </p:spPr>
      </p:sp>
      <p:sp>
        <p:nvSpPr>
          <p:cNvPr id="15" name="Text 13"/>
          <p:cNvSpPr/>
          <p:nvPr/>
        </p:nvSpPr>
        <p:spPr>
          <a:xfrm>
            <a:off x="762000" y="2463800"/>
            <a:ext cx="635000" cy="1016000"/>
          </a:xfrm>
          <a:prstGeom prst="rect">
            <a:avLst/>
          </a:prstGeom>
          <a:noFill/>
          <a:ln/>
        </p:spPr>
        <p:txBody>
          <a:bodyPr wrap="none" lIns="0" tIns="0" rIns="0" bIns="0" rtlCol="0" anchor="ctr"/>
          <a:lstStyle/>
          <a:p>
            <a:pPr algn="ctr">
              <a:lnSpc>
                <a:spcPct val="120000"/>
              </a:lnSpc>
            </a:pPr>
            <a:r>
              <a:rPr lang="en-US" sz="2400" b="1" dirty="0">
                <a:solidFill>
                  <a:srgbClr val="C9963B"/>
                </a:solidFill>
                <a:latin typeface="Sorts Mill Goudy" pitchFamily="34" charset="0"/>
                <a:ea typeface="Sorts Mill Goudy" pitchFamily="34" charset="-122"/>
                <a:cs typeface="Sorts Mill Goudy" pitchFamily="34" charset="-120"/>
              </a:rPr>
              <a:t>02</a:t>
            </a:r>
            <a:endParaRPr lang="en-US" sz="2400" dirty="0"/>
          </a:p>
        </p:txBody>
      </p:sp>
      <p:sp>
        <p:nvSpPr>
          <p:cNvPr id="16" name="Text 14"/>
          <p:cNvSpPr/>
          <p:nvPr/>
        </p:nvSpPr>
        <p:spPr>
          <a:xfrm>
            <a:off x="1447800" y="2540000"/>
            <a:ext cx="6553200" cy="863600"/>
          </a:xfrm>
          <a:prstGeom prst="rect">
            <a:avLst/>
          </a:prstGeom>
          <a:noFill/>
          <a:ln/>
        </p:spPr>
        <p:txBody>
          <a:bodyPr wrap="square" lIns="0" tIns="0" rIns="0" bIns="0" rtlCol="0" anchor="t"/>
          <a:lstStyle/>
          <a:p>
            <a:pPr algn="l">
              <a:lnSpc>
                <a:spcPct val="150000"/>
              </a:lnSpc>
            </a:pPr>
            <a:r>
              <a:rPr lang="en-US" sz="1400" b="1" dirty="0">
                <a:solidFill>
                  <a:srgbClr val="2D2D2D"/>
                </a:solidFill>
                <a:latin typeface="Liter" pitchFamily="34" charset="0"/>
                <a:ea typeface="Liter" pitchFamily="34" charset="-122"/>
                <a:cs typeface="Liter" pitchFamily="34" charset="-120"/>
              </a:rPr>
              <a:t>Import TSV into Power BI</a:t>
            </a:r>
            <a:endParaRPr lang="en-US" sz="1400" dirty="0"/>
          </a:p>
          <a:p>
            <a:pPr algn="l">
              <a:lnSpc>
                <a:spcPct val="150000"/>
              </a:lnSpc>
            </a:pPr>
            <a:r>
              <a:rPr lang="en-US" sz="1300" dirty="0">
                <a:solidFill>
                  <a:srgbClr val="555555"/>
                </a:solidFill>
                <a:latin typeface="Liter" pitchFamily="34" charset="0"/>
                <a:ea typeface="Liter" pitchFamily="34" charset="-122"/>
                <a:cs typeface="Liter" pitchFamily="34" charset="-120"/>
              </a:rPr>
              <a:t>Get Data &gt; Text/CSV &gt; select TSV file with tab delimiter configuration.</a:t>
            </a:r>
            <a:endParaRPr lang="en-US" sz="1400" dirty="0"/>
          </a:p>
        </p:txBody>
      </p:sp>
      <p:sp>
        <p:nvSpPr>
          <p:cNvPr id="17" name="Shape 15"/>
          <p:cNvSpPr/>
          <p:nvPr/>
        </p:nvSpPr>
        <p:spPr>
          <a:xfrm>
            <a:off x="635000" y="3606800"/>
            <a:ext cx="7493000" cy="1016000"/>
          </a:xfrm>
          <a:prstGeom prst="rect">
            <a:avLst/>
          </a:prstGeom>
          <a:solidFill>
            <a:srgbClr val="EBF0F7"/>
          </a:solidFill>
          <a:ln/>
        </p:spPr>
      </p:sp>
      <p:sp>
        <p:nvSpPr>
          <p:cNvPr id="18" name="Shape 16"/>
          <p:cNvSpPr/>
          <p:nvPr/>
        </p:nvSpPr>
        <p:spPr>
          <a:xfrm>
            <a:off x="635000" y="3606800"/>
            <a:ext cx="50800" cy="1016000"/>
          </a:xfrm>
          <a:prstGeom prst="rect">
            <a:avLst/>
          </a:prstGeom>
          <a:solidFill>
            <a:srgbClr val="1B3A6B"/>
          </a:solidFill>
          <a:ln/>
        </p:spPr>
      </p:sp>
      <p:sp>
        <p:nvSpPr>
          <p:cNvPr id="19" name="Text 17"/>
          <p:cNvSpPr/>
          <p:nvPr/>
        </p:nvSpPr>
        <p:spPr>
          <a:xfrm>
            <a:off x="762000" y="3606800"/>
            <a:ext cx="635000" cy="1016000"/>
          </a:xfrm>
          <a:prstGeom prst="rect">
            <a:avLst/>
          </a:prstGeom>
          <a:noFill/>
          <a:ln/>
        </p:spPr>
        <p:txBody>
          <a:bodyPr wrap="none" lIns="0" tIns="0" rIns="0" bIns="0" rtlCol="0" anchor="ctr"/>
          <a:lstStyle/>
          <a:p>
            <a:pPr algn="ctr">
              <a:lnSpc>
                <a:spcPct val="120000"/>
              </a:lnSpc>
            </a:pPr>
            <a:r>
              <a:rPr lang="en-US" sz="2400" b="1" dirty="0">
                <a:solidFill>
                  <a:srgbClr val="1B3A6B"/>
                </a:solidFill>
                <a:latin typeface="Sorts Mill Goudy" pitchFamily="34" charset="0"/>
                <a:ea typeface="Sorts Mill Goudy" pitchFamily="34" charset="-122"/>
                <a:cs typeface="Sorts Mill Goudy" pitchFamily="34" charset="-120"/>
              </a:rPr>
              <a:t>03</a:t>
            </a:r>
            <a:endParaRPr lang="en-US" sz="2400" dirty="0"/>
          </a:p>
        </p:txBody>
      </p:sp>
      <p:sp>
        <p:nvSpPr>
          <p:cNvPr id="20" name="Text 18"/>
          <p:cNvSpPr/>
          <p:nvPr/>
        </p:nvSpPr>
        <p:spPr>
          <a:xfrm>
            <a:off x="1447800" y="3683000"/>
            <a:ext cx="6553200" cy="863600"/>
          </a:xfrm>
          <a:prstGeom prst="rect">
            <a:avLst/>
          </a:prstGeom>
          <a:noFill/>
          <a:ln/>
        </p:spPr>
        <p:txBody>
          <a:bodyPr wrap="square" lIns="0" tIns="0" rIns="0" bIns="0" rtlCol="0" anchor="t"/>
          <a:lstStyle/>
          <a:p>
            <a:pPr algn="l">
              <a:lnSpc>
                <a:spcPct val="150000"/>
              </a:lnSpc>
            </a:pPr>
            <a:r>
              <a:rPr lang="en-US" sz="1400" b="1" dirty="0">
                <a:solidFill>
                  <a:srgbClr val="2D2D2D"/>
                </a:solidFill>
                <a:latin typeface="Liter" pitchFamily="34" charset="0"/>
                <a:ea typeface="Liter" pitchFamily="34" charset="-122"/>
                <a:cs typeface="Liter" pitchFamily="34" charset="-120"/>
              </a:rPr>
              <a:t>Apply UTF-8 Encoding</a:t>
            </a:r>
            <a:endParaRPr lang="en-US" sz="1400" dirty="0"/>
          </a:p>
          <a:p>
            <a:pPr algn="l">
              <a:lnSpc>
                <a:spcPct val="150000"/>
              </a:lnSpc>
            </a:pPr>
            <a:r>
              <a:rPr lang="en-US" sz="1300" dirty="0">
                <a:solidFill>
                  <a:srgbClr val="555555"/>
                </a:solidFill>
                <a:latin typeface="Liter" pitchFamily="34" charset="0"/>
                <a:ea typeface="Liter" pitchFamily="34" charset="-122"/>
                <a:cs typeface="Liter" pitchFamily="34" charset="-120"/>
              </a:rPr>
              <a:t>Set file origin to UTF-8 for correct international character display.</a:t>
            </a:r>
            <a:endParaRPr lang="en-US" sz="1400" dirty="0"/>
          </a:p>
        </p:txBody>
      </p:sp>
      <p:sp>
        <p:nvSpPr>
          <p:cNvPr id="21" name="Shape 19"/>
          <p:cNvSpPr/>
          <p:nvPr/>
        </p:nvSpPr>
        <p:spPr>
          <a:xfrm>
            <a:off x="635000" y="4749800"/>
            <a:ext cx="7493000" cy="1016000"/>
          </a:xfrm>
          <a:prstGeom prst="rect">
            <a:avLst/>
          </a:prstGeom>
          <a:solidFill>
            <a:srgbClr val="EBF0F7"/>
          </a:solidFill>
          <a:ln/>
        </p:spPr>
      </p:sp>
      <p:sp>
        <p:nvSpPr>
          <p:cNvPr id="22" name="Shape 20"/>
          <p:cNvSpPr/>
          <p:nvPr/>
        </p:nvSpPr>
        <p:spPr>
          <a:xfrm>
            <a:off x="635000" y="4749800"/>
            <a:ext cx="50800" cy="1016000"/>
          </a:xfrm>
          <a:prstGeom prst="rect">
            <a:avLst/>
          </a:prstGeom>
          <a:solidFill>
            <a:srgbClr val="C9963B"/>
          </a:solidFill>
          <a:ln/>
        </p:spPr>
      </p:sp>
      <p:sp>
        <p:nvSpPr>
          <p:cNvPr id="23" name="Text 21"/>
          <p:cNvSpPr/>
          <p:nvPr/>
        </p:nvSpPr>
        <p:spPr>
          <a:xfrm>
            <a:off x="762000" y="4749800"/>
            <a:ext cx="635000" cy="1016000"/>
          </a:xfrm>
          <a:prstGeom prst="rect">
            <a:avLst/>
          </a:prstGeom>
          <a:noFill/>
          <a:ln/>
        </p:spPr>
        <p:txBody>
          <a:bodyPr wrap="none" lIns="0" tIns="0" rIns="0" bIns="0" rtlCol="0" anchor="ctr"/>
          <a:lstStyle/>
          <a:p>
            <a:pPr algn="ctr">
              <a:lnSpc>
                <a:spcPct val="120000"/>
              </a:lnSpc>
            </a:pPr>
            <a:r>
              <a:rPr lang="en-US" sz="2400" b="1" dirty="0">
                <a:solidFill>
                  <a:srgbClr val="C9963B"/>
                </a:solidFill>
                <a:latin typeface="Sorts Mill Goudy" pitchFamily="34" charset="0"/>
                <a:ea typeface="Sorts Mill Goudy" pitchFamily="34" charset="-122"/>
                <a:cs typeface="Sorts Mill Goudy" pitchFamily="34" charset="-120"/>
              </a:rPr>
              <a:t>04</a:t>
            </a:r>
            <a:endParaRPr lang="en-US" sz="2400" dirty="0"/>
          </a:p>
        </p:txBody>
      </p:sp>
      <p:sp>
        <p:nvSpPr>
          <p:cNvPr id="24" name="Text 22"/>
          <p:cNvSpPr/>
          <p:nvPr/>
        </p:nvSpPr>
        <p:spPr>
          <a:xfrm>
            <a:off x="1447800" y="4826000"/>
            <a:ext cx="6553200" cy="863600"/>
          </a:xfrm>
          <a:prstGeom prst="rect">
            <a:avLst/>
          </a:prstGeom>
          <a:noFill/>
          <a:ln/>
        </p:spPr>
        <p:txBody>
          <a:bodyPr wrap="square" lIns="0" tIns="0" rIns="0" bIns="0" rtlCol="0" anchor="t"/>
          <a:lstStyle/>
          <a:p>
            <a:pPr algn="l">
              <a:lnSpc>
                <a:spcPct val="150000"/>
              </a:lnSpc>
            </a:pPr>
            <a:r>
              <a:rPr lang="en-US" sz="1400" b="1" dirty="0">
                <a:solidFill>
                  <a:srgbClr val="2D2D2D"/>
                </a:solidFill>
                <a:latin typeface="Liter" pitchFamily="34" charset="0"/>
                <a:ea typeface="Liter" pitchFamily="34" charset="-122"/>
                <a:cs typeface="Liter" pitchFamily="34" charset="-120"/>
              </a:rPr>
              <a:t>Assign Datatypes Manually</a:t>
            </a:r>
            <a:endParaRPr lang="en-US" sz="1400" dirty="0"/>
          </a:p>
          <a:p>
            <a:pPr algn="l">
              <a:lnSpc>
                <a:spcPct val="150000"/>
              </a:lnSpc>
            </a:pPr>
            <a:r>
              <a:rPr lang="en-US" sz="1300" dirty="0">
                <a:solidFill>
                  <a:srgbClr val="555555"/>
                </a:solidFill>
                <a:latin typeface="Liter" pitchFamily="34" charset="0"/>
                <a:ea typeface="Liter" pitchFamily="34" charset="-122"/>
                <a:cs typeface="Liter" pitchFamily="34" charset="-120"/>
              </a:rPr>
              <a:t>Verify and correct column types: DECIMAL for prices, INTEGER for quantities.</a:t>
            </a:r>
            <a:endParaRPr lang="en-US" sz="1400" dirty="0"/>
          </a:p>
        </p:txBody>
      </p:sp>
      <p:sp>
        <p:nvSpPr>
          <p:cNvPr id="25" name="Shape 23"/>
          <p:cNvSpPr/>
          <p:nvPr/>
        </p:nvSpPr>
        <p:spPr>
          <a:xfrm>
            <a:off x="635000" y="5892800"/>
            <a:ext cx="7493000" cy="1016000"/>
          </a:xfrm>
          <a:prstGeom prst="rect">
            <a:avLst/>
          </a:prstGeom>
          <a:solidFill>
            <a:srgbClr val="EBF0F7"/>
          </a:solidFill>
          <a:ln/>
        </p:spPr>
      </p:sp>
      <p:sp>
        <p:nvSpPr>
          <p:cNvPr id="26" name="Shape 24"/>
          <p:cNvSpPr/>
          <p:nvPr/>
        </p:nvSpPr>
        <p:spPr>
          <a:xfrm>
            <a:off x="635000" y="5892800"/>
            <a:ext cx="50800" cy="1016000"/>
          </a:xfrm>
          <a:prstGeom prst="rect">
            <a:avLst/>
          </a:prstGeom>
          <a:solidFill>
            <a:srgbClr val="1B3A6B"/>
          </a:solidFill>
          <a:ln/>
        </p:spPr>
      </p:sp>
      <p:sp>
        <p:nvSpPr>
          <p:cNvPr id="27" name="Text 25"/>
          <p:cNvSpPr/>
          <p:nvPr/>
        </p:nvSpPr>
        <p:spPr>
          <a:xfrm>
            <a:off x="762000" y="5892800"/>
            <a:ext cx="635000" cy="1016000"/>
          </a:xfrm>
          <a:prstGeom prst="rect">
            <a:avLst/>
          </a:prstGeom>
          <a:noFill/>
          <a:ln/>
        </p:spPr>
        <p:txBody>
          <a:bodyPr wrap="none" lIns="0" tIns="0" rIns="0" bIns="0" rtlCol="0" anchor="ctr"/>
          <a:lstStyle/>
          <a:p>
            <a:pPr algn="ctr">
              <a:lnSpc>
                <a:spcPct val="120000"/>
              </a:lnSpc>
            </a:pPr>
            <a:r>
              <a:rPr lang="en-US" sz="2400" b="1" dirty="0">
                <a:solidFill>
                  <a:srgbClr val="1B3A6B"/>
                </a:solidFill>
                <a:latin typeface="Sorts Mill Goudy" pitchFamily="34" charset="0"/>
                <a:ea typeface="Sorts Mill Goudy" pitchFamily="34" charset="-122"/>
                <a:cs typeface="Sorts Mill Goudy" pitchFamily="34" charset="-120"/>
              </a:rPr>
              <a:t>05</a:t>
            </a:r>
            <a:endParaRPr lang="en-US" sz="2400" dirty="0"/>
          </a:p>
        </p:txBody>
      </p:sp>
      <p:sp>
        <p:nvSpPr>
          <p:cNvPr id="28" name="Text 26"/>
          <p:cNvSpPr/>
          <p:nvPr/>
        </p:nvSpPr>
        <p:spPr>
          <a:xfrm>
            <a:off x="1447800" y="5969000"/>
            <a:ext cx="6553200" cy="863600"/>
          </a:xfrm>
          <a:prstGeom prst="rect">
            <a:avLst/>
          </a:prstGeom>
          <a:noFill/>
          <a:ln/>
        </p:spPr>
        <p:txBody>
          <a:bodyPr wrap="square" lIns="0" tIns="0" rIns="0" bIns="0" rtlCol="0" anchor="t"/>
          <a:lstStyle/>
          <a:p>
            <a:pPr algn="l">
              <a:lnSpc>
                <a:spcPct val="150000"/>
              </a:lnSpc>
            </a:pPr>
            <a:r>
              <a:rPr lang="en-US" sz="1400" b="1" dirty="0">
                <a:solidFill>
                  <a:srgbClr val="2D2D2D"/>
                </a:solidFill>
                <a:latin typeface="Liter" pitchFamily="34" charset="0"/>
                <a:ea typeface="Liter" pitchFamily="34" charset="-122"/>
                <a:cs typeface="Liter" pitchFamily="34" charset="-120"/>
              </a:rPr>
              <a:t>Build Dashboard Visuals</a:t>
            </a:r>
            <a:endParaRPr lang="en-US" sz="1400" dirty="0"/>
          </a:p>
          <a:p>
            <a:pPr algn="l">
              <a:lnSpc>
                <a:spcPct val="150000"/>
              </a:lnSpc>
            </a:pPr>
            <a:r>
              <a:rPr lang="en-US" sz="1300" dirty="0">
                <a:solidFill>
                  <a:srgbClr val="555555"/>
                </a:solidFill>
                <a:latin typeface="Liter" pitchFamily="34" charset="0"/>
                <a:ea typeface="Liter" pitchFamily="34" charset="-122"/>
                <a:cs typeface="Liter" pitchFamily="34" charset="-120"/>
              </a:rPr>
              <a:t>Create pages, add visuals, configure slicers, and apply formatting.</a:t>
            </a:r>
            <a:endParaRPr lang="en-US" sz="1400" dirty="0"/>
          </a:p>
        </p:txBody>
      </p:sp>
      <p:sp>
        <p:nvSpPr>
          <p:cNvPr id="29" name="Shape 27"/>
          <p:cNvSpPr/>
          <p:nvPr/>
        </p:nvSpPr>
        <p:spPr>
          <a:xfrm>
            <a:off x="8255000" y="965200"/>
            <a:ext cx="7366000" cy="279400"/>
          </a:xfrm>
          <a:prstGeom prst="rect">
            <a:avLst/>
          </a:prstGeom>
          <a:solidFill>
            <a:srgbClr val="EBF0F7"/>
          </a:solidFill>
          <a:ln/>
        </p:spPr>
      </p:sp>
      <p:sp>
        <p:nvSpPr>
          <p:cNvPr id="30" name="Shape 28"/>
          <p:cNvSpPr/>
          <p:nvPr/>
        </p:nvSpPr>
        <p:spPr>
          <a:xfrm>
            <a:off x="8255000" y="965200"/>
            <a:ext cx="38100" cy="279400"/>
          </a:xfrm>
          <a:prstGeom prst="rect">
            <a:avLst/>
          </a:prstGeom>
          <a:solidFill>
            <a:srgbClr val="C9963B"/>
          </a:solidFill>
          <a:ln/>
        </p:spPr>
      </p:sp>
      <p:sp>
        <p:nvSpPr>
          <p:cNvPr id="31" name="Text 29"/>
          <p:cNvSpPr/>
          <p:nvPr/>
        </p:nvSpPr>
        <p:spPr>
          <a:xfrm>
            <a:off x="8356600" y="965200"/>
            <a:ext cx="7239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Why TSV Format?</a:t>
            </a:r>
            <a:endParaRPr lang="en-US" sz="1300" dirty="0"/>
          </a:p>
        </p:txBody>
      </p:sp>
      <p:sp>
        <p:nvSpPr>
          <p:cNvPr id="32" name="Shape 30"/>
          <p:cNvSpPr/>
          <p:nvPr/>
        </p:nvSpPr>
        <p:spPr>
          <a:xfrm>
            <a:off x="8318500" y="1320800"/>
            <a:ext cx="7239000" cy="1778000"/>
          </a:xfrm>
          <a:prstGeom prst="rect">
            <a:avLst/>
          </a:prstGeom>
          <a:solidFill>
            <a:srgbClr val="EBF0F7"/>
          </a:solidFill>
          <a:ln/>
        </p:spPr>
      </p:sp>
      <p:sp>
        <p:nvSpPr>
          <p:cNvPr id="33" name="Shape 31"/>
          <p:cNvSpPr/>
          <p:nvPr/>
        </p:nvSpPr>
        <p:spPr>
          <a:xfrm>
            <a:off x="8318500" y="1320800"/>
            <a:ext cx="7239000" cy="38100"/>
          </a:xfrm>
          <a:prstGeom prst="rect">
            <a:avLst/>
          </a:prstGeom>
          <a:solidFill>
            <a:srgbClr val="1B3A6B"/>
          </a:solidFill>
          <a:ln/>
        </p:spPr>
      </p:sp>
      <p:sp>
        <p:nvSpPr>
          <p:cNvPr id="34" name="Text 32"/>
          <p:cNvSpPr/>
          <p:nvPr/>
        </p:nvSpPr>
        <p:spPr>
          <a:xfrm>
            <a:off x="8483600" y="1447800"/>
            <a:ext cx="6908800" cy="304800"/>
          </a:xfrm>
          <a:prstGeom prst="rect">
            <a:avLst/>
          </a:prstGeom>
          <a:noFill/>
          <a:ln/>
        </p:spPr>
        <p:txBody>
          <a:bodyPr wrap="none" lIns="0" tIns="0" rIns="0" bIns="0" rtlCol="0" anchor="ctr"/>
          <a:lstStyle/>
          <a:p>
            <a:pPr algn="l">
              <a:lnSpc>
                <a:spcPct val="120000"/>
              </a:lnSpc>
            </a:pPr>
            <a:r>
              <a:rPr lang="en-US" sz="1500" b="1" dirty="0">
                <a:solidFill>
                  <a:srgbClr val="1B3A6B"/>
                </a:solidFill>
                <a:latin typeface="Sorts Mill Goudy" pitchFamily="34" charset="0"/>
                <a:ea typeface="Sorts Mill Goudy" pitchFamily="34" charset="-122"/>
                <a:cs typeface="Sorts Mill Goudy" pitchFamily="34" charset="-120"/>
              </a:rPr>
              <a:t>Avoided Comma-Related Parsing Issues</a:t>
            </a:r>
            <a:endParaRPr lang="en-US" sz="1500" dirty="0"/>
          </a:p>
        </p:txBody>
      </p:sp>
      <p:sp>
        <p:nvSpPr>
          <p:cNvPr id="35" name="Text 33"/>
          <p:cNvSpPr/>
          <p:nvPr/>
        </p:nvSpPr>
        <p:spPr>
          <a:xfrm>
            <a:off x="8483600" y="1803400"/>
            <a:ext cx="6908800" cy="11430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Product descriptions frequently contain commas (e.g., "WHITE HANGING HEART T-LIGHT HOLDER"), which cause column misalignment in CSV format. TSV uses tab characters that never appear in data.</a:t>
            </a:r>
            <a:endParaRPr lang="en-US" sz="1300" dirty="0"/>
          </a:p>
        </p:txBody>
      </p:sp>
      <p:sp>
        <p:nvSpPr>
          <p:cNvPr id="36" name="Shape 34"/>
          <p:cNvSpPr/>
          <p:nvPr/>
        </p:nvSpPr>
        <p:spPr>
          <a:xfrm>
            <a:off x="8318500" y="3225800"/>
            <a:ext cx="7239000" cy="1778000"/>
          </a:xfrm>
          <a:prstGeom prst="rect">
            <a:avLst/>
          </a:prstGeom>
          <a:solidFill>
            <a:srgbClr val="EBF0F7"/>
          </a:solidFill>
          <a:ln/>
        </p:spPr>
      </p:sp>
      <p:sp>
        <p:nvSpPr>
          <p:cNvPr id="37" name="Shape 35"/>
          <p:cNvSpPr/>
          <p:nvPr/>
        </p:nvSpPr>
        <p:spPr>
          <a:xfrm>
            <a:off x="8318500" y="3225800"/>
            <a:ext cx="7239000" cy="38100"/>
          </a:xfrm>
          <a:prstGeom prst="rect">
            <a:avLst/>
          </a:prstGeom>
          <a:solidFill>
            <a:srgbClr val="C9963B"/>
          </a:solidFill>
          <a:ln/>
        </p:spPr>
      </p:sp>
      <p:sp>
        <p:nvSpPr>
          <p:cNvPr id="38" name="Text 36"/>
          <p:cNvSpPr/>
          <p:nvPr/>
        </p:nvSpPr>
        <p:spPr>
          <a:xfrm>
            <a:off x="8483600" y="3352800"/>
            <a:ext cx="6908800" cy="304800"/>
          </a:xfrm>
          <a:prstGeom prst="rect">
            <a:avLst/>
          </a:prstGeom>
          <a:noFill/>
          <a:ln/>
        </p:spPr>
        <p:txBody>
          <a:bodyPr wrap="none" lIns="0" tIns="0" rIns="0" bIns="0" rtlCol="0" anchor="ctr"/>
          <a:lstStyle/>
          <a:p>
            <a:pPr algn="l">
              <a:lnSpc>
                <a:spcPct val="120000"/>
              </a:lnSpc>
            </a:pPr>
            <a:r>
              <a:rPr lang="en-US" sz="1500" b="1" dirty="0">
                <a:solidFill>
                  <a:srgbClr val="C9963B"/>
                </a:solidFill>
                <a:latin typeface="Sorts Mill Goudy" pitchFamily="34" charset="0"/>
                <a:ea typeface="Sorts Mill Goudy" pitchFamily="34" charset="-122"/>
                <a:cs typeface="Sorts Mill Goudy" pitchFamily="34" charset="-120"/>
              </a:rPr>
              <a:t>Improved Data Stability</a:t>
            </a:r>
            <a:endParaRPr lang="en-US" sz="1500" dirty="0"/>
          </a:p>
        </p:txBody>
      </p:sp>
      <p:sp>
        <p:nvSpPr>
          <p:cNvPr id="39" name="Text 37"/>
          <p:cNvSpPr/>
          <p:nvPr/>
        </p:nvSpPr>
        <p:spPr>
          <a:xfrm>
            <a:off x="8483600" y="3708400"/>
            <a:ext cx="6908800" cy="11430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Tab-separated values provide unambiguous field boundaries, eliminating the need for quote escaping and ensuring consistent import behavior across different systems and tools.</a:t>
            </a:r>
            <a:endParaRPr lang="en-US" sz="1300" dirty="0"/>
          </a:p>
        </p:txBody>
      </p:sp>
      <p:sp>
        <p:nvSpPr>
          <p:cNvPr id="40" name="Shape 38"/>
          <p:cNvSpPr/>
          <p:nvPr/>
        </p:nvSpPr>
        <p:spPr>
          <a:xfrm>
            <a:off x="8318500" y="5130800"/>
            <a:ext cx="7239000" cy="1778000"/>
          </a:xfrm>
          <a:prstGeom prst="rect">
            <a:avLst/>
          </a:prstGeom>
          <a:solidFill>
            <a:srgbClr val="EBF0F7"/>
          </a:solidFill>
          <a:ln/>
        </p:spPr>
      </p:sp>
      <p:sp>
        <p:nvSpPr>
          <p:cNvPr id="41" name="Shape 39"/>
          <p:cNvSpPr/>
          <p:nvPr/>
        </p:nvSpPr>
        <p:spPr>
          <a:xfrm>
            <a:off x="8318500" y="5130800"/>
            <a:ext cx="7239000" cy="38100"/>
          </a:xfrm>
          <a:prstGeom prst="rect">
            <a:avLst/>
          </a:prstGeom>
          <a:solidFill>
            <a:srgbClr val="1B3A6B"/>
          </a:solidFill>
          <a:ln/>
        </p:spPr>
      </p:sp>
      <p:sp>
        <p:nvSpPr>
          <p:cNvPr id="42" name="Text 40"/>
          <p:cNvSpPr/>
          <p:nvPr/>
        </p:nvSpPr>
        <p:spPr>
          <a:xfrm>
            <a:off x="8483600" y="5257800"/>
            <a:ext cx="6908800" cy="304800"/>
          </a:xfrm>
          <a:prstGeom prst="rect">
            <a:avLst/>
          </a:prstGeom>
          <a:noFill/>
          <a:ln/>
        </p:spPr>
        <p:txBody>
          <a:bodyPr wrap="none" lIns="0" tIns="0" rIns="0" bIns="0" rtlCol="0" anchor="ctr"/>
          <a:lstStyle/>
          <a:p>
            <a:pPr algn="l">
              <a:lnSpc>
                <a:spcPct val="120000"/>
              </a:lnSpc>
            </a:pPr>
            <a:r>
              <a:rPr lang="en-US" sz="1500" b="1" dirty="0">
                <a:solidFill>
                  <a:srgbClr val="1B3A6B"/>
                </a:solidFill>
                <a:latin typeface="Sorts Mill Goudy" pitchFamily="34" charset="0"/>
                <a:ea typeface="Sorts Mill Goudy" pitchFamily="34" charset="-122"/>
                <a:cs typeface="Sorts Mill Goudy" pitchFamily="34" charset="-120"/>
              </a:rPr>
              <a:t>Reliable Cross-Platform Transfer</a:t>
            </a:r>
            <a:endParaRPr lang="en-US" sz="1500" dirty="0"/>
          </a:p>
        </p:txBody>
      </p:sp>
      <p:sp>
        <p:nvSpPr>
          <p:cNvPr id="43" name="Text 41"/>
          <p:cNvSpPr/>
          <p:nvPr/>
        </p:nvSpPr>
        <p:spPr>
          <a:xfrm>
            <a:off x="8483600" y="5613400"/>
            <a:ext cx="6908800" cy="11430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TSV is universally supported by database systems, spreadsheet applications, and BI tools, making it the ideal intermediate format for ETL workflows.</a:t>
            </a:r>
            <a:endParaRPr lang="en-US" sz="1300" dirty="0"/>
          </a:p>
        </p:txBody>
      </p:sp>
      <p:sp>
        <p:nvSpPr>
          <p:cNvPr id="44" name="Shape 42"/>
          <p:cNvSpPr/>
          <p:nvPr/>
        </p:nvSpPr>
        <p:spPr>
          <a:xfrm>
            <a:off x="635000" y="8331200"/>
            <a:ext cx="14986000" cy="12700"/>
          </a:xfrm>
          <a:prstGeom prst="rect">
            <a:avLst/>
          </a:prstGeom>
          <a:solidFill>
            <a:srgbClr val="D0D8E4"/>
          </a:solidFill>
          <a:ln/>
        </p:spPr>
      </p:sp>
      <p:sp>
        <p:nvSpPr>
          <p:cNvPr id="45" name="Text 43"/>
          <p:cNvSpPr/>
          <p:nvPr/>
        </p:nvSpPr>
        <p:spPr>
          <a:xfrm>
            <a:off x="15240000" y="8432800"/>
            <a:ext cx="762000" cy="279400"/>
          </a:xfrm>
          <a:prstGeom prst="rect">
            <a:avLst/>
          </a:prstGeom>
          <a:noFill/>
          <a:ln/>
        </p:spPr>
        <p:txBody>
          <a:bodyPr wrap="none" lIns="0" tIns="0" rIns="0" bIns="0" rtlCol="0" anchor="ctr"/>
          <a:lstStyle/>
          <a:p>
            <a:pPr algn="r">
              <a:lnSpc>
                <a:spcPct val="120000"/>
              </a:lnSpc>
            </a:pPr>
            <a:r>
              <a:rPr lang="en-US" sz="1200" dirty="0">
                <a:solidFill>
                  <a:srgbClr val="8899AA"/>
                </a:solidFill>
                <a:latin typeface="MiSans" pitchFamily="34" charset="0"/>
                <a:ea typeface="MiSans" pitchFamily="34" charset="-122"/>
                <a:cs typeface="MiSans" pitchFamily="34" charset="-120"/>
              </a:rPr>
              <a:t>17</a:t>
            </a:r>
            <a:endParaRPr lang="en-US" sz="12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1B3A6B"/>
          </a:solidFill>
          <a:ln/>
        </p:spPr>
      </p:sp>
      <p:sp>
        <p:nvSpPr>
          <p:cNvPr id="3" name="Shape 1"/>
          <p:cNvSpPr/>
          <p:nvPr/>
        </p:nvSpPr>
        <p:spPr>
          <a:xfrm>
            <a:off x="635000" y="127000"/>
            <a:ext cx="50800" cy="685800"/>
          </a:xfrm>
          <a:prstGeom prst="rect">
            <a:avLst/>
          </a:prstGeom>
          <a:solidFill>
            <a:srgbClr val="C9963B"/>
          </a:solidFill>
          <a:ln/>
        </p:spPr>
      </p:sp>
      <p:sp>
        <p:nvSpPr>
          <p:cNvPr id="4" name="Text 2"/>
          <p:cNvSpPr/>
          <p:nvPr/>
        </p:nvSpPr>
        <p:spPr>
          <a:xfrm>
            <a:off x="787400" y="152400"/>
            <a:ext cx="14605000" cy="635000"/>
          </a:xfrm>
          <a:prstGeom prst="rect">
            <a:avLst/>
          </a:prstGeom>
          <a:noFill/>
          <a:ln/>
        </p:spPr>
        <p:txBody>
          <a:bodyPr wrap="square" lIns="0" tIns="0" rIns="0" bIns="0" rtlCol="0" anchor="ctr"/>
          <a:lstStyle/>
          <a:p>
            <a:pPr algn="l">
              <a:lnSpc>
                <a:spcPct val="120000"/>
              </a:lnSpc>
            </a:pPr>
            <a:r>
              <a:rPr lang="en-US" sz="2200" b="1" dirty="0">
                <a:solidFill>
                  <a:srgbClr val="0F2647"/>
                </a:solidFill>
                <a:latin typeface="Sorts Mill Goudy" pitchFamily="34" charset="0"/>
                <a:ea typeface="Sorts Mill Goudy" pitchFamily="34" charset="-122"/>
                <a:cs typeface="Sorts Mill Goudy" pitchFamily="34" charset="-120"/>
              </a:rPr>
              <a:t>Four core DAX measures power the dashboard KPIs providing real-time revenue, order, and customer analytics</a:t>
            </a:r>
            <a:endParaRPr lang="en-US" sz="2200" dirty="0"/>
          </a:p>
        </p:txBody>
      </p:sp>
      <p:sp>
        <p:nvSpPr>
          <p:cNvPr id="5" name="Shape 3"/>
          <p:cNvSpPr/>
          <p:nvPr/>
        </p:nvSpPr>
        <p:spPr>
          <a:xfrm>
            <a:off x="635000" y="863600"/>
            <a:ext cx="14986000" cy="12700"/>
          </a:xfrm>
          <a:prstGeom prst="rect">
            <a:avLst/>
          </a:prstGeom>
          <a:solidFill>
            <a:srgbClr val="D0D8E4"/>
          </a:solidFill>
          <a:ln/>
        </p:spPr>
      </p:sp>
      <p:sp>
        <p:nvSpPr>
          <p:cNvPr id="6" name="Shape 4"/>
          <p:cNvSpPr/>
          <p:nvPr/>
        </p:nvSpPr>
        <p:spPr>
          <a:xfrm>
            <a:off x="635000" y="965200"/>
            <a:ext cx="7493000" cy="279400"/>
          </a:xfrm>
          <a:prstGeom prst="rect">
            <a:avLst/>
          </a:prstGeom>
          <a:solidFill>
            <a:srgbClr val="EBF0F7"/>
          </a:solidFill>
          <a:ln/>
        </p:spPr>
      </p:sp>
      <p:sp>
        <p:nvSpPr>
          <p:cNvPr id="7" name="Shape 5"/>
          <p:cNvSpPr/>
          <p:nvPr/>
        </p:nvSpPr>
        <p:spPr>
          <a:xfrm>
            <a:off x="635000" y="965200"/>
            <a:ext cx="38100" cy="279400"/>
          </a:xfrm>
          <a:prstGeom prst="rect">
            <a:avLst/>
          </a:prstGeom>
          <a:solidFill>
            <a:srgbClr val="C9963B"/>
          </a:solidFill>
          <a:ln/>
        </p:spPr>
      </p:sp>
      <p:sp>
        <p:nvSpPr>
          <p:cNvPr id="8" name="Text 6"/>
          <p:cNvSpPr/>
          <p:nvPr/>
        </p:nvSpPr>
        <p:spPr>
          <a:xfrm>
            <a:off x="736600" y="965200"/>
            <a:ext cx="7366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DAX Measures — KPI Cards</a:t>
            </a:r>
            <a:endParaRPr lang="en-US" sz="1300" dirty="0"/>
          </a:p>
        </p:txBody>
      </p:sp>
      <p:sp>
        <p:nvSpPr>
          <p:cNvPr id="9" name="Shape 7"/>
          <p:cNvSpPr/>
          <p:nvPr/>
        </p:nvSpPr>
        <p:spPr>
          <a:xfrm>
            <a:off x="698500" y="1320800"/>
            <a:ext cx="3556000" cy="2286000"/>
          </a:xfrm>
          <a:prstGeom prst="rect">
            <a:avLst/>
          </a:prstGeom>
          <a:solidFill>
            <a:srgbClr val="EBF0F7"/>
          </a:solidFill>
          <a:ln/>
        </p:spPr>
      </p:sp>
      <p:sp>
        <p:nvSpPr>
          <p:cNvPr id="10" name="Shape 8"/>
          <p:cNvSpPr/>
          <p:nvPr/>
        </p:nvSpPr>
        <p:spPr>
          <a:xfrm>
            <a:off x="698500" y="1320800"/>
            <a:ext cx="3556000" cy="38100"/>
          </a:xfrm>
          <a:prstGeom prst="rect">
            <a:avLst/>
          </a:prstGeom>
          <a:solidFill>
            <a:srgbClr val="1B3A6B"/>
          </a:solidFill>
          <a:ln/>
        </p:spPr>
      </p:sp>
      <p:sp>
        <p:nvSpPr>
          <p:cNvPr id="11" name="Text 9"/>
          <p:cNvSpPr/>
          <p:nvPr/>
        </p:nvSpPr>
        <p:spPr>
          <a:xfrm>
            <a:off x="825500" y="1447800"/>
            <a:ext cx="3302000" cy="279400"/>
          </a:xfrm>
          <a:prstGeom prst="rect">
            <a:avLst/>
          </a:prstGeom>
          <a:noFill/>
          <a:ln/>
        </p:spPr>
        <p:txBody>
          <a:bodyPr wrap="none" lIns="0" tIns="0" rIns="0" bIns="0" rtlCol="0" anchor="ctr"/>
          <a:lstStyle/>
          <a:p>
            <a:pPr algn="l">
              <a:lnSpc>
                <a:spcPct val="120000"/>
              </a:lnSpc>
            </a:pPr>
            <a:r>
              <a:rPr lang="en-US" sz="1300" b="1" dirty="0">
                <a:solidFill>
                  <a:srgbClr val="2D2D2D"/>
                </a:solidFill>
                <a:latin typeface="Liter" pitchFamily="34" charset="0"/>
                <a:ea typeface="Liter" pitchFamily="34" charset="-122"/>
                <a:cs typeface="Liter" pitchFamily="34" charset="-120"/>
              </a:rPr>
              <a:t>Total Revenue</a:t>
            </a:r>
            <a:endParaRPr lang="en-US" sz="1300" dirty="0"/>
          </a:p>
        </p:txBody>
      </p:sp>
      <p:sp>
        <p:nvSpPr>
          <p:cNvPr id="12" name="Shape 10"/>
          <p:cNvSpPr/>
          <p:nvPr/>
        </p:nvSpPr>
        <p:spPr>
          <a:xfrm>
            <a:off x="825500" y="1803400"/>
            <a:ext cx="3302000" cy="1016000"/>
          </a:xfrm>
          <a:prstGeom prst="rect">
            <a:avLst/>
          </a:prstGeom>
          <a:solidFill>
            <a:srgbClr val="FFFFFF"/>
          </a:solidFill>
          <a:ln/>
        </p:spPr>
      </p:sp>
      <p:sp>
        <p:nvSpPr>
          <p:cNvPr id="13" name="Text 11"/>
          <p:cNvSpPr/>
          <p:nvPr/>
        </p:nvSpPr>
        <p:spPr>
          <a:xfrm>
            <a:off x="914400" y="1879600"/>
            <a:ext cx="3124200" cy="863600"/>
          </a:xfrm>
          <a:prstGeom prst="rect">
            <a:avLst/>
          </a:prstGeom>
          <a:noFill/>
          <a:ln/>
        </p:spPr>
        <p:txBody>
          <a:bodyPr wrap="square" lIns="0" tIns="0" rIns="0" bIns="0" rtlCol="0" anchor="t"/>
          <a:lstStyle/>
          <a:p>
            <a:pPr algn="l">
              <a:lnSpc>
                <a:spcPct val="140000"/>
              </a:lnSpc>
            </a:pPr>
            <a:r>
              <a:rPr lang="en-US" sz="1100" dirty="0">
                <a:solidFill>
                  <a:srgbClr val="0F2647"/>
                </a:solidFill>
                <a:latin typeface="Liter" pitchFamily="34" charset="0"/>
                <a:ea typeface="Liter" pitchFamily="34" charset="-122"/>
                <a:cs typeface="Liter" pitchFamily="34" charset="-120"/>
              </a:rPr>
              <a:t>Total Revenue =</a:t>
            </a:r>
            <a:endParaRPr lang="en-US" sz="1100" dirty="0"/>
          </a:p>
          <a:p>
            <a:pPr algn="l">
              <a:lnSpc>
                <a:spcPct val="140000"/>
              </a:lnSpc>
            </a:pPr>
            <a:r>
              <a:rPr lang="en-US" sz="1100" b="1" dirty="0">
                <a:solidFill>
                  <a:srgbClr val="0F2647"/>
                </a:solidFill>
                <a:latin typeface="Liter" pitchFamily="34" charset="0"/>
                <a:ea typeface="Liter" pitchFamily="34" charset="-122"/>
                <a:cs typeface="Liter" pitchFamily="34" charset="-120"/>
              </a:rPr>
              <a:t>SUM</a:t>
            </a:r>
            <a:r>
              <a:rPr lang="en-US" sz="1100" dirty="0">
                <a:solidFill>
                  <a:srgbClr val="0F2647"/>
                </a:solidFill>
                <a:latin typeface="Liter" pitchFamily="34" charset="0"/>
                <a:ea typeface="Liter" pitchFamily="34" charset="-122"/>
                <a:cs typeface="Liter" pitchFamily="34" charset="-120"/>
              </a:rPr>
              <a:t>(retail_final[</a:t>
            </a:r>
            <a:endParaRPr lang="en-US" sz="1100" dirty="0"/>
          </a:p>
          <a:p>
            <a:pPr algn="l">
              <a:lnSpc>
                <a:spcPct val="140000"/>
              </a:lnSpc>
            </a:pPr>
            <a:r>
              <a:rPr lang="en-US" sz="1100" dirty="0">
                <a:solidFill>
                  <a:srgbClr val="0F2647"/>
                </a:solidFill>
                <a:latin typeface="Liter" pitchFamily="34" charset="0"/>
                <a:ea typeface="Liter" pitchFamily="34" charset="-122"/>
                <a:cs typeface="Liter" pitchFamily="34" charset="-120"/>
              </a:rPr>
              <a:t>  total_sales])</a:t>
            </a:r>
            <a:endParaRPr lang="en-US" sz="1100" dirty="0"/>
          </a:p>
        </p:txBody>
      </p:sp>
      <p:sp>
        <p:nvSpPr>
          <p:cNvPr id="14" name="Text 12"/>
          <p:cNvSpPr/>
          <p:nvPr/>
        </p:nvSpPr>
        <p:spPr>
          <a:xfrm>
            <a:off x="825500" y="2895600"/>
            <a:ext cx="3302000" cy="635000"/>
          </a:xfrm>
          <a:prstGeom prst="rect">
            <a:avLst/>
          </a:prstGeom>
          <a:noFill/>
          <a:ln/>
        </p:spPr>
        <p:txBody>
          <a:bodyPr wrap="square" lIns="0" tIns="0" rIns="0" bIns="0" rtlCol="0" anchor="t"/>
          <a:lstStyle/>
          <a:p>
            <a:pPr algn="l">
              <a:lnSpc>
                <a:spcPct val="140000"/>
              </a:lnSpc>
            </a:pPr>
            <a:r>
              <a:rPr lang="en-US" sz="1200" dirty="0">
                <a:solidFill>
                  <a:srgbClr val="555555"/>
                </a:solidFill>
                <a:latin typeface="Liter" pitchFamily="34" charset="0"/>
                <a:ea typeface="Liter" pitchFamily="34" charset="-122"/>
                <a:cs typeface="Liter" pitchFamily="34" charset="-120"/>
              </a:rPr>
              <a:t>Sums all transaction values to compute total business revenue.</a:t>
            </a:r>
            <a:endParaRPr lang="en-US" sz="1200" dirty="0"/>
          </a:p>
        </p:txBody>
      </p:sp>
      <p:sp>
        <p:nvSpPr>
          <p:cNvPr id="15" name="Shape 13"/>
          <p:cNvSpPr/>
          <p:nvPr/>
        </p:nvSpPr>
        <p:spPr>
          <a:xfrm>
            <a:off x="4381500" y="1320800"/>
            <a:ext cx="3556000" cy="2286000"/>
          </a:xfrm>
          <a:prstGeom prst="rect">
            <a:avLst/>
          </a:prstGeom>
          <a:solidFill>
            <a:srgbClr val="EBF0F7"/>
          </a:solidFill>
          <a:ln/>
        </p:spPr>
      </p:sp>
      <p:sp>
        <p:nvSpPr>
          <p:cNvPr id="16" name="Shape 14"/>
          <p:cNvSpPr/>
          <p:nvPr/>
        </p:nvSpPr>
        <p:spPr>
          <a:xfrm>
            <a:off x="4381500" y="1320800"/>
            <a:ext cx="3556000" cy="38100"/>
          </a:xfrm>
          <a:prstGeom prst="rect">
            <a:avLst/>
          </a:prstGeom>
          <a:solidFill>
            <a:srgbClr val="C9963B"/>
          </a:solidFill>
          <a:ln/>
        </p:spPr>
      </p:sp>
      <p:sp>
        <p:nvSpPr>
          <p:cNvPr id="17" name="Text 15"/>
          <p:cNvSpPr/>
          <p:nvPr/>
        </p:nvSpPr>
        <p:spPr>
          <a:xfrm>
            <a:off x="4508500" y="1447800"/>
            <a:ext cx="3302000" cy="279400"/>
          </a:xfrm>
          <a:prstGeom prst="rect">
            <a:avLst/>
          </a:prstGeom>
          <a:noFill/>
          <a:ln/>
        </p:spPr>
        <p:txBody>
          <a:bodyPr wrap="none" lIns="0" tIns="0" rIns="0" bIns="0" rtlCol="0" anchor="ctr"/>
          <a:lstStyle/>
          <a:p>
            <a:pPr algn="l">
              <a:lnSpc>
                <a:spcPct val="120000"/>
              </a:lnSpc>
            </a:pPr>
            <a:r>
              <a:rPr lang="en-US" sz="1300" b="1" dirty="0">
                <a:solidFill>
                  <a:srgbClr val="2D2D2D"/>
                </a:solidFill>
                <a:latin typeface="Liter" pitchFamily="34" charset="0"/>
                <a:ea typeface="Liter" pitchFamily="34" charset="-122"/>
                <a:cs typeface="Liter" pitchFamily="34" charset="-120"/>
              </a:rPr>
              <a:t>Total Orders</a:t>
            </a:r>
            <a:endParaRPr lang="en-US" sz="1300" dirty="0"/>
          </a:p>
        </p:txBody>
      </p:sp>
      <p:sp>
        <p:nvSpPr>
          <p:cNvPr id="18" name="Shape 16"/>
          <p:cNvSpPr/>
          <p:nvPr/>
        </p:nvSpPr>
        <p:spPr>
          <a:xfrm>
            <a:off x="4508500" y="1803400"/>
            <a:ext cx="3302000" cy="1016000"/>
          </a:xfrm>
          <a:prstGeom prst="rect">
            <a:avLst/>
          </a:prstGeom>
          <a:solidFill>
            <a:srgbClr val="FFFFFF"/>
          </a:solidFill>
          <a:ln/>
        </p:spPr>
      </p:sp>
      <p:sp>
        <p:nvSpPr>
          <p:cNvPr id="19" name="Text 17"/>
          <p:cNvSpPr/>
          <p:nvPr/>
        </p:nvSpPr>
        <p:spPr>
          <a:xfrm>
            <a:off x="4597400" y="1879600"/>
            <a:ext cx="3124200" cy="863600"/>
          </a:xfrm>
          <a:prstGeom prst="rect">
            <a:avLst/>
          </a:prstGeom>
          <a:noFill/>
          <a:ln/>
        </p:spPr>
        <p:txBody>
          <a:bodyPr wrap="square" lIns="0" tIns="0" rIns="0" bIns="0" rtlCol="0" anchor="t"/>
          <a:lstStyle/>
          <a:p>
            <a:pPr algn="l">
              <a:lnSpc>
                <a:spcPct val="140000"/>
              </a:lnSpc>
            </a:pPr>
            <a:r>
              <a:rPr lang="en-US" sz="1100" dirty="0">
                <a:solidFill>
                  <a:srgbClr val="0F2647"/>
                </a:solidFill>
                <a:latin typeface="Liter" pitchFamily="34" charset="0"/>
                <a:ea typeface="Liter" pitchFamily="34" charset="-122"/>
                <a:cs typeface="Liter" pitchFamily="34" charset="-120"/>
              </a:rPr>
              <a:t>Total Orders =</a:t>
            </a:r>
            <a:endParaRPr lang="en-US" sz="1100" dirty="0"/>
          </a:p>
          <a:p>
            <a:pPr algn="l">
              <a:lnSpc>
                <a:spcPct val="140000"/>
              </a:lnSpc>
            </a:pPr>
            <a:r>
              <a:rPr lang="en-US" sz="1100" b="1" dirty="0">
                <a:solidFill>
                  <a:srgbClr val="0F2647"/>
                </a:solidFill>
                <a:latin typeface="Liter" pitchFamily="34" charset="0"/>
                <a:ea typeface="Liter" pitchFamily="34" charset="-122"/>
                <a:cs typeface="Liter" pitchFamily="34" charset="-120"/>
              </a:rPr>
              <a:t>DISTINCTCOUNT</a:t>
            </a:r>
            <a:r>
              <a:rPr lang="en-US" sz="1100" dirty="0">
                <a:solidFill>
                  <a:srgbClr val="0F2647"/>
                </a:solidFill>
                <a:latin typeface="Liter" pitchFamily="34" charset="0"/>
                <a:ea typeface="Liter" pitchFamily="34" charset="-122"/>
                <a:cs typeface="Liter" pitchFamily="34" charset="-120"/>
              </a:rPr>
              <a:t>(</a:t>
            </a:r>
            <a:endParaRPr lang="en-US" sz="1100" dirty="0"/>
          </a:p>
          <a:p>
            <a:pPr algn="l">
              <a:lnSpc>
                <a:spcPct val="140000"/>
              </a:lnSpc>
            </a:pPr>
            <a:r>
              <a:rPr lang="en-US" sz="1100" dirty="0">
                <a:solidFill>
                  <a:srgbClr val="0F2647"/>
                </a:solidFill>
                <a:latin typeface="Liter" pitchFamily="34" charset="0"/>
                <a:ea typeface="Liter" pitchFamily="34" charset="-122"/>
                <a:cs typeface="Liter" pitchFamily="34" charset="-120"/>
              </a:rPr>
              <a:t>  retail_final[Invoice])</a:t>
            </a:r>
            <a:endParaRPr lang="en-US" sz="1100" dirty="0"/>
          </a:p>
        </p:txBody>
      </p:sp>
      <p:sp>
        <p:nvSpPr>
          <p:cNvPr id="20" name="Text 18"/>
          <p:cNvSpPr/>
          <p:nvPr/>
        </p:nvSpPr>
        <p:spPr>
          <a:xfrm>
            <a:off x="4508500" y="2895600"/>
            <a:ext cx="3302000" cy="635000"/>
          </a:xfrm>
          <a:prstGeom prst="rect">
            <a:avLst/>
          </a:prstGeom>
          <a:noFill/>
          <a:ln/>
        </p:spPr>
        <p:txBody>
          <a:bodyPr wrap="square" lIns="0" tIns="0" rIns="0" bIns="0" rtlCol="0" anchor="t"/>
          <a:lstStyle/>
          <a:p>
            <a:pPr algn="l">
              <a:lnSpc>
                <a:spcPct val="140000"/>
              </a:lnSpc>
            </a:pPr>
            <a:r>
              <a:rPr lang="en-US" sz="1200" dirty="0">
                <a:solidFill>
                  <a:srgbClr val="555555"/>
                </a:solidFill>
                <a:latin typeface="Liter" pitchFamily="34" charset="0"/>
                <a:ea typeface="Liter" pitchFamily="34" charset="-122"/>
                <a:cs typeface="Liter" pitchFamily="34" charset="-120"/>
              </a:rPr>
              <a:t>Counts unique invoices to determine total number of orders placed.</a:t>
            </a:r>
            <a:endParaRPr lang="en-US" sz="1200" dirty="0"/>
          </a:p>
        </p:txBody>
      </p:sp>
      <p:sp>
        <p:nvSpPr>
          <p:cNvPr id="21" name="Shape 19"/>
          <p:cNvSpPr/>
          <p:nvPr/>
        </p:nvSpPr>
        <p:spPr>
          <a:xfrm>
            <a:off x="698500" y="3810000"/>
            <a:ext cx="3556000" cy="2286000"/>
          </a:xfrm>
          <a:prstGeom prst="rect">
            <a:avLst/>
          </a:prstGeom>
          <a:solidFill>
            <a:srgbClr val="EBF0F7"/>
          </a:solidFill>
          <a:ln/>
        </p:spPr>
      </p:sp>
      <p:sp>
        <p:nvSpPr>
          <p:cNvPr id="22" name="Shape 20"/>
          <p:cNvSpPr/>
          <p:nvPr/>
        </p:nvSpPr>
        <p:spPr>
          <a:xfrm>
            <a:off x="698500" y="3810000"/>
            <a:ext cx="3556000" cy="38100"/>
          </a:xfrm>
          <a:prstGeom prst="rect">
            <a:avLst/>
          </a:prstGeom>
          <a:solidFill>
            <a:srgbClr val="C9963B"/>
          </a:solidFill>
          <a:ln/>
        </p:spPr>
      </p:sp>
      <p:sp>
        <p:nvSpPr>
          <p:cNvPr id="23" name="Text 21"/>
          <p:cNvSpPr/>
          <p:nvPr/>
        </p:nvSpPr>
        <p:spPr>
          <a:xfrm>
            <a:off x="825500" y="3937000"/>
            <a:ext cx="3302000" cy="279400"/>
          </a:xfrm>
          <a:prstGeom prst="rect">
            <a:avLst/>
          </a:prstGeom>
          <a:noFill/>
          <a:ln/>
        </p:spPr>
        <p:txBody>
          <a:bodyPr wrap="none" lIns="0" tIns="0" rIns="0" bIns="0" rtlCol="0" anchor="ctr"/>
          <a:lstStyle/>
          <a:p>
            <a:pPr algn="l">
              <a:lnSpc>
                <a:spcPct val="120000"/>
              </a:lnSpc>
            </a:pPr>
            <a:r>
              <a:rPr lang="en-US" sz="1300" b="1" dirty="0">
                <a:solidFill>
                  <a:srgbClr val="2D2D2D"/>
                </a:solidFill>
                <a:latin typeface="Liter" pitchFamily="34" charset="0"/>
                <a:ea typeface="Liter" pitchFamily="34" charset="-122"/>
                <a:cs typeface="Liter" pitchFamily="34" charset="-120"/>
              </a:rPr>
              <a:t>Total Customers</a:t>
            </a:r>
            <a:endParaRPr lang="en-US" sz="1300" dirty="0"/>
          </a:p>
        </p:txBody>
      </p:sp>
      <p:sp>
        <p:nvSpPr>
          <p:cNvPr id="24" name="Shape 22"/>
          <p:cNvSpPr/>
          <p:nvPr/>
        </p:nvSpPr>
        <p:spPr>
          <a:xfrm>
            <a:off x="825500" y="4292600"/>
            <a:ext cx="3302000" cy="1016000"/>
          </a:xfrm>
          <a:prstGeom prst="rect">
            <a:avLst/>
          </a:prstGeom>
          <a:solidFill>
            <a:srgbClr val="FFFFFF"/>
          </a:solidFill>
          <a:ln/>
        </p:spPr>
      </p:sp>
      <p:sp>
        <p:nvSpPr>
          <p:cNvPr id="25" name="Text 23"/>
          <p:cNvSpPr/>
          <p:nvPr/>
        </p:nvSpPr>
        <p:spPr>
          <a:xfrm>
            <a:off x="914400" y="4368800"/>
            <a:ext cx="3124200" cy="863600"/>
          </a:xfrm>
          <a:prstGeom prst="rect">
            <a:avLst/>
          </a:prstGeom>
          <a:noFill/>
          <a:ln/>
        </p:spPr>
        <p:txBody>
          <a:bodyPr wrap="square" lIns="0" tIns="0" rIns="0" bIns="0" rtlCol="0" anchor="t"/>
          <a:lstStyle/>
          <a:p>
            <a:pPr algn="l">
              <a:lnSpc>
                <a:spcPct val="140000"/>
              </a:lnSpc>
            </a:pPr>
            <a:r>
              <a:rPr lang="en-US" sz="1100" dirty="0">
                <a:solidFill>
                  <a:srgbClr val="0F2647"/>
                </a:solidFill>
                <a:latin typeface="Liter" pitchFamily="34" charset="0"/>
                <a:ea typeface="Liter" pitchFamily="34" charset="-122"/>
                <a:cs typeface="Liter" pitchFamily="34" charset="-120"/>
              </a:rPr>
              <a:t>Total Customers =</a:t>
            </a:r>
            <a:endParaRPr lang="en-US" sz="1100" dirty="0"/>
          </a:p>
          <a:p>
            <a:pPr algn="l">
              <a:lnSpc>
                <a:spcPct val="140000"/>
              </a:lnSpc>
            </a:pPr>
            <a:r>
              <a:rPr lang="en-US" sz="1100" b="1" dirty="0">
                <a:solidFill>
                  <a:srgbClr val="0F2647"/>
                </a:solidFill>
                <a:latin typeface="Liter" pitchFamily="34" charset="0"/>
                <a:ea typeface="Liter" pitchFamily="34" charset="-122"/>
                <a:cs typeface="Liter" pitchFamily="34" charset="-120"/>
              </a:rPr>
              <a:t>DISTINCTCOUNT</a:t>
            </a:r>
            <a:r>
              <a:rPr lang="en-US" sz="1100" dirty="0">
                <a:solidFill>
                  <a:srgbClr val="0F2647"/>
                </a:solidFill>
                <a:latin typeface="Liter" pitchFamily="34" charset="0"/>
                <a:ea typeface="Liter" pitchFamily="34" charset="-122"/>
                <a:cs typeface="Liter" pitchFamily="34" charset="-120"/>
              </a:rPr>
              <a:t>(</a:t>
            </a:r>
            <a:endParaRPr lang="en-US" sz="1100" dirty="0"/>
          </a:p>
          <a:p>
            <a:pPr algn="l">
              <a:lnSpc>
                <a:spcPct val="140000"/>
              </a:lnSpc>
            </a:pPr>
            <a:r>
              <a:rPr lang="en-US" sz="1100" dirty="0">
                <a:solidFill>
                  <a:srgbClr val="0F2647"/>
                </a:solidFill>
                <a:latin typeface="Liter" pitchFamily="34" charset="0"/>
                <a:ea typeface="Liter" pitchFamily="34" charset="-122"/>
                <a:cs typeface="Liter" pitchFamily="34" charset="-120"/>
              </a:rPr>
              <a:t>  retail_final[CustomerID])</a:t>
            </a:r>
            <a:endParaRPr lang="en-US" sz="1100" dirty="0"/>
          </a:p>
        </p:txBody>
      </p:sp>
      <p:sp>
        <p:nvSpPr>
          <p:cNvPr id="26" name="Text 24"/>
          <p:cNvSpPr/>
          <p:nvPr/>
        </p:nvSpPr>
        <p:spPr>
          <a:xfrm>
            <a:off x="825500" y="5384800"/>
            <a:ext cx="3302000" cy="635000"/>
          </a:xfrm>
          <a:prstGeom prst="rect">
            <a:avLst/>
          </a:prstGeom>
          <a:noFill/>
          <a:ln/>
        </p:spPr>
        <p:txBody>
          <a:bodyPr wrap="square" lIns="0" tIns="0" rIns="0" bIns="0" rtlCol="0" anchor="t"/>
          <a:lstStyle/>
          <a:p>
            <a:pPr algn="l">
              <a:lnSpc>
                <a:spcPct val="140000"/>
              </a:lnSpc>
            </a:pPr>
            <a:r>
              <a:rPr lang="en-US" sz="1200" dirty="0">
                <a:solidFill>
                  <a:srgbClr val="555555"/>
                </a:solidFill>
                <a:latin typeface="Liter" pitchFamily="34" charset="0"/>
                <a:ea typeface="Liter" pitchFamily="34" charset="-122"/>
                <a:cs typeface="Liter" pitchFamily="34" charset="-120"/>
              </a:rPr>
              <a:t>Counts unique customers who made purchases in the dataset.</a:t>
            </a:r>
            <a:endParaRPr lang="en-US" sz="1200" dirty="0"/>
          </a:p>
        </p:txBody>
      </p:sp>
      <p:sp>
        <p:nvSpPr>
          <p:cNvPr id="27" name="Shape 25"/>
          <p:cNvSpPr/>
          <p:nvPr/>
        </p:nvSpPr>
        <p:spPr>
          <a:xfrm>
            <a:off x="4381500" y="3810000"/>
            <a:ext cx="3556000" cy="2286000"/>
          </a:xfrm>
          <a:prstGeom prst="rect">
            <a:avLst/>
          </a:prstGeom>
          <a:solidFill>
            <a:srgbClr val="EBF0F7"/>
          </a:solidFill>
          <a:ln/>
        </p:spPr>
      </p:sp>
      <p:sp>
        <p:nvSpPr>
          <p:cNvPr id="28" name="Shape 26"/>
          <p:cNvSpPr/>
          <p:nvPr/>
        </p:nvSpPr>
        <p:spPr>
          <a:xfrm>
            <a:off x="4381500" y="3810000"/>
            <a:ext cx="3556000" cy="38100"/>
          </a:xfrm>
          <a:prstGeom prst="rect">
            <a:avLst/>
          </a:prstGeom>
          <a:solidFill>
            <a:srgbClr val="1B3A6B"/>
          </a:solidFill>
          <a:ln/>
        </p:spPr>
      </p:sp>
      <p:sp>
        <p:nvSpPr>
          <p:cNvPr id="29" name="Text 27"/>
          <p:cNvSpPr/>
          <p:nvPr/>
        </p:nvSpPr>
        <p:spPr>
          <a:xfrm>
            <a:off x="4508500" y="3937000"/>
            <a:ext cx="3302000" cy="279400"/>
          </a:xfrm>
          <a:prstGeom prst="rect">
            <a:avLst/>
          </a:prstGeom>
          <a:noFill/>
          <a:ln/>
        </p:spPr>
        <p:txBody>
          <a:bodyPr wrap="none" lIns="0" tIns="0" rIns="0" bIns="0" rtlCol="0" anchor="ctr"/>
          <a:lstStyle/>
          <a:p>
            <a:pPr algn="l">
              <a:lnSpc>
                <a:spcPct val="120000"/>
              </a:lnSpc>
            </a:pPr>
            <a:r>
              <a:rPr lang="en-US" sz="1300" b="1" dirty="0">
                <a:solidFill>
                  <a:srgbClr val="2D2D2D"/>
                </a:solidFill>
                <a:latin typeface="Liter" pitchFamily="34" charset="0"/>
                <a:ea typeface="Liter" pitchFamily="34" charset="-122"/>
                <a:cs typeface="Liter" pitchFamily="34" charset="-120"/>
              </a:rPr>
              <a:t>Average Order Value</a:t>
            </a:r>
            <a:endParaRPr lang="en-US" sz="1300" dirty="0"/>
          </a:p>
        </p:txBody>
      </p:sp>
      <p:sp>
        <p:nvSpPr>
          <p:cNvPr id="30" name="Shape 28"/>
          <p:cNvSpPr/>
          <p:nvPr/>
        </p:nvSpPr>
        <p:spPr>
          <a:xfrm>
            <a:off x="4508500" y="4292600"/>
            <a:ext cx="3302000" cy="1016000"/>
          </a:xfrm>
          <a:prstGeom prst="rect">
            <a:avLst/>
          </a:prstGeom>
          <a:solidFill>
            <a:srgbClr val="FFFFFF"/>
          </a:solidFill>
          <a:ln/>
        </p:spPr>
      </p:sp>
      <p:sp>
        <p:nvSpPr>
          <p:cNvPr id="31" name="Text 29"/>
          <p:cNvSpPr/>
          <p:nvPr/>
        </p:nvSpPr>
        <p:spPr>
          <a:xfrm>
            <a:off x="4597400" y="4368800"/>
            <a:ext cx="3124200" cy="863600"/>
          </a:xfrm>
          <a:prstGeom prst="rect">
            <a:avLst/>
          </a:prstGeom>
          <a:noFill/>
          <a:ln/>
        </p:spPr>
        <p:txBody>
          <a:bodyPr wrap="square" lIns="0" tIns="0" rIns="0" bIns="0" rtlCol="0" anchor="t"/>
          <a:lstStyle/>
          <a:p>
            <a:pPr algn="l">
              <a:lnSpc>
                <a:spcPct val="140000"/>
              </a:lnSpc>
            </a:pPr>
            <a:r>
              <a:rPr lang="en-US" sz="1100" dirty="0">
                <a:solidFill>
                  <a:srgbClr val="0F2647"/>
                </a:solidFill>
                <a:latin typeface="Liter" pitchFamily="34" charset="0"/>
                <a:ea typeface="Liter" pitchFamily="34" charset="-122"/>
                <a:cs typeface="Liter" pitchFamily="34" charset="-120"/>
              </a:rPr>
              <a:t>AOV =</a:t>
            </a:r>
            <a:endParaRPr lang="en-US" sz="1100" dirty="0"/>
          </a:p>
          <a:p>
            <a:pPr algn="l">
              <a:lnSpc>
                <a:spcPct val="140000"/>
              </a:lnSpc>
            </a:pPr>
            <a:r>
              <a:rPr lang="en-US" sz="1100" b="1" dirty="0">
                <a:solidFill>
                  <a:srgbClr val="0F2647"/>
                </a:solidFill>
                <a:latin typeface="Liter" pitchFamily="34" charset="0"/>
                <a:ea typeface="Liter" pitchFamily="34" charset="-122"/>
                <a:cs typeface="Liter" pitchFamily="34" charset="-120"/>
              </a:rPr>
              <a:t>DIVIDE</a:t>
            </a:r>
            <a:r>
              <a:rPr lang="en-US" sz="1100" dirty="0">
                <a:solidFill>
                  <a:srgbClr val="0F2647"/>
                </a:solidFill>
                <a:latin typeface="Liter" pitchFamily="34" charset="0"/>
                <a:ea typeface="Liter" pitchFamily="34" charset="-122"/>
                <a:cs typeface="Liter" pitchFamily="34" charset="-120"/>
              </a:rPr>
              <a:t>([Total Revenue],</a:t>
            </a:r>
            <a:endParaRPr lang="en-US" sz="1100" dirty="0"/>
          </a:p>
          <a:p>
            <a:pPr algn="l">
              <a:lnSpc>
                <a:spcPct val="140000"/>
              </a:lnSpc>
            </a:pPr>
            <a:r>
              <a:rPr lang="en-US" sz="1100" dirty="0">
                <a:solidFill>
                  <a:srgbClr val="0F2647"/>
                </a:solidFill>
                <a:latin typeface="Liter" pitchFamily="34" charset="0"/>
                <a:ea typeface="Liter" pitchFamily="34" charset="-122"/>
                <a:cs typeface="Liter" pitchFamily="34" charset="-120"/>
              </a:rPr>
              <a:t>  [Total Orders])</a:t>
            </a:r>
            <a:endParaRPr lang="en-US" sz="1100" dirty="0"/>
          </a:p>
        </p:txBody>
      </p:sp>
      <p:sp>
        <p:nvSpPr>
          <p:cNvPr id="32" name="Text 30"/>
          <p:cNvSpPr/>
          <p:nvPr/>
        </p:nvSpPr>
        <p:spPr>
          <a:xfrm>
            <a:off x="4508500" y="5384800"/>
            <a:ext cx="3302000" cy="635000"/>
          </a:xfrm>
          <a:prstGeom prst="rect">
            <a:avLst/>
          </a:prstGeom>
          <a:noFill/>
          <a:ln/>
        </p:spPr>
        <p:txBody>
          <a:bodyPr wrap="square" lIns="0" tIns="0" rIns="0" bIns="0" rtlCol="0" anchor="t"/>
          <a:lstStyle/>
          <a:p>
            <a:pPr algn="l">
              <a:lnSpc>
                <a:spcPct val="140000"/>
              </a:lnSpc>
            </a:pPr>
            <a:r>
              <a:rPr lang="en-US" sz="1200" dirty="0">
                <a:solidFill>
                  <a:srgbClr val="555555"/>
                </a:solidFill>
                <a:latin typeface="Liter" pitchFamily="34" charset="0"/>
                <a:ea typeface="Liter" pitchFamily="34" charset="-122"/>
                <a:cs typeface="Liter" pitchFamily="34" charset="-120"/>
              </a:rPr>
              <a:t>Computes average revenue per order for performance benchmarking.</a:t>
            </a:r>
            <a:endParaRPr lang="en-US" sz="1200" dirty="0"/>
          </a:p>
        </p:txBody>
      </p:sp>
      <p:sp>
        <p:nvSpPr>
          <p:cNvPr id="38" name="Shape 35"/>
          <p:cNvSpPr/>
          <p:nvPr/>
        </p:nvSpPr>
        <p:spPr>
          <a:xfrm>
            <a:off x="635000" y="8331200"/>
            <a:ext cx="14986000" cy="12700"/>
          </a:xfrm>
          <a:prstGeom prst="rect">
            <a:avLst/>
          </a:prstGeom>
          <a:solidFill>
            <a:srgbClr val="D0D8E4"/>
          </a:solidFill>
          <a:ln/>
        </p:spPr>
      </p:sp>
      <p:sp>
        <p:nvSpPr>
          <p:cNvPr id="39" name="Text 36"/>
          <p:cNvSpPr/>
          <p:nvPr/>
        </p:nvSpPr>
        <p:spPr>
          <a:xfrm>
            <a:off x="15240000" y="8432800"/>
            <a:ext cx="762000" cy="279400"/>
          </a:xfrm>
          <a:prstGeom prst="rect">
            <a:avLst/>
          </a:prstGeom>
          <a:noFill/>
          <a:ln/>
        </p:spPr>
        <p:txBody>
          <a:bodyPr wrap="none" lIns="0" tIns="0" rIns="0" bIns="0" rtlCol="0" anchor="ctr"/>
          <a:lstStyle/>
          <a:p>
            <a:pPr algn="r">
              <a:lnSpc>
                <a:spcPct val="120000"/>
              </a:lnSpc>
            </a:pPr>
            <a:r>
              <a:rPr lang="en-US" sz="1200" dirty="0">
                <a:solidFill>
                  <a:srgbClr val="8899AA"/>
                </a:solidFill>
                <a:latin typeface="MiSans" pitchFamily="34" charset="0"/>
                <a:ea typeface="MiSans" pitchFamily="34" charset="-122"/>
                <a:cs typeface="MiSans" pitchFamily="34" charset="-120"/>
              </a:rPr>
              <a:t>18</a:t>
            </a:r>
            <a:endParaRPr lang="en-US" sz="1200" dirty="0"/>
          </a:p>
        </p:txBody>
      </p:sp>
      <p:pic>
        <p:nvPicPr>
          <p:cNvPr id="40" name="Picture 39">
            <a:extLst>
              <a:ext uri="{FF2B5EF4-FFF2-40B4-BE49-F238E27FC236}">
                <a16:creationId xmlns:a16="http://schemas.microsoft.com/office/drawing/2014/main" id="{BD1E173D-476F-E9F2-10F3-9FAA0794C41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64500" y="1447800"/>
            <a:ext cx="8036354" cy="4648200"/>
          </a:xfrm>
          <a:prstGeom prst="rect">
            <a:avLst/>
          </a:prstGeom>
          <a:noFill/>
          <a:ln>
            <a:noFill/>
          </a:ln>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129DE6D-1160-E534-B4A1-06E61F21A0C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12451" y="172995"/>
            <a:ext cx="9685392" cy="4028301"/>
          </a:xfrm>
          <a:prstGeom prst="rect">
            <a:avLst/>
          </a:prstGeom>
          <a:noFill/>
          <a:ln>
            <a:noFill/>
          </a:ln>
        </p:spPr>
      </p:pic>
      <p:pic>
        <p:nvPicPr>
          <p:cNvPr id="3" name="Picture 2">
            <a:extLst>
              <a:ext uri="{FF2B5EF4-FFF2-40B4-BE49-F238E27FC236}">
                <a16:creationId xmlns:a16="http://schemas.microsoft.com/office/drawing/2014/main" id="{F6A7A86E-4D05-6A1F-FF29-D10F2F818AF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7637" y="4703942"/>
            <a:ext cx="9750206" cy="3810424"/>
          </a:xfrm>
          <a:prstGeom prst="rect">
            <a:avLst/>
          </a:prstGeom>
          <a:noFill/>
          <a:ln>
            <a:noFill/>
          </a:ln>
        </p:spPr>
      </p:pic>
    </p:spTree>
    <p:extLst>
      <p:ext uri="{BB962C8B-B14F-4D97-AF65-F5344CB8AC3E}">
        <p14:creationId xmlns:p14="http://schemas.microsoft.com/office/powerpoint/2010/main" val="34700020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2647"/>
        </a:solidFill>
        <a:effectLst/>
      </p:bgPr>
    </p:bg>
    <p:spTree>
      <p:nvGrpSpPr>
        <p:cNvPr id="1" name=""/>
        <p:cNvGrpSpPr/>
        <p:nvPr/>
      </p:nvGrpSpPr>
      <p:grpSpPr>
        <a:xfrm>
          <a:off x="0" y="0"/>
          <a:ext cx="0" cy="0"/>
          <a:chOff x="0" y="0"/>
          <a:chExt cx="0" cy="0"/>
        </a:xfrm>
      </p:grpSpPr>
      <p:sp>
        <p:nvSpPr>
          <p:cNvPr id="2" name="Shape 0"/>
          <p:cNvSpPr/>
          <p:nvPr/>
        </p:nvSpPr>
        <p:spPr>
          <a:xfrm>
            <a:off x="0" y="0"/>
            <a:ext cx="16256000" cy="63500"/>
          </a:xfrm>
          <a:prstGeom prst="rect">
            <a:avLst/>
          </a:prstGeom>
          <a:solidFill>
            <a:srgbClr val="C9963B"/>
          </a:solidFill>
          <a:ln/>
        </p:spPr>
      </p:sp>
      <p:sp>
        <p:nvSpPr>
          <p:cNvPr id="3" name="Text 1"/>
          <p:cNvSpPr/>
          <p:nvPr/>
        </p:nvSpPr>
        <p:spPr>
          <a:xfrm>
            <a:off x="10414000" y="2794000"/>
            <a:ext cx="5588000" cy="2540000"/>
          </a:xfrm>
          <a:prstGeom prst="rect">
            <a:avLst/>
          </a:prstGeom>
          <a:noFill/>
          <a:ln/>
        </p:spPr>
        <p:txBody>
          <a:bodyPr wrap="none" lIns="0" tIns="0" rIns="0" bIns="0" rtlCol="0" anchor="ctr"/>
          <a:lstStyle/>
          <a:p>
            <a:pPr algn="l">
              <a:lnSpc>
                <a:spcPct val="120000"/>
              </a:lnSpc>
            </a:pPr>
            <a:r>
              <a:rPr lang="en-US" sz="18000" b="1" dirty="0">
                <a:solidFill>
                  <a:srgbClr val="FFFFFF">
                    <a:alpha val="10196"/>
                  </a:srgbClr>
                </a:solidFill>
                <a:latin typeface="Sorts Mill Goudy" pitchFamily="34" charset="0"/>
                <a:ea typeface="Sorts Mill Goudy" pitchFamily="34" charset="-122"/>
                <a:cs typeface="Sorts Mill Goudy" pitchFamily="34" charset="-120"/>
              </a:rPr>
              <a:t>03</a:t>
            </a:r>
            <a:endParaRPr lang="en-US" sz="18000" dirty="0"/>
          </a:p>
        </p:txBody>
      </p:sp>
      <p:sp>
        <p:nvSpPr>
          <p:cNvPr id="4" name="Text 2"/>
          <p:cNvSpPr/>
          <p:nvPr/>
        </p:nvSpPr>
        <p:spPr>
          <a:xfrm>
            <a:off x="1016000" y="2540000"/>
            <a:ext cx="7620000" cy="330200"/>
          </a:xfrm>
          <a:prstGeom prst="rect">
            <a:avLst/>
          </a:prstGeom>
          <a:noFill/>
          <a:ln/>
        </p:spPr>
        <p:txBody>
          <a:bodyPr wrap="none" lIns="0" tIns="0" rIns="0" bIns="0" rtlCol="0" anchor="ctr"/>
          <a:lstStyle/>
          <a:p>
            <a:pPr algn="l">
              <a:lnSpc>
                <a:spcPct val="120000"/>
              </a:lnSpc>
            </a:pPr>
            <a:r>
              <a:rPr lang="en-US" sz="1300" kern="0" spc="200" dirty="0">
                <a:solidFill>
                  <a:srgbClr val="FFFFFF">
                    <a:alpha val="53333"/>
                  </a:srgbClr>
                </a:solidFill>
                <a:latin typeface="Liter" pitchFamily="34" charset="0"/>
                <a:ea typeface="Liter" pitchFamily="34" charset="-122"/>
                <a:cs typeface="Liter" pitchFamily="34" charset="-120"/>
              </a:rPr>
              <a:t>CHAPTER 03</a:t>
            </a:r>
            <a:endParaRPr lang="en-US" sz="1300" dirty="0"/>
          </a:p>
        </p:txBody>
      </p:sp>
      <p:sp>
        <p:nvSpPr>
          <p:cNvPr id="5" name="Shape 3"/>
          <p:cNvSpPr/>
          <p:nvPr/>
        </p:nvSpPr>
        <p:spPr>
          <a:xfrm>
            <a:off x="1016000" y="3048000"/>
            <a:ext cx="1524000" cy="25400"/>
          </a:xfrm>
          <a:prstGeom prst="rect">
            <a:avLst/>
          </a:prstGeom>
          <a:solidFill>
            <a:srgbClr val="C9963B"/>
          </a:solidFill>
          <a:ln/>
        </p:spPr>
      </p:sp>
      <p:sp>
        <p:nvSpPr>
          <p:cNvPr id="6" name="Text 4"/>
          <p:cNvSpPr/>
          <p:nvPr/>
        </p:nvSpPr>
        <p:spPr>
          <a:xfrm>
            <a:off x="1016000" y="3302000"/>
            <a:ext cx="11430000" cy="889000"/>
          </a:xfrm>
          <a:prstGeom prst="rect">
            <a:avLst/>
          </a:prstGeom>
          <a:noFill/>
          <a:ln/>
        </p:spPr>
        <p:txBody>
          <a:bodyPr wrap="square" lIns="0" tIns="0" rIns="0" bIns="0" rtlCol="0" anchor="ctr"/>
          <a:lstStyle/>
          <a:p>
            <a:pPr algn="l">
              <a:lnSpc>
                <a:spcPct val="120000"/>
              </a:lnSpc>
            </a:pPr>
            <a:r>
              <a:rPr lang="en-US" sz="4000" b="1" dirty="0">
                <a:solidFill>
                  <a:srgbClr val="FFFFFF"/>
                </a:solidFill>
                <a:latin typeface="Sorts Mill Goudy" pitchFamily="34" charset="0"/>
                <a:ea typeface="Sorts Mill Goudy" pitchFamily="34" charset="-122"/>
                <a:cs typeface="Sorts Mill Goudy" pitchFamily="34" charset="-120"/>
              </a:rPr>
              <a:t>Dashboard &amp; Visualization</a:t>
            </a:r>
            <a:endParaRPr lang="en-US" sz="4000" dirty="0"/>
          </a:p>
        </p:txBody>
      </p:sp>
      <p:sp>
        <p:nvSpPr>
          <p:cNvPr id="7" name="Text 5"/>
          <p:cNvSpPr/>
          <p:nvPr/>
        </p:nvSpPr>
        <p:spPr>
          <a:xfrm>
            <a:off x="1016000" y="4318000"/>
            <a:ext cx="8890000" cy="355600"/>
          </a:xfrm>
          <a:prstGeom prst="rect">
            <a:avLst/>
          </a:prstGeom>
          <a:noFill/>
          <a:ln/>
        </p:spPr>
        <p:txBody>
          <a:bodyPr wrap="none" lIns="0" tIns="0" rIns="0" bIns="0" rtlCol="0" anchor="ctr"/>
          <a:lstStyle/>
          <a:p>
            <a:pPr algn="l">
              <a:lnSpc>
                <a:spcPct val="120000"/>
              </a:lnSpc>
            </a:pPr>
            <a:r>
              <a:rPr lang="en-US" sz="2000" dirty="0">
                <a:solidFill>
                  <a:srgbClr val="FFFFFF">
                    <a:alpha val="73333"/>
                  </a:srgbClr>
                </a:solidFill>
                <a:latin typeface="Liter" pitchFamily="34" charset="0"/>
                <a:ea typeface="Liter" pitchFamily="34" charset="-122"/>
                <a:cs typeface="Liter" pitchFamily="34" charset="-120"/>
              </a:rPr>
              <a:t>Interactive Power BI Reporting Solution</a:t>
            </a:r>
            <a:endParaRPr lang="en-US" sz="2000" dirty="0"/>
          </a:p>
        </p:txBody>
      </p:sp>
      <p:sp>
        <p:nvSpPr>
          <p:cNvPr id="8" name="Text 6"/>
          <p:cNvSpPr/>
          <p:nvPr/>
        </p:nvSpPr>
        <p:spPr>
          <a:xfrm>
            <a:off x="1016000" y="4953000"/>
            <a:ext cx="9906000" cy="1143000"/>
          </a:xfrm>
          <a:prstGeom prst="rect">
            <a:avLst/>
          </a:prstGeom>
          <a:noFill/>
          <a:ln/>
        </p:spPr>
        <p:txBody>
          <a:bodyPr wrap="square" lIns="0" tIns="0" rIns="0" bIns="0" rtlCol="0" anchor="t"/>
          <a:lstStyle/>
          <a:p>
            <a:pPr algn="l">
              <a:lnSpc>
                <a:spcPct val="160000"/>
              </a:lnSpc>
            </a:pPr>
            <a:r>
              <a:rPr lang="en-US" sz="1700" dirty="0">
                <a:solidFill>
                  <a:srgbClr val="FFFFFF">
                    <a:alpha val="66667"/>
                  </a:srgbClr>
                </a:solidFill>
                <a:latin typeface="Liter" pitchFamily="34" charset="0"/>
                <a:ea typeface="Liter" pitchFamily="34" charset="-122"/>
                <a:cs typeface="Liter" pitchFamily="34" charset="-120"/>
              </a:rPr>
              <a:t>Four-page interactive dashboard with Executive Overview, Product Performance, Customer Analytics, and Geographic Analysis with dynamic filtering and drill-down capabilities.</a:t>
            </a:r>
            <a:endParaRPr lang="en-US" sz="1700" dirty="0"/>
          </a:p>
        </p:txBody>
      </p:sp>
      <p:sp>
        <p:nvSpPr>
          <p:cNvPr id="9" name="Shape 7"/>
          <p:cNvSpPr/>
          <p:nvPr/>
        </p:nvSpPr>
        <p:spPr>
          <a:xfrm>
            <a:off x="0" y="9080500"/>
            <a:ext cx="16256000" cy="63500"/>
          </a:xfrm>
          <a:prstGeom prst="rect">
            <a:avLst/>
          </a:prstGeom>
          <a:solidFill>
            <a:srgbClr val="C9963B"/>
          </a:solidFill>
          <a:ln/>
        </p:spPr>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1AB4F9A-8CFF-AB35-A6B4-A8099AEED86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4842" y="259694"/>
            <a:ext cx="15433589" cy="8662371"/>
          </a:xfrm>
          <a:prstGeom prst="rect">
            <a:avLst/>
          </a:prstGeom>
          <a:noFill/>
          <a:ln>
            <a:noFill/>
          </a:ln>
        </p:spPr>
      </p:pic>
    </p:spTree>
    <p:extLst>
      <p:ext uri="{BB962C8B-B14F-4D97-AF65-F5344CB8AC3E}">
        <p14:creationId xmlns:p14="http://schemas.microsoft.com/office/powerpoint/2010/main" val="9768228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8F46279-A432-98B9-BB78-F05BDA4ECC9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7838" y="-739031"/>
            <a:ext cx="14061989" cy="9203409"/>
          </a:xfrm>
          <a:prstGeom prst="rect">
            <a:avLst/>
          </a:prstGeom>
          <a:noFill/>
          <a:ln>
            <a:noFill/>
          </a:ln>
        </p:spPr>
      </p:pic>
    </p:spTree>
    <p:extLst>
      <p:ext uri="{BB962C8B-B14F-4D97-AF65-F5344CB8AC3E}">
        <p14:creationId xmlns:p14="http://schemas.microsoft.com/office/powerpoint/2010/main" val="3881681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7DE215A-FD1E-742F-E4F1-C38663B875D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81664" y="-65410"/>
            <a:ext cx="13370011" cy="8603929"/>
          </a:xfrm>
          <a:prstGeom prst="rect">
            <a:avLst/>
          </a:prstGeom>
          <a:noFill/>
          <a:ln>
            <a:noFill/>
          </a:ln>
        </p:spPr>
      </p:pic>
    </p:spTree>
    <p:extLst>
      <p:ext uri="{BB962C8B-B14F-4D97-AF65-F5344CB8AC3E}">
        <p14:creationId xmlns:p14="http://schemas.microsoft.com/office/powerpoint/2010/main" val="6426598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A6AD11-EBD2-A5A2-1054-93211F78B95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02042" y="509901"/>
            <a:ext cx="14605687" cy="8102758"/>
          </a:xfrm>
          <a:prstGeom prst="rect">
            <a:avLst/>
          </a:prstGeom>
          <a:noFill/>
          <a:ln>
            <a:noFill/>
          </a:ln>
        </p:spPr>
      </p:pic>
    </p:spTree>
    <p:extLst>
      <p:ext uri="{BB962C8B-B14F-4D97-AF65-F5344CB8AC3E}">
        <p14:creationId xmlns:p14="http://schemas.microsoft.com/office/powerpoint/2010/main" val="18409195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31442C5-FABD-3DB7-355B-0CDFD6DA7F2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0768" y="357725"/>
            <a:ext cx="14976389" cy="8279648"/>
          </a:xfrm>
          <a:prstGeom prst="rect">
            <a:avLst/>
          </a:prstGeom>
          <a:noFill/>
          <a:ln>
            <a:noFill/>
          </a:ln>
        </p:spPr>
      </p:pic>
    </p:spTree>
    <p:extLst>
      <p:ext uri="{BB962C8B-B14F-4D97-AF65-F5344CB8AC3E}">
        <p14:creationId xmlns:p14="http://schemas.microsoft.com/office/powerpoint/2010/main" val="15035414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1B3A6B"/>
          </a:solidFill>
          <a:ln/>
        </p:spPr>
      </p:sp>
      <p:sp>
        <p:nvSpPr>
          <p:cNvPr id="3" name="Shape 1"/>
          <p:cNvSpPr/>
          <p:nvPr/>
        </p:nvSpPr>
        <p:spPr>
          <a:xfrm>
            <a:off x="635000" y="127000"/>
            <a:ext cx="50800" cy="685800"/>
          </a:xfrm>
          <a:prstGeom prst="rect">
            <a:avLst/>
          </a:prstGeom>
          <a:solidFill>
            <a:srgbClr val="C9963B"/>
          </a:solidFill>
          <a:ln/>
        </p:spPr>
      </p:sp>
      <p:sp>
        <p:nvSpPr>
          <p:cNvPr id="4" name="Text 2"/>
          <p:cNvSpPr/>
          <p:nvPr/>
        </p:nvSpPr>
        <p:spPr>
          <a:xfrm>
            <a:off x="787400" y="152400"/>
            <a:ext cx="14605000" cy="635000"/>
          </a:xfrm>
          <a:prstGeom prst="rect">
            <a:avLst/>
          </a:prstGeom>
          <a:noFill/>
          <a:ln/>
        </p:spPr>
        <p:txBody>
          <a:bodyPr wrap="square" lIns="0" tIns="0" rIns="0" bIns="0" rtlCol="0" anchor="ctr"/>
          <a:lstStyle/>
          <a:p>
            <a:pPr algn="l">
              <a:lnSpc>
                <a:spcPct val="120000"/>
              </a:lnSpc>
            </a:pPr>
            <a:r>
              <a:rPr lang="en-US" sz="2200" b="1" dirty="0">
                <a:solidFill>
                  <a:srgbClr val="0F2647"/>
                </a:solidFill>
                <a:latin typeface="Sorts Mill Goudy" pitchFamily="34" charset="0"/>
                <a:ea typeface="Sorts Mill Goudy" pitchFamily="34" charset="-122"/>
                <a:cs typeface="Sorts Mill Goudy" pitchFamily="34" charset="-120"/>
              </a:rPr>
              <a:t>Five interactive slicers enable cross-page synchronized filtering for dynamic multidimensional analysis</a:t>
            </a:r>
            <a:endParaRPr lang="en-US" sz="2200" dirty="0"/>
          </a:p>
        </p:txBody>
      </p:sp>
      <p:sp>
        <p:nvSpPr>
          <p:cNvPr id="5" name="Shape 3"/>
          <p:cNvSpPr/>
          <p:nvPr/>
        </p:nvSpPr>
        <p:spPr>
          <a:xfrm>
            <a:off x="635000" y="863600"/>
            <a:ext cx="14986000" cy="12700"/>
          </a:xfrm>
          <a:prstGeom prst="rect">
            <a:avLst/>
          </a:prstGeom>
          <a:solidFill>
            <a:srgbClr val="D0D8E4"/>
          </a:solidFill>
          <a:ln/>
        </p:spPr>
      </p:sp>
      <p:sp>
        <p:nvSpPr>
          <p:cNvPr id="6" name="Shape 4"/>
          <p:cNvSpPr/>
          <p:nvPr/>
        </p:nvSpPr>
        <p:spPr>
          <a:xfrm>
            <a:off x="635000" y="965200"/>
            <a:ext cx="7493000" cy="279400"/>
          </a:xfrm>
          <a:prstGeom prst="rect">
            <a:avLst/>
          </a:prstGeom>
          <a:solidFill>
            <a:srgbClr val="EBF0F7"/>
          </a:solidFill>
          <a:ln/>
        </p:spPr>
      </p:sp>
      <p:sp>
        <p:nvSpPr>
          <p:cNvPr id="7" name="Shape 5"/>
          <p:cNvSpPr/>
          <p:nvPr/>
        </p:nvSpPr>
        <p:spPr>
          <a:xfrm>
            <a:off x="635000" y="965200"/>
            <a:ext cx="38100" cy="279400"/>
          </a:xfrm>
          <a:prstGeom prst="rect">
            <a:avLst/>
          </a:prstGeom>
          <a:solidFill>
            <a:srgbClr val="C9963B"/>
          </a:solidFill>
          <a:ln/>
        </p:spPr>
      </p:sp>
      <p:sp>
        <p:nvSpPr>
          <p:cNvPr id="8" name="Text 6"/>
          <p:cNvSpPr/>
          <p:nvPr/>
        </p:nvSpPr>
        <p:spPr>
          <a:xfrm>
            <a:off x="736600" y="965200"/>
            <a:ext cx="7366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Interactive Slicers Added</a:t>
            </a:r>
            <a:endParaRPr lang="en-US" sz="1300" dirty="0"/>
          </a:p>
        </p:txBody>
      </p:sp>
      <p:sp>
        <p:nvSpPr>
          <p:cNvPr id="9" name="Shape 7"/>
          <p:cNvSpPr/>
          <p:nvPr/>
        </p:nvSpPr>
        <p:spPr>
          <a:xfrm>
            <a:off x="635000" y="1320800"/>
            <a:ext cx="7493000" cy="914400"/>
          </a:xfrm>
          <a:prstGeom prst="rect">
            <a:avLst/>
          </a:prstGeom>
          <a:solidFill>
            <a:srgbClr val="EBF0F7"/>
          </a:solidFill>
          <a:ln/>
        </p:spPr>
      </p:sp>
      <p:sp>
        <p:nvSpPr>
          <p:cNvPr id="10" name="Shape 8"/>
          <p:cNvSpPr/>
          <p:nvPr/>
        </p:nvSpPr>
        <p:spPr>
          <a:xfrm>
            <a:off x="635000" y="1320800"/>
            <a:ext cx="50800" cy="914400"/>
          </a:xfrm>
          <a:prstGeom prst="rect">
            <a:avLst/>
          </a:prstGeom>
          <a:solidFill>
            <a:srgbClr val="1B3A6B"/>
          </a:solidFill>
          <a:ln/>
        </p:spPr>
      </p:sp>
      <p:sp>
        <p:nvSpPr>
          <p:cNvPr id="11" name="Text 9"/>
          <p:cNvSpPr/>
          <p:nvPr/>
        </p:nvSpPr>
        <p:spPr>
          <a:xfrm>
            <a:off x="787400" y="1320800"/>
            <a:ext cx="635000" cy="914400"/>
          </a:xfrm>
          <a:prstGeom prst="rect">
            <a:avLst/>
          </a:prstGeom>
          <a:noFill/>
          <a:ln/>
        </p:spPr>
        <p:txBody>
          <a:bodyPr wrap="none" lIns="0" tIns="0" rIns="0" bIns="0" rtlCol="0" anchor="ctr"/>
          <a:lstStyle/>
          <a:p>
            <a:pPr algn="ctr">
              <a:lnSpc>
                <a:spcPct val="120000"/>
              </a:lnSpc>
            </a:pPr>
            <a:r>
              <a:rPr lang="en-US" sz="2200" dirty="0">
                <a:solidFill>
                  <a:srgbClr val="1B3A6B"/>
                </a:solidFill>
                <a:latin typeface="MiSans" pitchFamily="34" charset="0"/>
                <a:ea typeface="MiSans" pitchFamily="34" charset="-122"/>
                <a:cs typeface="MiSans" pitchFamily="34" charset="-120"/>
              </a:rPr>
              <a:t>📅</a:t>
            </a:r>
            <a:endParaRPr lang="en-US" sz="2200" dirty="0"/>
          </a:p>
        </p:txBody>
      </p:sp>
      <p:sp>
        <p:nvSpPr>
          <p:cNvPr id="12" name="Text 10"/>
          <p:cNvSpPr/>
          <p:nvPr/>
        </p:nvSpPr>
        <p:spPr>
          <a:xfrm>
            <a:off x="1473200" y="1397000"/>
            <a:ext cx="6477000" cy="279400"/>
          </a:xfrm>
          <a:prstGeom prst="rect">
            <a:avLst/>
          </a:prstGeom>
          <a:noFill/>
          <a:ln/>
        </p:spPr>
        <p:txBody>
          <a:bodyPr wrap="none" lIns="0" tIns="0" rIns="0" bIns="0" rtlCol="0" anchor="ctr"/>
          <a:lstStyle/>
          <a:p>
            <a:pPr algn="l">
              <a:lnSpc>
                <a:spcPct val="120000"/>
              </a:lnSpc>
            </a:pPr>
            <a:r>
              <a:rPr lang="en-US" sz="1400" b="1" dirty="0">
                <a:solidFill>
                  <a:srgbClr val="1B3A6B"/>
                </a:solidFill>
                <a:latin typeface="Sorts Mill Goudy" pitchFamily="34" charset="0"/>
                <a:ea typeface="Sorts Mill Goudy" pitchFamily="34" charset="-122"/>
                <a:cs typeface="Sorts Mill Goudy" pitchFamily="34" charset="-120"/>
              </a:rPr>
              <a:t>Sales Year</a:t>
            </a:r>
            <a:endParaRPr lang="en-US" sz="1400" dirty="0"/>
          </a:p>
        </p:txBody>
      </p:sp>
      <p:sp>
        <p:nvSpPr>
          <p:cNvPr id="13" name="Text 11"/>
          <p:cNvSpPr/>
          <p:nvPr/>
        </p:nvSpPr>
        <p:spPr>
          <a:xfrm>
            <a:off x="1473200" y="1701800"/>
            <a:ext cx="6477000" cy="457200"/>
          </a:xfrm>
          <a:prstGeom prst="rect">
            <a:avLst/>
          </a:prstGeom>
          <a:noFill/>
          <a:ln/>
        </p:spPr>
        <p:txBody>
          <a:bodyPr wrap="square" lIns="0" tIns="0" rIns="0" bIns="0" rtlCol="0" anchor="t"/>
          <a:lstStyle/>
          <a:p>
            <a:pPr algn="l">
              <a:lnSpc>
                <a:spcPct val="140000"/>
              </a:lnSpc>
            </a:pPr>
            <a:r>
              <a:rPr lang="en-US" sz="1200" dirty="0">
                <a:solidFill>
                  <a:srgbClr val="555555"/>
                </a:solidFill>
                <a:latin typeface="Liter" pitchFamily="34" charset="0"/>
                <a:ea typeface="Liter" pitchFamily="34" charset="-122"/>
                <a:cs typeface="Liter" pitchFamily="34" charset="-120"/>
              </a:rPr>
              <a:t>Filter transactions by year for year-over-year comparison.</a:t>
            </a:r>
            <a:endParaRPr lang="en-US" sz="1200" dirty="0"/>
          </a:p>
        </p:txBody>
      </p:sp>
      <p:sp>
        <p:nvSpPr>
          <p:cNvPr id="14" name="Shape 12"/>
          <p:cNvSpPr/>
          <p:nvPr/>
        </p:nvSpPr>
        <p:spPr>
          <a:xfrm>
            <a:off x="635000" y="2336800"/>
            <a:ext cx="7493000" cy="914400"/>
          </a:xfrm>
          <a:prstGeom prst="rect">
            <a:avLst/>
          </a:prstGeom>
          <a:solidFill>
            <a:srgbClr val="EBF0F7"/>
          </a:solidFill>
          <a:ln/>
        </p:spPr>
      </p:sp>
      <p:sp>
        <p:nvSpPr>
          <p:cNvPr id="15" name="Shape 13"/>
          <p:cNvSpPr/>
          <p:nvPr/>
        </p:nvSpPr>
        <p:spPr>
          <a:xfrm>
            <a:off x="635000" y="2336800"/>
            <a:ext cx="50800" cy="914400"/>
          </a:xfrm>
          <a:prstGeom prst="rect">
            <a:avLst/>
          </a:prstGeom>
          <a:solidFill>
            <a:srgbClr val="C9963B"/>
          </a:solidFill>
          <a:ln/>
        </p:spPr>
      </p:sp>
      <p:sp>
        <p:nvSpPr>
          <p:cNvPr id="16" name="Text 14"/>
          <p:cNvSpPr/>
          <p:nvPr/>
        </p:nvSpPr>
        <p:spPr>
          <a:xfrm>
            <a:off x="787400" y="2336800"/>
            <a:ext cx="635000" cy="914400"/>
          </a:xfrm>
          <a:prstGeom prst="rect">
            <a:avLst/>
          </a:prstGeom>
          <a:noFill/>
          <a:ln/>
        </p:spPr>
        <p:txBody>
          <a:bodyPr wrap="none" lIns="0" tIns="0" rIns="0" bIns="0" rtlCol="0" anchor="ctr"/>
          <a:lstStyle/>
          <a:p>
            <a:pPr algn="ctr">
              <a:lnSpc>
                <a:spcPct val="120000"/>
              </a:lnSpc>
            </a:pPr>
            <a:r>
              <a:rPr lang="en-US" sz="2200" dirty="0">
                <a:solidFill>
                  <a:srgbClr val="C9963B"/>
                </a:solidFill>
                <a:latin typeface="MiSans" pitchFamily="34" charset="0"/>
                <a:ea typeface="MiSans" pitchFamily="34" charset="-122"/>
                <a:cs typeface="MiSans" pitchFamily="34" charset="-120"/>
              </a:rPr>
              <a:t>📆</a:t>
            </a:r>
            <a:endParaRPr lang="en-US" sz="2200" dirty="0"/>
          </a:p>
        </p:txBody>
      </p:sp>
      <p:sp>
        <p:nvSpPr>
          <p:cNvPr id="17" name="Text 15"/>
          <p:cNvSpPr/>
          <p:nvPr/>
        </p:nvSpPr>
        <p:spPr>
          <a:xfrm>
            <a:off x="1473200" y="2413000"/>
            <a:ext cx="6477000" cy="279400"/>
          </a:xfrm>
          <a:prstGeom prst="rect">
            <a:avLst/>
          </a:prstGeom>
          <a:noFill/>
          <a:ln/>
        </p:spPr>
        <p:txBody>
          <a:bodyPr wrap="none" lIns="0" tIns="0" rIns="0" bIns="0" rtlCol="0" anchor="ctr"/>
          <a:lstStyle/>
          <a:p>
            <a:pPr algn="l">
              <a:lnSpc>
                <a:spcPct val="120000"/>
              </a:lnSpc>
            </a:pPr>
            <a:r>
              <a:rPr lang="en-US" sz="1400" b="1" dirty="0">
                <a:solidFill>
                  <a:srgbClr val="C9963B"/>
                </a:solidFill>
                <a:latin typeface="Sorts Mill Goudy" pitchFamily="34" charset="0"/>
                <a:ea typeface="Sorts Mill Goudy" pitchFamily="34" charset="-122"/>
                <a:cs typeface="Sorts Mill Goudy" pitchFamily="34" charset="-120"/>
              </a:rPr>
              <a:t>Sales Month</a:t>
            </a:r>
            <a:endParaRPr lang="en-US" sz="1400" dirty="0"/>
          </a:p>
        </p:txBody>
      </p:sp>
      <p:sp>
        <p:nvSpPr>
          <p:cNvPr id="18" name="Text 16"/>
          <p:cNvSpPr/>
          <p:nvPr/>
        </p:nvSpPr>
        <p:spPr>
          <a:xfrm>
            <a:off x="1473200" y="2717800"/>
            <a:ext cx="6477000" cy="457200"/>
          </a:xfrm>
          <a:prstGeom prst="rect">
            <a:avLst/>
          </a:prstGeom>
          <a:noFill/>
          <a:ln/>
        </p:spPr>
        <p:txBody>
          <a:bodyPr wrap="square" lIns="0" tIns="0" rIns="0" bIns="0" rtlCol="0" anchor="t"/>
          <a:lstStyle/>
          <a:p>
            <a:pPr algn="l">
              <a:lnSpc>
                <a:spcPct val="140000"/>
              </a:lnSpc>
            </a:pPr>
            <a:r>
              <a:rPr lang="en-US" sz="1200" dirty="0">
                <a:solidFill>
                  <a:srgbClr val="555555"/>
                </a:solidFill>
                <a:latin typeface="Liter" pitchFamily="34" charset="0"/>
                <a:ea typeface="Liter" pitchFamily="34" charset="-122"/>
                <a:cs typeface="Liter" pitchFamily="34" charset="-120"/>
              </a:rPr>
              <a:t>Drill down to specific months for seasonal pattern analysis.</a:t>
            </a:r>
            <a:endParaRPr lang="en-US" sz="1200" dirty="0"/>
          </a:p>
        </p:txBody>
      </p:sp>
      <p:sp>
        <p:nvSpPr>
          <p:cNvPr id="19" name="Shape 17"/>
          <p:cNvSpPr/>
          <p:nvPr/>
        </p:nvSpPr>
        <p:spPr>
          <a:xfrm>
            <a:off x="635000" y="3352800"/>
            <a:ext cx="7493000" cy="914400"/>
          </a:xfrm>
          <a:prstGeom prst="rect">
            <a:avLst/>
          </a:prstGeom>
          <a:solidFill>
            <a:srgbClr val="EBF0F7"/>
          </a:solidFill>
          <a:ln/>
        </p:spPr>
      </p:sp>
      <p:sp>
        <p:nvSpPr>
          <p:cNvPr id="20" name="Shape 18"/>
          <p:cNvSpPr/>
          <p:nvPr/>
        </p:nvSpPr>
        <p:spPr>
          <a:xfrm>
            <a:off x="635000" y="3352800"/>
            <a:ext cx="50800" cy="914400"/>
          </a:xfrm>
          <a:prstGeom prst="rect">
            <a:avLst/>
          </a:prstGeom>
          <a:solidFill>
            <a:srgbClr val="1B3A6B"/>
          </a:solidFill>
          <a:ln/>
        </p:spPr>
      </p:sp>
      <p:sp>
        <p:nvSpPr>
          <p:cNvPr id="21" name="Text 19"/>
          <p:cNvSpPr/>
          <p:nvPr/>
        </p:nvSpPr>
        <p:spPr>
          <a:xfrm>
            <a:off x="787400" y="3352800"/>
            <a:ext cx="635000" cy="914400"/>
          </a:xfrm>
          <a:prstGeom prst="rect">
            <a:avLst/>
          </a:prstGeom>
          <a:noFill/>
          <a:ln/>
        </p:spPr>
        <p:txBody>
          <a:bodyPr wrap="none" lIns="0" tIns="0" rIns="0" bIns="0" rtlCol="0" anchor="ctr"/>
          <a:lstStyle/>
          <a:p>
            <a:pPr algn="ctr">
              <a:lnSpc>
                <a:spcPct val="120000"/>
              </a:lnSpc>
            </a:pPr>
            <a:r>
              <a:rPr lang="en-US" sz="2200" dirty="0">
                <a:solidFill>
                  <a:srgbClr val="1B3A6B"/>
                </a:solidFill>
                <a:latin typeface="MiSans" pitchFamily="34" charset="0"/>
                <a:ea typeface="MiSans" pitchFamily="34" charset="-122"/>
                <a:cs typeface="MiSans" pitchFamily="34" charset="-120"/>
              </a:rPr>
              <a:t>🌎</a:t>
            </a:r>
            <a:endParaRPr lang="en-US" sz="2200" dirty="0"/>
          </a:p>
        </p:txBody>
      </p:sp>
      <p:sp>
        <p:nvSpPr>
          <p:cNvPr id="22" name="Text 20"/>
          <p:cNvSpPr/>
          <p:nvPr/>
        </p:nvSpPr>
        <p:spPr>
          <a:xfrm>
            <a:off x="1473200" y="3429000"/>
            <a:ext cx="6477000" cy="279400"/>
          </a:xfrm>
          <a:prstGeom prst="rect">
            <a:avLst/>
          </a:prstGeom>
          <a:noFill/>
          <a:ln/>
        </p:spPr>
        <p:txBody>
          <a:bodyPr wrap="none" lIns="0" tIns="0" rIns="0" bIns="0" rtlCol="0" anchor="ctr"/>
          <a:lstStyle/>
          <a:p>
            <a:pPr algn="l">
              <a:lnSpc>
                <a:spcPct val="120000"/>
              </a:lnSpc>
            </a:pPr>
            <a:r>
              <a:rPr lang="en-US" sz="1400" b="1" dirty="0">
                <a:solidFill>
                  <a:srgbClr val="1B3A6B"/>
                </a:solidFill>
                <a:latin typeface="Sorts Mill Goudy" pitchFamily="34" charset="0"/>
                <a:ea typeface="Sorts Mill Goudy" pitchFamily="34" charset="-122"/>
                <a:cs typeface="Sorts Mill Goudy" pitchFamily="34" charset="-120"/>
              </a:rPr>
              <a:t>Country Filter</a:t>
            </a:r>
            <a:endParaRPr lang="en-US" sz="1400" dirty="0"/>
          </a:p>
        </p:txBody>
      </p:sp>
      <p:sp>
        <p:nvSpPr>
          <p:cNvPr id="23" name="Text 21"/>
          <p:cNvSpPr/>
          <p:nvPr/>
        </p:nvSpPr>
        <p:spPr>
          <a:xfrm>
            <a:off x="1473200" y="3733800"/>
            <a:ext cx="6477000" cy="457200"/>
          </a:xfrm>
          <a:prstGeom prst="rect">
            <a:avLst/>
          </a:prstGeom>
          <a:noFill/>
          <a:ln/>
        </p:spPr>
        <p:txBody>
          <a:bodyPr wrap="square" lIns="0" tIns="0" rIns="0" bIns="0" rtlCol="0" anchor="t"/>
          <a:lstStyle/>
          <a:p>
            <a:pPr algn="l">
              <a:lnSpc>
                <a:spcPct val="140000"/>
              </a:lnSpc>
            </a:pPr>
            <a:r>
              <a:rPr lang="en-US" sz="1200" dirty="0">
                <a:solidFill>
                  <a:srgbClr val="555555"/>
                </a:solidFill>
                <a:latin typeface="Liter" pitchFamily="34" charset="0"/>
                <a:ea typeface="Liter" pitchFamily="34" charset="-122"/>
                <a:cs typeface="Liter" pitchFamily="34" charset="-120"/>
              </a:rPr>
              <a:t>Isolate specific geographic markets for regional performance review.</a:t>
            </a:r>
            <a:endParaRPr lang="en-US" sz="1200" dirty="0"/>
          </a:p>
        </p:txBody>
      </p:sp>
      <p:sp>
        <p:nvSpPr>
          <p:cNvPr id="24" name="Shape 22"/>
          <p:cNvSpPr/>
          <p:nvPr/>
        </p:nvSpPr>
        <p:spPr>
          <a:xfrm>
            <a:off x="635000" y="4368800"/>
            <a:ext cx="7493000" cy="914400"/>
          </a:xfrm>
          <a:prstGeom prst="rect">
            <a:avLst/>
          </a:prstGeom>
          <a:solidFill>
            <a:srgbClr val="EBF0F7"/>
          </a:solidFill>
          <a:ln/>
        </p:spPr>
      </p:sp>
      <p:sp>
        <p:nvSpPr>
          <p:cNvPr id="25" name="Shape 23"/>
          <p:cNvSpPr/>
          <p:nvPr/>
        </p:nvSpPr>
        <p:spPr>
          <a:xfrm>
            <a:off x="635000" y="4368800"/>
            <a:ext cx="50800" cy="914400"/>
          </a:xfrm>
          <a:prstGeom prst="rect">
            <a:avLst/>
          </a:prstGeom>
          <a:solidFill>
            <a:srgbClr val="C9963B"/>
          </a:solidFill>
          <a:ln/>
        </p:spPr>
      </p:sp>
      <p:sp>
        <p:nvSpPr>
          <p:cNvPr id="26" name="Text 24"/>
          <p:cNvSpPr/>
          <p:nvPr/>
        </p:nvSpPr>
        <p:spPr>
          <a:xfrm>
            <a:off x="787400" y="4368800"/>
            <a:ext cx="635000" cy="914400"/>
          </a:xfrm>
          <a:prstGeom prst="rect">
            <a:avLst/>
          </a:prstGeom>
          <a:noFill/>
          <a:ln/>
        </p:spPr>
        <p:txBody>
          <a:bodyPr wrap="none" lIns="0" tIns="0" rIns="0" bIns="0" rtlCol="0" anchor="ctr"/>
          <a:lstStyle/>
          <a:p>
            <a:pPr algn="ctr">
              <a:lnSpc>
                <a:spcPct val="120000"/>
              </a:lnSpc>
            </a:pPr>
            <a:r>
              <a:rPr lang="en-US" sz="2200" dirty="0">
                <a:solidFill>
                  <a:srgbClr val="C9963B"/>
                </a:solidFill>
                <a:latin typeface="MiSans" pitchFamily="34" charset="0"/>
                <a:ea typeface="MiSans" pitchFamily="34" charset="-122"/>
                <a:cs typeface="MiSans" pitchFamily="34" charset="-120"/>
              </a:rPr>
              <a:t>📦</a:t>
            </a:r>
            <a:endParaRPr lang="en-US" sz="2200" dirty="0"/>
          </a:p>
        </p:txBody>
      </p:sp>
      <p:sp>
        <p:nvSpPr>
          <p:cNvPr id="27" name="Text 25"/>
          <p:cNvSpPr/>
          <p:nvPr/>
        </p:nvSpPr>
        <p:spPr>
          <a:xfrm>
            <a:off x="1473200" y="4445000"/>
            <a:ext cx="6477000" cy="279400"/>
          </a:xfrm>
          <a:prstGeom prst="rect">
            <a:avLst/>
          </a:prstGeom>
          <a:noFill/>
          <a:ln/>
        </p:spPr>
        <p:txBody>
          <a:bodyPr wrap="none" lIns="0" tIns="0" rIns="0" bIns="0" rtlCol="0" anchor="ctr"/>
          <a:lstStyle/>
          <a:p>
            <a:pPr algn="l">
              <a:lnSpc>
                <a:spcPct val="120000"/>
              </a:lnSpc>
            </a:pPr>
            <a:r>
              <a:rPr lang="en-US" sz="1400" b="1" dirty="0">
                <a:solidFill>
                  <a:srgbClr val="C9963B"/>
                </a:solidFill>
                <a:latin typeface="Sorts Mill Goudy" pitchFamily="34" charset="0"/>
                <a:ea typeface="Sorts Mill Goudy" pitchFamily="34" charset="-122"/>
                <a:cs typeface="Sorts Mill Goudy" pitchFamily="34" charset="-120"/>
              </a:rPr>
              <a:t>Product Filter</a:t>
            </a:r>
            <a:endParaRPr lang="en-US" sz="1400" dirty="0"/>
          </a:p>
        </p:txBody>
      </p:sp>
      <p:sp>
        <p:nvSpPr>
          <p:cNvPr id="28" name="Text 26"/>
          <p:cNvSpPr/>
          <p:nvPr/>
        </p:nvSpPr>
        <p:spPr>
          <a:xfrm>
            <a:off x="1473200" y="4749800"/>
            <a:ext cx="6477000" cy="457200"/>
          </a:xfrm>
          <a:prstGeom prst="rect">
            <a:avLst/>
          </a:prstGeom>
          <a:noFill/>
          <a:ln/>
        </p:spPr>
        <p:txBody>
          <a:bodyPr wrap="square" lIns="0" tIns="0" rIns="0" bIns="0" rtlCol="0" anchor="t"/>
          <a:lstStyle/>
          <a:p>
            <a:pPr algn="l">
              <a:lnSpc>
                <a:spcPct val="140000"/>
              </a:lnSpc>
            </a:pPr>
            <a:r>
              <a:rPr lang="en-US" sz="1200" dirty="0">
                <a:solidFill>
                  <a:srgbClr val="555555"/>
                </a:solidFill>
                <a:latin typeface="Liter" pitchFamily="34" charset="0"/>
                <a:ea typeface="Liter" pitchFamily="34" charset="-122"/>
                <a:cs typeface="Liter" pitchFamily="34" charset="-120"/>
              </a:rPr>
              <a:t>Focus on specific product categories or individual StockCodes.</a:t>
            </a:r>
            <a:endParaRPr lang="en-US" sz="1200" dirty="0"/>
          </a:p>
        </p:txBody>
      </p:sp>
      <p:sp>
        <p:nvSpPr>
          <p:cNvPr id="29" name="Shape 27"/>
          <p:cNvSpPr/>
          <p:nvPr/>
        </p:nvSpPr>
        <p:spPr>
          <a:xfrm>
            <a:off x="635000" y="5384800"/>
            <a:ext cx="7493000" cy="914400"/>
          </a:xfrm>
          <a:prstGeom prst="rect">
            <a:avLst/>
          </a:prstGeom>
          <a:solidFill>
            <a:srgbClr val="EBF0F7"/>
          </a:solidFill>
          <a:ln/>
        </p:spPr>
      </p:sp>
      <p:sp>
        <p:nvSpPr>
          <p:cNvPr id="30" name="Shape 28"/>
          <p:cNvSpPr/>
          <p:nvPr/>
        </p:nvSpPr>
        <p:spPr>
          <a:xfrm>
            <a:off x="635000" y="5384800"/>
            <a:ext cx="50800" cy="914400"/>
          </a:xfrm>
          <a:prstGeom prst="rect">
            <a:avLst/>
          </a:prstGeom>
          <a:solidFill>
            <a:srgbClr val="1B3A6B"/>
          </a:solidFill>
          <a:ln/>
        </p:spPr>
      </p:sp>
      <p:sp>
        <p:nvSpPr>
          <p:cNvPr id="31" name="Text 29"/>
          <p:cNvSpPr/>
          <p:nvPr/>
        </p:nvSpPr>
        <p:spPr>
          <a:xfrm>
            <a:off x="787400" y="5384800"/>
            <a:ext cx="635000" cy="914400"/>
          </a:xfrm>
          <a:prstGeom prst="rect">
            <a:avLst/>
          </a:prstGeom>
          <a:noFill/>
          <a:ln/>
        </p:spPr>
        <p:txBody>
          <a:bodyPr wrap="none" lIns="0" tIns="0" rIns="0" bIns="0" rtlCol="0" anchor="ctr"/>
          <a:lstStyle/>
          <a:p>
            <a:pPr algn="ctr">
              <a:lnSpc>
                <a:spcPct val="120000"/>
              </a:lnSpc>
            </a:pPr>
            <a:r>
              <a:rPr lang="en-US" sz="2200" dirty="0">
                <a:solidFill>
                  <a:srgbClr val="1B3A6B"/>
                </a:solidFill>
                <a:latin typeface="MiSans" pitchFamily="34" charset="0"/>
                <a:ea typeface="MiSans" pitchFamily="34" charset="-122"/>
                <a:cs typeface="MiSans" pitchFamily="34" charset="-120"/>
              </a:rPr>
              <a:t>👤</a:t>
            </a:r>
            <a:endParaRPr lang="en-US" sz="2200" dirty="0"/>
          </a:p>
        </p:txBody>
      </p:sp>
      <p:sp>
        <p:nvSpPr>
          <p:cNvPr id="32" name="Text 30"/>
          <p:cNvSpPr/>
          <p:nvPr/>
        </p:nvSpPr>
        <p:spPr>
          <a:xfrm>
            <a:off x="1473200" y="5461000"/>
            <a:ext cx="6477000" cy="279400"/>
          </a:xfrm>
          <a:prstGeom prst="rect">
            <a:avLst/>
          </a:prstGeom>
          <a:noFill/>
          <a:ln/>
        </p:spPr>
        <p:txBody>
          <a:bodyPr wrap="none" lIns="0" tIns="0" rIns="0" bIns="0" rtlCol="0" anchor="ctr"/>
          <a:lstStyle/>
          <a:p>
            <a:pPr algn="l">
              <a:lnSpc>
                <a:spcPct val="120000"/>
              </a:lnSpc>
            </a:pPr>
            <a:r>
              <a:rPr lang="en-US" sz="1400" b="1" dirty="0">
                <a:solidFill>
                  <a:srgbClr val="1B3A6B"/>
                </a:solidFill>
                <a:latin typeface="Sorts Mill Goudy" pitchFamily="34" charset="0"/>
                <a:ea typeface="Sorts Mill Goudy" pitchFamily="34" charset="-122"/>
                <a:cs typeface="Sorts Mill Goudy" pitchFamily="34" charset="-120"/>
              </a:rPr>
              <a:t>Customer Filter</a:t>
            </a:r>
            <a:endParaRPr lang="en-US" sz="1400" dirty="0"/>
          </a:p>
        </p:txBody>
      </p:sp>
      <p:sp>
        <p:nvSpPr>
          <p:cNvPr id="33" name="Text 31"/>
          <p:cNvSpPr/>
          <p:nvPr/>
        </p:nvSpPr>
        <p:spPr>
          <a:xfrm>
            <a:off x="1473200" y="5765800"/>
            <a:ext cx="6477000" cy="457200"/>
          </a:xfrm>
          <a:prstGeom prst="rect">
            <a:avLst/>
          </a:prstGeom>
          <a:noFill/>
          <a:ln/>
        </p:spPr>
        <p:txBody>
          <a:bodyPr wrap="square" lIns="0" tIns="0" rIns="0" bIns="0" rtlCol="0" anchor="t"/>
          <a:lstStyle/>
          <a:p>
            <a:pPr algn="l">
              <a:lnSpc>
                <a:spcPct val="140000"/>
              </a:lnSpc>
            </a:pPr>
            <a:r>
              <a:rPr lang="en-US" sz="1200" dirty="0">
                <a:solidFill>
                  <a:srgbClr val="555555"/>
                </a:solidFill>
                <a:latin typeface="Liter" pitchFamily="34" charset="0"/>
                <a:ea typeface="Liter" pitchFamily="34" charset="-122"/>
                <a:cs typeface="Liter" pitchFamily="34" charset="-120"/>
              </a:rPr>
              <a:t>Analyze individual customer purchase history and contribution.</a:t>
            </a:r>
            <a:endParaRPr lang="en-US" sz="1200" dirty="0"/>
          </a:p>
        </p:txBody>
      </p:sp>
      <p:sp>
        <p:nvSpPr>
          <p:cNvPr id="34" name="Shape 32"/>
          <p:cNvSpPr/>
          <p:nvPr/>
        </p:nvSpPr>
        <p:spPr>
          <a:xfrm>
            <a:off x="8255000" y="965200"/>
            <a:ext cx="7366000" cy="279400"/>
          </a:xfrm>
          <a:prstGeom prst="rect">
            <a:avLst/>
          </a:prstGeom>
          <a:solidFill>
            <a:srgbClr val="EBF0F7"/>
          </a:solidFill>
          <a:ln/>
        </p:spPr>
      </p:sp>
      <p:sp>
        <p:nvSpPr>
          <p:cNvPr id="35" name="Shape 33"/>
          <p:cNvSpPr/>
          <p:nvPr/>
        </p:nvSpPr>
        <p:spPr>
          <a:xfrm>
            <a:off x="8255000" y="965200"/>
            <a:ext cx="38100" cy="279400"/>
          </a:xfrm>
          <a:prstGeom prst="rect">
            <a:avLst/>
          </a:prstGeom>
          <a:solidFill>
            <a:srgbClr val="C9963B"/>
          </a:solidFill>
          <a:ln/>
        </p:spPr>
      </p:sp>
      <p:sp>
        <p:nvSpPr>
          <p:cNvPr id="36" name="Text 34"/>
          <p:cNvSpPr/>
          <p:nvPr/>
        </p:nvSpPr>
        <p:spPr>
          <a:xfrm>
            <a:off x="8356600" y="965200"/>
            <a:ext cx="7239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Slicer Features</a:t>
            </a:r>
            <a:endParaRPr lang="en-US" sz="1300" dirty="0"/>
          </a:p>
        </p:txBody>
      </p:sp>
      <p:sp>
        <p:nvSpPr>
          <p:cNvPr id="37" name="Shape 35"/>
          <p:cNvSpPr/>
          <p:nvPr/>
        </p:nvSpPr>
        <p:spPr>
          <a:xfrm>
            <a:off x="8318500" y="1320800"/>
            <a:ext cx="7239000" cy="1524000"/>
          </a:xfrm>
          <a:prstGeom prst="rect">
            <a:avLst/>
          </a:prstGeom>
          <a:solidFill>
            <a:srgbClr val="EBF0F7"/>
          </a:solidFill>
          <a:ln/>
        </p:spPr>
      </p:sp>
      <p:sp>
        <p:nvSpPr>
          <p:cNvPr id="38" name="Shape 36"/>
          <p:cNvSpPr/>
          <p:nvPr/>
        </p:nvSpPr>
        <p:spPr>
          <a:xfrm>
            <a:off x="8318500" y="1320800"/>
            <a:ext cx="7239000" cy="38100"/>
          </a:xfrm>
          <a:prstGeom prst="rect">
            <a:avLst/>
          </a:prstGeom>
          <a:solidFill>
            <a:srgbClr val="1B3A6B"/>
          </a:solidFill>
          <a:ln/>
        </p:spPr>
      </p:sp>
      <p:sp>
        <p:nvSpPr>
          <p:cNvPr id="39" name="Text 37"/>
          <p:cNvSpPr/>
          <p:nvPr/>
        </p:nvSpPr>
        <p:spPr>
          <a:xfrm>
            <a:off x="8483600" y="1447800"/>
            <a:ext cx="6908800" cy="304800"/>
          </a:xfrm>
          <a:prstGeom prst="rect">
            <a:avLst/>
          </a:prstGeom>
          <a:noFill/>
          <a:ln/>
        </p:spPr>
        <p:txBody>
          <a:bodyPr wrap="none" lIns="0" tIns="0" rIns="0" bIns="0" rtlCol="0" anchor="ctr"/>
          <a:lstStyle/>
          <a:p>
            <a:pPr algn="l">
              <a:lnSpc>
                <a:spcPct val="120000"/>
              </a:lnSpc>
            </a:pPr>
            <a:r>
              <a:rPr lang="en-US" sz="1500" b="1" dirty="0">
                <a:solidFill>
                  <a:srgbClr val="1B3A6B"/>
                </a:solidFill>
                <a:latin typeface="Sorts Mill Goudy" pitchFamily="34" charset="0"/>
                <a:ea typeface="Sorts Mill Goudy" pitchFamily="34" charset="-122"/>
                <a:cs typeface="Sorts Mill Goudy" pitchFamily="34" charset="-120"/>
              </a:rPr>
              <a:t>Cross-Page Synchronization</a:t>
            </a:r>
            <a:endParaRPr lang="en-US" sz="1500" dirty="0"/>
          </a:p>
        </p:txBody>
      </p:sp>
      <p:sp>
        <p:nvSpPr>
          <p:cNvPr id="40" name="Text 38"/>
          <p:cNvSpPr/>
          <p:nvPr/>
        </p:nvSpPr>
        <p:spPr>
          <a:xfrm>
            <a:off x="8483600" y="1803400"/>
            <a:ext cx="6908800" cy="8890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Slicer selections automatically propagate across all four dashboard pages, maintaining consistent filter context during navigation.</a:t>
            </a:r>
            <a:endParaRPr lang="en-US" sz="1300" dirty="0"/>
          </a:p>
        </p:txBody>
      </p:sp>
      <p:sp>
        <p:nvSpPr>
          <p:cNvPr id="41" name="Shape 39"/>
          <p:cNvSpPr/>
          <p:nvPr/>
        </p:nvSpPr>
        <p:spPr>
          <a:xfrm>
            <a:off x="8318500" y="2971800"/>
            <a:ext cx="7239000" cy="1524000"/>
          </a:xfrm>
          <a:prstGeom prst="rect">
            <a:avLst/>
          </a:prstGeom>
          <a:solidFill>
            <a:srgbClr val="EBF0F7"/>
          </a:solidFill>
          <a:ln/>
        </p:spPr>
      </p:sp>
      <p:sp>
        <p:nvSpPr>
          <p:cNvPr id="42" name="Shape 40"/>
          <p:cNvSpPr/>
          <p:nvPr/>
        </p:nvSpPr>
        <p:spPr>
          <a:xfrm>
            <a:off x="8318500" y="2971800"/>
            <a:ext cx="7239000" cy="38100"/>
          </a:xfrm>
          <a:prstGeom prst="rect">
            <a:avLst/>
          </a:prstGeom>
          <a:solidFill>
            <a:srgbClr val="C9963B"/>
          </a:solidFill>
          <a:ln/>
        </p:spPr>
      </p:sp>
      <p:sp>
        <p:nvSpPr>
          <p:cNvPr id="43" name="Text 41"/>
          <p:cNvSpPr/>
          <p:nvPr/>
        </p:nvSpPr>
        <p:spPr>
          <a:xfrm>
            <a:off x="8483600" y="3098800"/>
            <a:ext cx="6908800" cy="304800"/>
          </a:xfrm>
          <a:prstGeom prst="rect">
            <a:avLst/>
          </a:prstGeom>
          <a:noFill/>
          <a:ln/>
        </p:spPr>
        <p:txBody>
          <a:bodyPr wrap="none" lIns="0" tIns="0" rIns="0" bIns="0" rtlCol="0" anchor="ctr"/>
          <a:lstStyle/>
          <a:p>
            <a:pPr algn="l">
              <a:lnSpc>
                <a:spcPct val="120000"/>
              </a:lnSpc>
            </a:pPr>
            <a:r>
              <a:rPr lang="en-US" sz="1500" b="1" dirty="0">
                <a:solidFill>
                  <a:srgbClr val="C9963B"/>
                </a:solidFill>
                <a:latin typeface="Sorts Mill Goudy" pitchFamily="34" charset="0"/>
                <a:ea typeface="Sorts Mill Goudy" pitchFamily="34" charset="-122"/>
                <a:cs typeface="Sorts Mill Goudy" pitchFamily="34" charset="-120"/>
              </a:rPr>
              <a:t>Dynamic Filtering</a:t>
            </a:r>
            <a:endParaRPr lang="en-US" sz="1500" dirty="0"/>
          </a:p>
        </p:txBody>
      </p:sp>
      <p:sp>
        <p:nvSpPr>
          <p:cNvPr id="44" name="Text 42"/>
          <p:cNvSpPr/>
          <p:nvPr/>
        </p:nvSpPr>
        <p:spPr>
          <a:xfrm>
            <a:off x="8483600" y="3454400"/>
            <a:ext cx="6908800" cy="8890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All visuals update instantaneously when slicer values change, enabling rapid exploratory analysis without page refreshes.</a:t>
            </a:r>
            <a:endParaRPr lang="en-US" sz="1300" dirty="0"/>
          </a:p>
        </p:txBody>
      </p:sp>
      <p:sp>
        <p:nvSpPr>
          <p:cNvPr id="45" name="Shape 43"/>
          <p:cNvSpPr/>
          <p:nvPr/>
        </p:nvSpPr>
        <p:spPr>
          <a:xfrm>
            <a:off x="8318500" y="4622800"/>
            <a:ext cx="7239000" cy="1651000"/>
          </a:xfrm>
          <a:prstGeom prst="rect">
            <a:avLst/>
          </a:prstGeom>
          <a:solidFill>
            <a:srgbClr val="EBF0F7"/>
          </a:solidFill>
          <a:ln/>
        </p:spPr>
      </p:sp>
      <p:sp>
        <p:nvSpPr>
          <p:cNvPr id="46" name="Shape 44"/>
          <p:cNvSpPr/>
          <p:nvPr/>
        </p:nvSpPr>
        <p:spPr>
          <a:xfrm>
            <a:off x="8318500" y="4622800"/>
            <a:ext cx="7239000" cy="38100"/>
          </a:xfrm>
          <a:prstGeom prst="rect">
            <a:avLst/>
          </a:prstGeom>
          <a:solidFill>
            <a:srgbClr val="1B3A6B"/>
          </a:solidFill>
          <a:ln/>
        </p:spPr>
      </p:sp>
      <p:sp>
        <p:nvSpPr>
          <p:cNvPr id="47" name="Text 45"/>
          <p:cNvSpPr/>
          <p:nvPr/>
        </p:nvSpPr>
        <p:spPr>
          <a:xfrm>
            <a:off x="8483600" y="4749800"/>
            <a:ext cx="6908800" cy="304800"/>
          </a:xfrm>
          <a:prstGeom prst="rect">
            <a:avLst/>
          </a:prstGeom>
          <a:noFill/>
          <a:ln/>
        </p:spPr>
        <p:txBody>
          <a:bodyPr wrap="none" lIns="0" tIns="0" rIns="0" bIns="0" rtlCol="0" anchor="ctr"/>
          <a:lstStyle/>
          <a:p>
            <a:pPr algn="l">
              <a:lnSpc>
                <a:spcPct val="120000"/>
              </a:lnSpc>
            </a:pPr>
            <a:r>
              <a:rPr lang="en-US" sz="1500" b="1" dirty="0">
                <a:solidFill>
                  <a:srgbClr val="1B3A6B"/>
                </a:solidFill>
                <a:latin typeface="Sorts Mill Goudy" pitchFamily="34" charset="0"/>
                <a:ea typeface="Sorts Mill Goudy" pitchFamily="34" charset="-122"/>
                <a:cs typeface="Sorts Mill Goudy" pitchFamily="34" charset="-120"/>
              </a:rPr>
              <a:t>Interactive Analysis</a:t>
            </a:r>
            <a:endParaRPr lang="en-US" sz="1500" dirty="0"/>
          </a:p>
        </p:txBody>
      </p:sp>
      <p:sp>
        <p:nvSpPr>
          <p:cNvPr id="48" name="Text 46"/>
          <p:cNvSpPr/>
          <p:nvPr/>
        </p:nvSpPr>
        <p:spPr>
          <a:xfrm>
            <a:off x="8483600" y="5105400"/>
            <a:ext cx="6908800" cy="10668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Combined slicers enable complex multidimensional filtering — e.g., analyze Q4 2010 product performance in Netherlands for a specific customer segment.</a:t>
            </a:r>
            <a:endParaRPr lang="en-US" sz="1300" dirty="0"/>
          </a:p>
        </p:txBody>
      </p:sp>
      <p:sp>
        <p:nvSpPr>
          <p:cNvPr id="49" name="Shape 47"/>
          <p:cNvSpPr/>
          <p:nvPr/>
        </p:nvSpPr>
        <p:spPr>
          <a:xfrm>
            <a:off x="635000" y="8331200"/>
            <a:ext cx="14986000" cy="12700"/>
          </a:xfrm>
          <a:prstGeom prst="rect">
            <a:avLst/>
          </a:prstGeom>
          <a:solidFill>
            <a:srgbClr val="D0D8E4"/>
          </a:solidFill>
          <a:ln/>
        </p:spPr>
      </p:sp>
      <p:sp>
        <p:nvSpPr>
          <p:cNvPr id="50" name="Text 48"/>
          <p:cNvSpPr/>
          <p:nvPr/>
        </p:nvSpPr>
        <p:spPr>
          <a:xfrm>
            <a:off x="15240000" y="8432800"/>
            <a:ext cx="762000" cy="279400"/>
          </a:xfrm>
          <a:prstGeom prst="rect">
            <a:avLst/>
          </a:prstGeom>
          <a:noFill/>
          <a:ln/>
        </p:spPr>
        <p:txBody>
          <a:bodyPr wrap="none" lIns="0" tIns="0" rIns="0" bIns="0" rtlCol="0" anchor="ctr"/>
          <a:lstStyle/>
          <a:p>
            <a:pPr algn="r">
              <a:lnSpc>
                <a:spcPct val="120000"/>
              </a:lnSpc>
            </a:pPr>
            <a:r>
              <a:rPr lang="en-US" sz="1200" dirty="0">
                <a:solidFill>
                  <a:srgbClr val="8899AA"/>
                </a:solidFill>
                <a:latin typeface="MiSans" pitchFamily="34" charset="0"/>
                <a:ea typeface="MiSans" pitchFamily="34" charset="-122"/>
                <a:cs typeface="MiSans" pitchFamily="34" charset="-120"/>
              </a:rPr>
              <a:t>25</a:t>
            </a:r>
            <a:endParaRPr lang="en-US" sz="1200" dirty="0"/>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2647"/>
        </a:solidFill>
        <a:effectLst/>
      </p:bgPr>
    </p:bg>
    <p:spTree>
      <p:nvGrpSpPr>
        <p:cNvPr id="1" name=""/>
        <p:cNvGrpSpPr/>
        <p:nvPr/>
      </p:nvGrpSpPr>
      <p:grpSpPr>
        <a:xfrm>
          <a:off x="0" y="0"/>
          <a:ext cx="0" cy="0"/>
          <a:chOff x="0" y="0"/>
          <a:chExt cx="0" cy="0"/>
        </a:xfrm>
      </p:grpSpPr>
      <p:sp>
        <p:nvSpPr>
          <p:cNvPr id="2" name="Shape 0"/>
          <p:cNvSpPr/>
          <p:nvPr/>
        </p:nvSpPr>
        <p:spPr>
          <a:xfrm>
            <a:off x="0" y="0"/>
            <a:ext cx="16256000" cy="63500"/>
          </a:xfrm>
          <a:prstGeom prst="rect">
            <a:avLst/>
          </a:prstGeom>
          <a:solidFill>
            <a:srgbClr val="C9963B"/>
          </a:solidFill>
          <a:ln/>
        </p:spPr>
      </p:sp>
      <p:sp>
        <p:nvSpPr>
          <p:cNvPr id="3" name="Text 1"/>
          <p:cNvSpPr/>
          <p:nvPr/>
        </p:nvSpPr>
        <p:spPr>
          <a:xfrm>
            <a:off x="10414000" y="2794000"/>
            <a:ext cx="5588000" cy="2540000"/>
          </a:xfrm>
          <a:prstGeom prst="rect">
            <a:avLst/>
          </a:prstGeom>
          <a:noFill/>
          <a:ln/>
        </p:spPr>
        <p:txBody>
          <a:bodyPr wrap="none" lIns="0" tIns="0" rIns="0" bIns="0" rtlCol="0" anchor="ctr"/>
          <a:lstStyle/>
          <a:p>
            <a:pPr algn="l">
              <a:lnSpc>
                <a:spcPct val="120000"/>
              </a:lnSpc>
            </a:pPr>
            <a:r>
              <a:rPr lang="en-US" sz="18000" b="1" dirty="0">
                <a:solidFill>
                  <a:srgbClr val="FFFFFF">
                    <a:alpha val="10196"/>
                  </a:srgbClr>
                </a:solidFill>
                <a:latin typeface="Sorts Mill Goudy" pitchFamily="34" charset="0"/>
                <a:ea typeface="Sorts Mill Goudy" pitchFamily="34" charset="-122"/>
                <a:cs typeface="Sorts Mill Goudy" pitchFamily="34" charset="-120"/>
              </a:rPr>
              <a:t>04</a:t>
            </a:r>
            <a:endParaRPr lang="en-US" sz="18000" dirty="0"/>
          </a:p>
        </p:txBody>
      </p:sp>
      <p:sp>
        <p:nvSpPr>
          <p:cNvPr id="4" name="Text 2"/>
          <p:cNvSpPr/>
          <p:nvPr/>
        </p:nvSpPr>
        <p:spPr>
          <a:xfrm>
            <a:off x="1016000" y="2540000"/>
            <a:ext cx="7620000" cy="330200"/>
          </a:xfrm>
          <a:prstGeom prst="rect">
            <a:avLst/>
          </a:prstGeom>
          <a:noFill/>
          <a:ln/>
        </p:spPr>
        <p:txBody>
          <a:bodyPr wrap="none" lIns="0" tIns="0" rIns="0" bIns="0" rtlCol="0" anchor="ctr"/>
          <a:lstStyle/>
          <a:p>
            <a:pPr algn="l">
              <a:lnSpc>
                <a:spcPct val="120000"/>
              </a:lnSpc>
            </a:pPr>
            <a:r>
              <a:rPr lang="en-US" sz="1300" kern="0" spc="200" dirty="0">
                <a:solidFill>
                  <a:srgbClr val="FFFFFF">
                    <a:alpha val="53333"/>
                  </a:srgbClr>
                </a:solidFill>
                <a:latin typeface="Liter" pitchFamily="34" charset="0"/>
                <a:ea typeface="Liter" pitchFamily="34" charset="-122"/>
                <a:cs typeface="Liter" pitchFamily="34" charset="-120"/>
              </a:rPr>
              <a:t>CHAPTER 04</a:t>
            </a:r>
            <a:endParaRPr lang="en-US" sz="1300" dirty="0"/>
          </a:p>
        </p:txBody>
      </p:sp>
      <p:sp>
        <p:nvSpPr>
          <p:cNvPr id="5" name="Shape 3"/>
          <p:cNvSpPr/>
          <p:nvPr/>
        </p:nvSpPr>
        <p:spPr>
          <a:xfrm>
            <a:off x="1016000" y="3048000"/>
            <a:ext cx="1524000" cy="25400"/>
          </a:xfrm>
          <a:prstGeom prst="rect">
            <a:avLst/>
          </a:prstGeom>
          <a:solidFill>
            <a:srgbClr val="C9963B"/>
          </a:solidFill>
          <a:ln/>
        </p:spPr>
      </p:sp>
      <p:sp>
        <p:nvSpPr>
          <p:cNvPr id="6" name="Text 4"/>
          <p:cNvSpPr/>
          <p:nvPr/>
        </p:nvSpPr>
        <p:spPr>
          <a:xfrm>
            <a:off x="1016000" y="3302000"/>
            <a:ext cx="11430000" cy="889000"/>
          </a:xfrm>
          <a:prstGeom prst="rect">
            <a:avLst/>
          </a:prstGeom>
          <a:noFill/>
          <a:ln/>
        </p:spPr>
        <p:txBody>
          <a:bodyPr wrap="square" lIns="0" tIns="0" rIns="0" bIns="0" rtlCol="0" anchor="ctr"/>
          <a:lstStyle/>
          <a:p>
            <a:pPr algn="l">
              <a:lnSpc>
                <a:spcPct val="120000"/>
              </a:lnSpc>
            </a:pPr>
            <a:r>
              <a:rPr lang="en-US" sz="4000" b="1" dirty="0">
                <a:solidFill>
                  <a:srgbClr val="FFFFFF"/>
                </a:solidFill>
                <a:latin typeface="Sorts Mill Goudy" pitchFamily="34" charset="0"/>
                <a:ea typeface="Sorts Mill Goudy" pitchFamily="34" charset="-122"/>
                <a:cs typeface="Sorts Mill Goudy" pitchFamily="34" charset="-120"/>
              </a:rPr>
              <a:t>Insights &amp; Conclusion</a:t>
            </a:r>
            <a:endParaRPr lang="en-US" sz="4000" dirty="0"/>
          </a:p>
        </p:txBody>
      </p:sp>
      <p:sp>
        <p:nvSpPr>
          <p:cNvPr id="7" name="Text 5"/>
          <p:cNvSpPr/>
          <p:nvPr/>
        </p:nvSpPr>
        <p:spPr>
          <a:xfrm>
            <a:off x="1016000" y="4318000"/>
            <a:ext cx="8890000" cy="355600"/>
          </a:xfrm>
          <a:prstGeom prst="rect">
            <a:avLst/>
          </a:prstGeom>
          <a:noFill/>
          <a:ln/>
        </p:spPr>
        <p:txBody>
          <a:bodyPr wrap="none" lIns="0" tIns="0" rIns="0" bIns="0" rtlCol="0" anchor="ctr"/>
          <a:lstStyle/>
          <a:p>
            <a:pPr algn="l">
              <a:lnSpc>
                <a:spcPct val="120000"/>
              </a:lnSpc>
            </a:pPr>
            <a:r>
              <a:rPr lang="en-US" sz="2000" dirty="0">
                <a:solidFill>
                  <a:srgbClr val="FFFFFF">
                    <a:alpha val="73333"/>
                  </a:srgbClr>
                </a:solidFill>
                <a:latin typeface="Liter" pitchFamily="34" charset="0"/>
                <a:ea typeface="Liter" pitchFamily="34" charset="-122"/>
                <a:cs typeface="Liter" pitchFamily="34" charset="-120"/>
              </a:rPr>
              <a:t>Business Value and Project Outcomes</a:t>
            </a:r>
            <a:endParaRPr lang="en-US" sz="2000" dirty="0"/>
          </a:p>
        </p:txBody>
      </p:sp>
      <p:sp>
        <p:nvSpPr>
          <p:cNvPr id="8" name="Text 6"/>
          <p:cNvSpPr/>
          <p:nvPr/>
        </p:nvSpPr>
        <p:spPr>
          <a:xfrm>
            <a:off x="1016000" y="4953000"/>
            <a:ext cx="9906000" cy="1143000"/>
          </a:xfrm>
          <a:prstGeom prst="rect">
            <a:avLst/>
          </a:prstGeom>
          <a:noFill/>
          <a:ln/>
        </p:spPr>
        <p:txBody>
          <a:bodyPr wrap="square" lIns="0" tIns="0" rIns="0" bIns="0" rtlCol="0" anchor="t"/>
          <a:lstStyle/>
          <a:p>
            <a:pPr algn="l">
              <a:lnSpc>
                <a:spcPct val="160000"/>
              </a:lnSpc>
            </a:pPr>
            <a:r>
              <a:rPr lang="en-US" sz="1700" dirty="0">
                <a:solidFill>
                  <a:srgbClr val="FFFFFF">
                    <a:alpha val="66667"/>
                  </a:srgbClr>
                </a:solidFill>
                <a:latin typeface="Liter" pitchFamily="34" charset="0"/>
                <a:ea typeface="Liter" pitchFamily="34" charset="-122"/>
                <a:cs typeface="Liter" pitchFamily="34" charset="-120"/>
              </a:rPr>
              <a:t>Key business insights derived from the analysis, project achievements, skills demonstrated, and future enhancement opportunities for the retail analytics solution.</a:t>
            </a:r>
            <a:endParaRPr lang="en-US" sz="1700" dirty="0"/>
          </a:p>
        </p:txBody>
      </p:sp>
      <p:sp>
        <p:nvSpPr>
          <p:cNvPr id="9" name="Shape 7"/>
          <p:cNvSpPr/>
          <p:nvPr/>
        </p:nvSpPr>
        <p:spPr>
          <a:xfrm>
            <a:off x="0" y="9080500"/>
            <a:ext cx="16256000" cy="63500"/>
          </a:xfrm>
          <a:prstGeom prst="rect">
            <a:avLst/>
          </a:prstGeom>
          <a:solidFill>
            <a:srgbClr val="C9963B"/>
          </a:solidFill>
          <a:ln/>
        </p:spPr>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1B3A6B"/>
          </a:solidFill>
          <a:ln/>
        </p:spPr>
      </p:sp>
      <p:sp>
        <p:nvSpPr>
          <p:cNvPr id="3" name="Shape 1"/>
          <p:cNvSpPr/>
          <p:nvPr/>
        </p:nvSpPr>
        <p:spPr>
          <a:xfrm>
            <a:off x="635000" y="127000"/>
            <a:ext cx="50800" cy="685800"/>
          </a:xfrm>
          <a:prstGeom prst="rect">
            <a:avLst/>
          </a:prstGeom>
          <a:solidFill>
            <a:srgbClr val="C9963B"/>
          </a:solidFill>
          <a:ln/>
        </p:spPr>
      </p:sp>
      <p:sp>
        <p:nvSpPr>
          <p:cNvPr id="4" name="Text 2"/>
          <p:cNvSpPr/>
          <p:nvPr/>
        </p:nvSpPr>
        <p:spPr>
          <a:xfrm>
            <a:off x="787400" y="152400"/>
            <a:ext cx="14605000" cy="635000"/>
          </a:xfrm>
          <a:prstGeom prst="rect">
            <a:avLst/>
          </a:prstGeom>
          <a:noFill/>
          <a:ln/>
        </p:spPr>
        <p:txBody>
          <a:bodyPr wrap="square" lIns="0" tIns="0" rIns="0" bIns="0" rtlCol="0" anchor="ctr"/>
          <a:lstStyle/>
          <a:p>
            <a:pPr algn="l">
              <a:lnSpc>
                <a:spcPct val="120000"/>
              </a:lnSpc>
            </a:pPr>
            <a:r>
              <a:rPr lang="en-US" sz="2200" b="1" dirty="0">
                <a:solidFill>
                  <a:srgbClr val="0F2647"/>
                </a:solidFill>
                <a:latin typeface="Sorts Mill Goudy" pitchFamily="34" charset="0"/>
                <a:ea typeface="Sorts Mill Goudy" pitchFamily="34" charset="-122"/>
                <a:cs typeface="Sorts Mill Goudy" pitchFamily="34" charset="-120"/>
              </a:rPr>
              <a:t>Data-driven insights reveal product dominance, geographic concentration, and repeat customer value patterns</a:t>
            </a:r>
            <a:endParaRPr lang="en-US" sz="2200" dirty="0"/>
          </a:p>
        </p:txBody>
      </p:sp>
      <p:sp>
        <p:nvSpPr>
          <p:cNvPr id="5" name="Shape 3"/>
          <p:cNvSpPr/>
          <p:nvPr/>
        </p:nvSpPr>
        <p:spPr>
          <a:xfrm>
            <a:off x="635000" y="863600"/>
            <a:ext cx="14986000" cy="12700"/>
          </a:xfrm>
          <a:prstGeom prst="rect">
            <a:avLst/>
          </a:prstGeom>
          <a:solidFill>
            <a:srgbClr val="D0D8E4"/>
          </a:solidFill>
          <a:ln/>
        </p:spPr>
      </p:sp>
      <p:sp>
        <p:nvSpPr>
          <p:cNvPr id="6" name="Shape 4"/>
          <p:cNvSpPr/>
          <p:nvPr/>
        </p:nvSpPr>
        <p:spPr>
          <a:xfrm>
            <a:off x="635000" y="965200"/>
            <a:ext cx="7493000" cy="279400"/>
          </a:xfrm>
          <a:prstGeom prst="rect">
            <a:avLst/>
          </a:prstGeom>
          <a:solidFill>
            <a:srgbClr val="EBF0F7"/>
          </a:solidFill>
          <a:ln/>
        </p:spPr>
      </p:sp>
      <p:sp>
        <p:nvSpPr>
          <p:cNvPr id="7" name="Shape 5"/>
          <p:cNvSpPr/>
          <p:nvPr/>
        </p:nvSpPr>
        <p:spPr>
          <a:xfrm>
            <a:off x="635000" y="965200"/>
            <a:ext cx="38100" cy="279400"/>
          </a:xfrm>
          <a:prstGeom prst="rect">
            <a:avLst/>
          </a:prstGeom>
          <a:solidFill>
            <a:srgbClr val="C9963B"/>
          </a:solidFill>
          <a:ln/>
        </p:spPr>
      </p:sp>
      <p:sp>
        <p:nvSpPr>
          <p:cNvPr id="8" name="Text 6"/>
          <p:cNvSpPr/>
          <p:nvPr/>
        </p:nvSpPr>
        <p:spPr>
          <a:xfrm>
            <a:off x="736600" y="965200"/>
            <a:ext cx="7366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Key Business Insights</a:t>
            </a:r>
            <a:endParaRPr lang="en-US" sz="1300" dirty="0"/>
          </a:p>
        </p:txBody>
      </p:sp>
      <p:sp>
        <p:nvSpPr>
          <p:cNvPr id="9" name="Shape 7"/>
          <p:cNvSpPr/>
          <p:nvPr/>
        </p:nvSpPr>
        <p:spPr>
          <a:xfrm>
            <a:off x="635000" y="1320800"/>
            <a:ext cx="7493000" cy="1016000"/>
          </a:xfrm>
          <a:prstGeom prst="rect">
            <a:avLst/>
          </a:prstGeom>
          <a:solidFill>
            <a:srgbClr val="EBF0F7"/>
          </a:solidFill>
          <a:ln/>
        </p:spPr>
      </p:sp>
      <p:sp>
        <p:nvSpPr>
          <p:cNvPr id="10" name="Shape 8"/>
          <p:cNvSpPr/>
          <p:nvPr/>
        </p:nvSpPr>
        <p:spPr>
          <a:xfrm>
            <a:off x="635000" y="1320800"/>
            <a:ext cx="7493000" cy="38100"/>
          </a:xfrm>
          <a:prstGeom prst="rect">
            <a:avLst/>
          </a:prstGeom>
          <a:solidFill>
            <a:srgbClr val="1B3A6B"/>
          </a:solidFill>
          <a:ln/>
        </p:spPr>
      </p:sp>
      <p:sp>
        <p:nvSpPr>
          <p:cNvPr id="11" name="Text 9"/>
          <p:cNvSpPr/>
          <p:nvPr/>
        </p:nvSpPr>
        <p:spPr>
          <a:xfrm>
            <a:off x="736600" y="1320800"/>
            <a:ext cx="635000" cy="1016000"/>
          </a:xfrm>
          <a:prstGeom prst="rect">
            <a:avLst/>
          </a:prstGeom>
          <a:noFill/>
          <a:ln/>
        </p:spPr>
        <p:txBody>
          <a:bodyPr wrap="none" lIns="0" tIns="0" rIns="0" bIns="0" rtlCol="0" anchor="ctr"/>
          <a:lstStyle/>
          <a:p>
            <a:pPr algn="ctr">
              <a:lnSpc>
                <a:spcPct val="120000"/>
              </a:lnSpc>
            </a:pPr>
            <a:r>
              <a:rPr lang="en-US" sz="2800" b="1" dirty="0">
                <a:solidFill>
                  <a:srgbClr val="1B3A6B"/>
                </a:solidFill>
                <a:latin typeface="Sorts Mill Goudy" pitchFamily="34" charset="0"/>
                <a:ea typeface="Sorts Mill Goudy" pitchFamily="34" charset="-122"/>
                <a:cs typeface="Sorts Mill Goudy" pitchFamily="34" charset="-120"/>
              </a:rPr>
              <a:t>01</a:t>
            </a:r>
            <a:endParaRPr lang="en-US" sz="2800" dirty="0"/>
          </a:p>
        </p:txBody>
      </p:sp>
      <p:sp>
        <p:nvSpPr>
          <p:cNvPr id="12" name="Text 10"/>
          <p:cNvSpPr/>
          <p:nvPr/>
        </p:nvSpPr>
        <p:spPr>
          <a:xfrm>
            <a:off x="1422400" y="1397000"/>
            <a:ext cx="6553200" cy="939800"/>
          </a:xfrm>
          <a:prstGeom prst="rect">
            <a:avLst/>
          </a:prstGeom>
          <a:noFill/>
          <a:ln/>
        </p:spPr>
        <p:txBody>
          <a:bodyPr wrap="square" lIns="0" tIns="0" rIns="0" bIns="0" rtlCol="0" anchor="t"/>
          <a:lstStyle/>
          <a:p>
            <a:pPr algn="l">
              <a:lnSpc>
                <a:spcPct val="150000"/>
              </a:lnSpc>
            </a:pPr>
            <a:r>
              <a:rPr lang="en-US" sz="1400" b="1" dirty="0">
                <a:solidFill>
                  <a:srgbClr val="2D2D2D"/>
                </a:solidFill>
                <a:latin typeface="Liter" pitchFamily="34" charset="0"/>
                <a:ea typeface="Liter" pitchFamily="34" charset="-122"/>
                <a:cs typeface="Liter" pitchFamily="34" charset="-120"/>
              </a:rPr>
              <a:t>Top Products Generated Major Revenue</a:t>
            </a:r>
            <a:endParaRPr lang="en-US" sz="1400" dirty="0"/>
          </a:p>
          <a:p>
            <a:pPr algn="l">
              <a:lnSpc>
                <a:spcPct val="150000"/>
              </a:lnSpc>
            </a:pPr>
            <a:r>
              <a:rPr lang="en-US" sz="1300" dirty="0">
                <a:solidFill>
                  <a:srgbClr val="555555"/>
                </a:solidFill>
                <a:latin typeface="Liter" pitchFamily="34" charset="0"/>
                <a:ea typeface="Liter" pitchFamily="34" charset="-122"/>
                <a:cs typeface="Liter" pitchFamily="34" charset="-120"/>
              </a:rPr>
              <a:t>Top 5 products account for disproportionate revenue share — concentration risk identified.</a:t>
            </a:r>
            <a:endParaRPr lang="en-US" sz="1400" dirty="0"/>
          </a:p>
        </p:txBody>
      </p:sp>
      <p:sp>
        <p:nvSpPr>
          <p:cNvPr id="13" name="Shape 11"/>
          <p:cNvSpPr/>
          <p:nvPr/>
        </p:nvSpPr>
        <p:spPr>
          <a:xfrm>
            <a:off x="635000" y="2463800"/>
            <a:ext cx="7493000" cy="1016000"/>
          </a:xfrm>
          <a:prstGeom prst="rect">
            <a:avLst/>
          </a:prstGeom>
          <a:solidFill>
            <a:srgbClr val="EBF0F7"/>
          </a:solidFill>
          <a:ln/>
        </p:spPr>
      </p:sp>
      <p:sp>
        <p:nvSpPr>
          <p:cNvPr id="14" name="Shape 12"/>
          <p:cNvSpPr/>
          <p:nvPr/>
        </p:nvSpPr>
        <p:spPr>
          <a:xfrm>
            <a:off x="635000" y="2463800"/>
            <a:ext cx="7493000" cy="38100"/>
          </a:xfrm>
          <a:prstGeom prst="rect">
            <a:avLst/>
          </a:prstGeom>
          <a:solidFill>
            <a:srgbClr val="C9963B"/>
          </a:solidFill>
          <a:ln/>
        </p:spPr>
      </p:sp>
      <p:sp>
        <p:nvSpPr>
          <p:cNvPr id="15" name="Text 13"/>
          <p:cNvSpPr/>
          <p:nvPr/>
        </p:nvSpPr>
        <p:spPr>
          <a:xfrm>
            <a:off x="736600" y="2463800"/>
            <a:ext cx="635000" cy="1016000"/>
          </a:xfrm>
          <a:prstGeom prst="rect">
            <a:avLst/>
          </a:prstGeom>
          <a:noFill/>
          <a:ln/>
        </p:spPr>
        <p:txBody>
          <a:bodyPr wrap="none" lIns="0" tIns="0" rIns="0" bIns="0" rtlCol="0" anchor="ctr"/>
          <a:lstStyle/>
          <a:p>
            <a:pPr algn="ctr">
              <a:lnSpc>
                <a:spcPct val="120000"/>
              </a:lnSpc>
            </a:pPr>
            <a:r>
              <a:rPr lang="en-US" sz="2800" b="1" dirty="0">
                <a:solidFill>
                  <a:srgbClr val="C9963B"/>
                </a:solidFill>
                <a:latin typeface="Sorts Mill Goudy" pitchFamily="34" charset="0"/>
                <a:ea typeface="Sorts Mill Goudy" pitchFamily="34" charset="-122"/>
                <a:cs typeface="Sorts Mill Goudy" pitchFamily="34" charset="-120"/>
              </a:rPr>
              <a:t>02</a:t>
            </a:r>
            <a:endParaRPr lang="en-US" sz="2800" dirty="0"/>
          </a:p>
        </p:txBody>
      </p:sp>
      <p:sp>
        <p:nvSpPr>
          <p:cNvPr id="16" name="Text 14"/>
          <p:cNvSpPr/>
          <p:nvPr/>
        </p:nvSpPr>
        <p:spPr>
          <a:xfrm>
            <a:off x="1422400" y="2540000"/>
            <a:ext cx="6553200" cy="939800"/>
          </a:xfrm>
          <a:prstGeom prst="rect">
            <a:avLst/>
          </a:prstGeom>
          <a:noFill/>
          <a:ln/>
        </p:spPr>
        <p:txBody>
          <a:bodyPr wrap="square" lIns="0" tIns="0" rIns="0" bIns="0" rtlCol="0" anchor="t"/>
          <a:lstStyle/>
          <a:p>
            <a:pPr algn="l">
              <a:lnSpc>
                <a:spcPct val="150000"/>
              </a:lnSpc>
            </a:pPr>
            <a:r>
              <a:rPr lang="en-US" sz="1400" b="1" dirty="0">
                <a:solidFill>
                  <a:srgbClr val="2D2D2D"/>
                </a:solidFill>
                <a:latin typeface="Liter" pitchFamily="34" charset="0"/>
                <a:ea typeface="Liter" pitchFamily="34" charset="-122"/>
                <a:cs typeface="Liter" pitchFamily="34" charset="-120"/>
              </a:rPr>
              <a:t>Certain Countries Dominated Sales</a:t>
            </a:r>
            <a:endParaRPr lang="en-US" sz="1400" dirty="0"/>
          </a:p>
          <a:p>
            <a:pPr algn="l">
              <a:lnSpc>
                <a:spcPct val="150000"/>
              </a:lnSpc>
            </a:pPr>
            <a:r>
              <a:rPr lang="en-US" sz="1300" dirty="0">
                <a:solidFill>
                  <a:srgbClr val="555555"/>
                </a:solidFill>
                <a:latin typeface="Liter" pitchFamily="34" charset="0"/>
                <a:ea typeface="Liter" pitchFamily="34" charset="-122"/>
                <a:cs typeface="Liter" pitchFamily="34" charset="-120"/>
              </a:rPr>
              <a:t>UK represents 82% of revenue — over-dependence on single market requires mitigation.</a:t>
            </a:r>
            <a:endParaRPr lang="en-US" sz="1400" dirty="0"/>
          </a:p>
        </p:txBody>
      </p:sp>
      <p:sp>
        <p:nvSpPr>
          <p:cNvPr id="17" name="Shape 15"/>
          <p:cNvSpPr/>
          <p:nvPr/>
        </p:nvSpPr>
        <p:spPr>
          <a:xfrm>
            <a:off x="635000" y="3606800"/>
            <a:ext cx="7493000" cy="1016000"/>
          </a:xfrm>
          <a:prstGeom prst="rect">
            <a:avLst/>
          </a:prstGeom>
          <a:solidFill>
            <a:srgbClr val="EBF0F7"/>
          </a:solidFill>
          <a:ln/>
        </p:spPr>
      </p:sp>
      <p:sp>
        <p:nvSpPr>
          <p:cNvPr id="18" name="Shape 16"/>
          <p:cNvSpPr/>
          <p:nvPr/>
        </p:nvSpPr>
        <p:spPr>
          <a:xfrm>
            <a:off x="635000" y="3606800"/>
            <a:ext cx="7493000" cy="38100"/>
          </a:xfrm>
          <a:prstGeom prst="rect">
            <a:avLst/>
          </a:prstGeom>
          <a:solidFill>
            <a:srgbClr val="1B3A6B"/>
          </a:solidFill>
          <a:ln/>
        </p:spPr>
      </p:sp>
      <p:sp>
        <p:nvSpPr>
          <p:cNvPr id="19" name="Text 17"/>
          <p:cNvSpPr/>
          <p:nvPr/>
        </p:nvSpPr>
        <p:spPr>
          <a:xfrm>
            <a:off x="736600" y="3606800"/>
            <a:ext cx="635000" cy="1016000"/>
          </a:xfrm>
          <a:prstGeom prst="rect">
            <a:avLst/>
          </a:prstGeom>
          <a:noFill/>
          <a:ln/>
        </p:spPr>
        <p:txBody>
          <a:bodyPr wrap="none" lIns="0" tIns="0" rIns="0" bIns="0" rtlCol="0" anchor="ctr"/>
          <a:lstStyle/>
          <a:p>
            <a:pPr algn="ctr">
              <a:lnSpc>
                <a:spcPct val="120000"/>
              </a:lnSpc>
            </a:pPr>
            <a:r>
              <a:rPr lang="en-US" sz="2800" b="1" dirty="0">
                <a:solidFill>
                  <a:srgbClr val="1B3A6B"/>
                </a:solidFill>
                <a:latin typeface="Sorts Mill Goudy" pitchFamily="34" charset="0"/>
                <a:ea typeface="Sorts Mill Goudy" pitchFamily="34" charset="-122"/>
                <a:cs typeface="Sorts Mill Goudy" pitchFamily="34" charset="-120"/>
              </a:rPr>
              <a:t>03</a:t>
            </a:r>
            <a:endParaRPr lang="en-US" sz="2800" dirty="0"/>
          </a:p>
        </p:txBody>
      </p:sp>
      <p:sp>
        <p:nvSpPr>
          <p:cNvPr id="20" name="Text 18"/>
          <p:cNvSpPr/>
          <p:nvPr/>
        </p:nvSpPr>
        <p:spPr>
          <a:xfrm>
            <a:off x="1422400" y="3683000"/>
            <a:ext cx="6553200" cy="939800"/>
          </a:xfrm>
          <a:prstGeom prst="rect">
            <a:avLst/>
          </a:prstGeom>
          <a:noFill/>
          <a:ln/>
        </p:spPr>
        <p:txBody>
          <a:bodyPr wrap="square" lIns="0" tIns="0" rIns="0" bIns="0" rtlCol="0" anchor="t"/>
          <a:lstStyle/>
          <a:p>
            <a:pPr algn="l">
              <a:lnSpc>
                <a:spcPct val="150000"/>
              </a:lnSpc>
            </a:pPr>
            <a:r>
              <a:rPr lang="en-US" sz="1400" b="1" dirty="0">
                <a:solidFill>
                  <a:srgbClr val="2D2D2D"/>
                </a:solidFill>
                <a:latin typeface="Liter" pitchFamily="34" charset="0"/>
                <a:ea typeface="Liter" pitchFamily="34" charset="-122"/>
                <a:cs typeface="Liter" pitchFamily="34" charset="-120"/>
              </a:rPr>
              <a:t>Repeat Customers Contributed Significantly</a:t>
            </a:r>
            <a:endParaRPr lang="en-US" sz="1400" dirty="0"/>
          </a:p>
          <a:p>
            <a:pPr algn="l">
              <a:lnSpc>
                <a:spcPct val="150000"/>
              </a:lnSpc>
            </a:pPr>
            <a:r>
              <a:rPr lang="en-US" sz="1300" dirty="0">
                <a:solidFill>
                  <a:srgbClr val="555555"/>
                </a:solidFill>
                <a:latin typeface="Liter" pitchFamily="34" charset="0"/>
                <a:ea typeface="Liter" pitchFamily="34" charset="-122"/>
                <a:cs typeface="Liter" pitchFamily="34" charset="-120"/>
              </a:rPr>
              <a:t>Top 10% of customers drive ~60% of revenue — loyalty programs have high ROI potential.</a:t>
            </a:r>
            <a:endParaRPr lang="en-US" sz="1400" dirty="0"/>
          </a:p>
        </p:txBody>
      </p:sp>
      <p:sp>
        <p:nvSpPr>
          <p:cNvPr id="21" name="Shape 19"/>
          <p:cNvSpPr/>
          <p:nvPr/>
        </p:nvSpPr>
        <p:spPr>
          <a:xfrm>
            <a:off x="635000" y="4749800"/>
            <a:ext cx="7493000" cy="1016000"/>
          </a:xfrm>
          <a:prstGeom prst="rect">
            <a:avLst/>
          </a:prstGeom>
          <a:solidFill>
            <a:srgbClr val="EBF0F7"/>
          </a:solidFill>
          <a:ln/>
        </p:spPr>
      </p:sp>
      <p:sp>
        <p:nvSpPr>
          <p:cNvPr id="22" name="Shape 20"/>
          <p:cNvSpPr/>
          <p:nvPr/>
        </p:nvSpPr>
        <p:spPr>
          <a:xfrm>
            <a:off x="635000" y="4749800"/>
            <a:ext cx="7493000" cy="38100"/>
          </a:xfrm>
          <a:prstGeom prst="rect">
            <a:avLst/>
          </a:prstGeom>
          <a:solidFill>
            <a:srgbClr val="C9963B"/>
          </a:solidFill>
          <a:ln/>
        </p:spPr>
      </p:sp>
      <p:sp>
        <p:nvSpPr>
          <p:cNvPr id="23" name="Text 21"/>
          <p:cNvSpPr/>
          <p:nvPr/>
        </p:nvSpPr>
        <p:spPr>
          <a:xfrm>
            <a:off x="736600" y="4749800"/>
            <a:ext cx="635000" cy="1016000"/>
          </a:xfrm>
          <a:prstGeom prst="rect">
            <a:avLst/>
          </a:prstGeom>
          <a:noFill/>
          <a:ln/>
        </p:spPr>
        <p:txBody>
          <a:bodyPr wrap="none" lIns="0" tIns="0" rIns="0" bIns="0" rtlCol="0" anchor="ctr"/>
          <a:lstStyle/>
          <a:p>
            <a:pPr algn="ctr">
              <a:lnSpc>
                <a:spcPct val="120000"/>
              </a:lnSpc>
            </a:pPr>
            <a:r>
              <a:rPr lang="en-US" sz="2800" b="1" dirty="0">
                <a:solidFill>
                  <a:srgbClr val="C9963B"/>
                </a:solidFill>
                <a:latin typeface="Sorts Mill Goudy" pitchFamily="34" charset="0"/>
                <a:ea typeface="Sorts Mill Goudy" pitchFamily="34" charset="-122"/>
                <a:cs typeface="Sorts Mill Goudy" pitchFamily="34" charset="-120"/>
              </a:rPr>
              <a:t>04</a:t>
            </a:r>
            <a:endParaRPr lang="en-US" sz="2800" dirty="0"/>
          </a:p>
        </p:txBody>
      </p:sp>
      <p:sp>
        <p:nvSpPr>
          <p:cNvPr id="24" name="Text 22"/>
          <p:cNvSpPr/>
          <p:nvPr/>
        </p:nvSpPr>
        <p:spPr>
          <a:xfrm>
            <a:off x="1422400" y="4826000"/>
            <a:ext cx="6553200" cy="939800"/>
          </a:xfrm>
          <a:prstGeom prst="rect">
            <a:avLst/>
          </a:prstGeom>
          <a:noFill/>
          <a:ln/>
        </p:spPr>
        <p:txBody>
          <a:bodyPr wrap="square" lIns="0" tIns="0" rIns="0" bIns="0" rtlCol="0" anchor="t"/>
          <a:lstStyle/>
          <a:p>
            <a:pPr algn="l">
              <a:lnSpc>
                <a:spcPct val="150000"/>
              </a:lnSpc>
            </a:pPr>
            <a:r>
              <a:rPr lang="en-US" sz="1400" b="1" dirty="0">
                <a:solidFill>
                  <a:srgbClr val="2D2D2D"/>
                </a:solidFill>
                <a:latin typeface="Liter" pitchFamily="34" charset="0"/>
                <a:ea typeface="Liter" pitchFamily="34" charset="-122"/>
                <a:cs typeface="Liter" pitchFamily="34" charset="-120"/>
              </a:rPr>
              <a:t>Revenue Trends Varied Monthly</a:t>
            </a:r>
            <a:endParaRPr lang="en-US" sz="1400" dirty="0"/>
          </a:p>
          <a:p>
            <a:pPr algn="l">
              <a:lnSpc>
                <a:spcPct val="150000"/>
              </a:lnSpc>
            </a:pPr>
            <a:r>
              <a:rPr lang="en-US" sz="1300" dirty="0">
                <a:solidFill>
                  <a:srgbClr val="555555"/>
                </a:solidFill>
                <a:latin typeface="Liter" pitchFamily="34" charset="0"/>
                <a:ea typeface="Liter" pitchFamily="34" charset="-122"/>
                <a:cs typeface="Liter" pitchFamily="34" charset="-120"/>
              </a:rPr>
              <a:t>Q4 holiday season shows peak performance — inventory planning should account for seasonality.</a:t>
            </a:r>
            <a:endParaRPr lang="en-US" sz="1400" dirty="0"/>
          </a:p>
        </p:txBody>
      </p:sp>
      <p:sp>
        <p:nvSpPr>
          <p:cNvPr id="25" name="Shape 23"/>
          <p:cNvSpPr/>
          <p:nvPr/>
        </p:nvSpPr>
        <p:spPr>
          <a:xfrm>
            <a:off x="635000" y="5892800"/>
            <a:ext cx="7493000" cy="1016000"/>
          </a:xfrm>
          <a:prstGeom prst="rect">
            <a:avLst/>
          </a:prstGeom>
          <a:solidFill>
            <a:srgbClr val="EBF0F7"/>
          </a:solidFill>
          <a:ln/>
        </p:spPr>
      </p:sp>
      <p:sp>
        <p:nvSpPr>
          <p:cNvPr id="26" name="Shape 24"/>
          <p:cNvSpPr/>
          <p:nvPr/>
        </p:nvSpPr>
        <p:spPr>
          <a:xfrm>
            <a:off x="635000" y="5892800"/>
            <a:ext cx="7493000" cy="38100"/>
          </a:xfrm>
          <a:prstGeom prst="rect">
            <a:avLst/>
          </a:prstGeom>
          <a:solidFill>
            <a:srgbClr val="1B3A6B"/>
          </a:solidFill>
          <a:ln/>
        </p:spPr>
      </p:sp>
      <p:sp>
        <p:nvSpPr>
          <p:cNvPr id="27" name="Text 25"/>
          <p:cNvSpPr/>
          <p:nvPr/>
        </p:nvSpPr>
        <p:spPr>
          <a:xfrm>
            <a:off x="736600" y="5892800"/>
            <a:ext cx="635000" cy="1016000"/>
          </a:xfrm>
          <a:prstGeom prst="rect">
            <a:avLst/>
          </a:prstGeom>
          <a:noFill/>
          <a:ln/>
        </p:spPr>
        <p:txBody>
          <a:bodyPr wrap="none" lIns="0" tIns="0" rIns="0" bIns="0" rtlCol="0" anchor="ctr"/>
          <a:lstStyle/>
          <a:p>
            <a:pPr algn="ctr">
              <a:lnSpc>
                <a:spcPct val="120000"/>
              </a:lnSpc>
            </a:pPr>
            <a:r>
              <a:rPr lang="en-US" sz="2800" b="1" dirty="0">
                <a:solidFill>
                  <a:srgbClr val="1B3A6B"/>
                </a:solidFill>
                <a:latin typeface="Sorts Mill Goudy" pitchFamily="34" charset="0"/>
                <a:ea typeface="Sorts Mill Goudy" pitchFamily="34" charset="-122"/>
                <a:cs typeface="Sorts Mill Goudy" pitchFamily="34" charset="-120"/>
              </a:rPr>
              <a:t>05</a:t>
            </a:r>
            <a:endParaRPr lang="en-US" sz="2800" dirty="0"/>
          </a:p>
        </p:txBody>
      </p:sp>
      <p:sp>
        <p:nvSpPr>
          <p:cNvPr id="28" name="Text 26"/>
          <p:cNvSpPr/>
          <p:nvPr/>
        </p:nvSpPr>
        <p:spPr>
          <a:xfrm>
            <a:off x="1422400" y="5969000"/>
            <a:ext cx="6553200" cy="939800"/>
          </a:xfrm>
          <a:prstGeom prst="rect">
            <a:avLst/>
          </a:prstGeom>
          <a:noFill/>
          <a:ln/>
        </p:spPr>
        <p:txBody>
          <a:bodyPr wrap="square" lIns="0" tIns="0" rIns="0" bIns="0" rtlCol="0" anchor="t"/>
          <a:lstStyle/>
          <a:p>
            <a:pPr algn="l">
              <a:lnSpc>
                <a:spcPct val="150000"/>
              </a:lnSpc>
            </a:pPr>
            <a:r>
              <a:rPr lang="en-US" sz="1400" b="1" dirty="0">
                <a:solidFill>
                  <a:srgbClr val="2D2D2D"/>
                </a:solidFill>
                <a:latin typeface="Liter" pitchFamily="34" charset="0"/>
                <a:ea typeface="Liter" pitchFamily="34" charset="-122"/>
                <a:cs typeface="Liter" pitchFamily="34" charset="-120"/>
              </a:rPr>
              <a:t>Product Demand Patterns Identified</a:t>
            </a:r>
            <a:endParaRPr lang="en-US" sz="1400" dirty="0"/>
          </a:p>
          <a:p>
            <a:pPr algn="l">
              <a:lnSpc>
                <a:spcPct val="150000"/>
              </a:lnSpc>
            </a:pPr>
            <a:r>
              <a:rPr lang="en-US" sz="1300" dirty="0">
                <a:solidFill>
                  <a:srgbClr val="555555"/>
                </a:solidFill>
                <a:latin typeface="Liter" pitchFamily="34" charset="0"/>
                <a:ea typeface="Liter" pitchFamily="34" charset="-122"/>
                <a:cs typeface="Liter" pitchFamily="34" charset="-120"/>
              </a:rPr>
              <a:t>Home and gift categories show strongest performance — guide procurement and marketing focus.</a:t>
            </a:r>
            <a:endParaRPr lang="en-US" sz="1400" dirty="0"/>
          </a:p>
        </p:txBody>
      </p:sp>
      <p:sp>
        <p:nvSpPr>
          <p:cNvPr id="29" name="Shape 27"/>
          <p:cNvSpPr/>
          <p:nvPr/>
        </p:nvSpPr>
        <p:spPr>
          <a:xfrm>
            <a:off x="8255000" y="965200"/>
            <a:ext cx="7366000" cy="279400"/>
          </a:xfrm>
          <a:prstGeom prst="rect">
            <a:avLst/>
          </a:prstGeom>
          <a:solidFill>
            <a:srgbClr val="EBF0F7"/>
          </a:solidFill>
          <a:ln/>
        </p:spPr>
      </p:sp>
      <p:sp>
        <p:nvSpPr>
          <p:cNvPr id="30" name="Shape 28"/>
          <p:cNvSpPr/>
          <p:nvPr/>
        </p:nvSpPr>
        <p:spPr>
          <a:xfrm>
            <a:off x="8255000" y="965200"/>
            <a:ext cx="38100" cy="279400"/>
          </a:xfrm>
          <a:prstGeom prst="rect">
            <a:avLst/>
          </a:prstGeom>
          <a:solidFill>
            <a:srgbClr val="C9963B"/>
          </a:solidFill>
          <a:ln/>
        </p:spPr>
      </p:sp>
      <p:sp>
        <p:nvSpPr>
          <p:cNvPr id="31" name="Text 29"/>
          <p:cNvSpPr/>
          <p:nvPr/>
        </p:nvSpPr>
        <p:spPr>
          <a:xfrm>
            <a:off x="8356600" y="965200"/>
            <a:ext cx="7239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Business Benefits</a:t>
            </a:r>
            <a:endParaRPr lang="en-US" sz="1300" dirty="0"/>
          </a:p>
        </p:txBody>
      </p:sp>
      <p:sp>
        <p:nvSpPr>
          <p:cNvPr id="32" name="Shape 30"/>
          <p:cNvSpPr/>
          <p:nvPr/>
        </p:nvSpPr>
        <p:spPr>
          <a:xfrm>
            <a:off x="8318500" y="1320800"/>
            <a:ext cx="7239000" cy="1270000"/>
          </a:xfrm>
          <a:prstGeom prst="rect">
            <a:avLst/>
          </a:prstGeom>
          <a:solidFill>
            <a:srgbClr val="EBF0F7"/>
          </a:solidFill>
          <a:ln/>
        </p:spPr>
      </p:sp>
      <p:sp>
        <p:nvSpPr>
          <p:cNvPr id="33" name="Shape 31"/>
          <p:cNvSpPr/>
          <p:nvPr/>
        </p:nvSpPr>
        <p:spPr>
          <a:xfrm>
            <a:off x="8318500" y="1320800"/>
            <a:ext cx="50800" cy="1270000"/>
          </a:xfrm>
          <a:prstGeom prst="rect">
            <a:avLst/>
          </a:prstGeom>
          <a:solidFill>
            <a:srgbClr val="1B3A6B"/>
          </a:solidFill>
          <a:ln/>
        </p:spPr>
      </p:sp>
      <p:sp>
        <p:nvSpPr>
          <p:cNvPr id="34" name="Text 32"/>
          <p:cNvSpPr/>
          <p:nvPr/>
        </p:nvSpPr>
        <p:spPr>
          <a:xfrm>
            <a:off x="8483600" y="1397000"/>
            <a:ext cx="6908800" cy="279400"/>
          </a:xfrm>
          <a:prstGeom prst="rect">
            <a:avLst/>
          </a:prstGeom>
          <a:noFill/>
          <a:ln/>
        </p:spPr>
        <p:txBody>
          <a:bodyPr wrap="none" lIns="0" tIns="0" rIns="0" bIns="0" rtlCol="0" anchor="ctr"/>
          <a:lstStyle/>
          <a:p>
            <a:pPr algn="l">
              <a:lnSpc>
                <a:spcPct val="120000"/>
              </a:lnSpc>
            </a:pPr>
            <a:r>
              <a:rPr lang="en-US" sz="1400" b="1" dirty="0">
                <a:solidFill>
                  <a:srgbClr val="1B3A6B"/>
                </a:solidFill>
                <a:latin typeface="Sorts Mill Goudy" pitchFamily="34" charset="0"/>
                <a:ea typeface="Sorts Mill Goudy" pitchFamily="34" charset="-122"/>
                <a:cs typeface="Sorts Mill Goudy" pitchFamily="34" charset="-120"/>
              </a:rPr>
              <a:t>Better Decision Making</a:t>
            </a:r>
            <a:endParaRPr lang="en-US" sz="1400" dirty="0"/>
          </a:p>
        </p:txBody>
      </p:sp>
      <p:sp>
        <p:nvSpPr>
          <p:cNvPr id="35" name="Text 33"/>
          <p:cNvSpPr/>
          <p:nvPr/>
        </p:nvSpPr>
        <p:spPr>
          <a:xfrm>
            <a:off x="8483600" y="1701800"/>
            <a:ext cx="6908800" cy="7874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Data-backed insights replace intuition, enabling evidence-based strategic planning and resource allocation.</a:t>
            </a:r>
            <a:endParaRPr lang="en-US" sz="1300" dirty="0"/>
          </a:p>
        </p:txBody>
      </p:sp>
      <p:sp>
        <p:nvSpPr>
          <p:cNvPr id="36" name="Shape 34"/>
          <p:cNvSpPr/>
          <p:nvPr/>
        </p:nvSpPr>
        <p:spPr>
          <a:xfrm>
            <a:off x="8318500" y="2717800"/>
            <a:ext cx="7239000" cy="1270000"/>
          </a:xfrm>
          <a:prstGeom prst="rect">
            <a:avLst/>
          </a:prstGeom>
          <a:solidFill>
            <a:srgbClr val="EBF0F7"/>
          </a:solidFill>
          <a:ln/>
        </p:spPr>
      </p:sp>
      <p:sp>
        <p:nvSpPr>
          <p:cNvPr id="37" name="Shape 35"/>
          <p:cNvSpPr/>
          <p:nvPr/>
        </p:nvSpPr>
        <p:spPr>
          <a:xfrm>
            <a:off x="8318500" y="2717800"/>
            <a:ext cx="50800" cy="1270000"/>
          </a:xfrm>
          <a:prstGeom prst="rect">
            <a:avLst/>
          </a:prstGeom>
          <a:solidFill>
            <a:srgbClr val="C9963B"/>
          </a:solidFill>
          <a:ln/>
        </p:spPr>
      </p:sp>
      <p:sp>
        <p:nvSpPr>
          <p:cNvPr id="38" name="Text 36"/>
          <p:cNvSpPr/>
          <p:nvPr/>
        </p:nvSpPr>
        <p:spPr>
          <a:xfrm>
            <a:off x="8483600" y="2794000"/>
            <a:ext cx="6908800" cy="279400"/>
          </a:xfrm>
          <a:prstGeom prst="rect">
            <a:avLst/>
          </a:prstGeom>
          <a:noFill/>
          <a:ln/>
        </p:spPr>
        <p:txBody>
          <a:bodyPr wrap="none" lIns="0" tIns="0" rIns="0" bIns="0" rtlCol="0" anchor="ctr"/>
          <a:lstStyle/>
          <a:p>
            <a:pPr algn="l">
              <a:lnSpc>
                <a:spcPct val="120000"/>
              </a:lnSpc>
            </a:pPr>
            <a:r>
              <a:rPr lang="en-US" sz="1400" b="1" dirty="0">
                <a:solidFill>
                  <a:srgbClr val="C9963B"/>
                </a:solidFill>
                <a:latin typeface="Sorts Mill Goudy" pitchFamily="34" charset="0"/>
                <a:ea typeface="Sorts Mill Goudy" pitchFamily="34" charset="-122"/>
                <a:cs typeface="Sorts Mill Goudy" pitchFamily="34" charset="-120"/>
              </a:rPr>
              <a:t>Customer Understanding</a:t>
            </a:r>
            <a:endParaRPr lang="en-US" sz="1400" dirty="0"/>
          </a:p>
        </p:txBody>
      </p:sp>
      <p:sp>
        <p:nvSpPr>
          <p:cNvPr id="39" name="Text 37"/>
          <p:cNvSpPr/>
          <p:nvPr/>
        </p:nvSpPr>
        <p:spPr>
          <a:xfrm>
            <a:off x="8483600" y="3098800"/>
            <a:ext cx="6908800" cy="7874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Segmentation and behavior analysis reveal customer value tiers, enabling targeted retention and acquisition.</a:t>
            </a:r>
            <a:endParaRPr lang="en-US" sz="1300" dirty="0"/>
          </a:p>
        </p:txBody>
      </p:sp>
      <p:sp>
        <p:nvSpPr>
          <p:cNvPr id="40" name="Shape 38"/>
          <p:cNvSpPr/>
          <p:nvPr/>
        </p:nvSpPr>
        <p:spPr>
          <a:xfrm>
            <a:off x="8318500" y="4114800"/>
            <a:ext cx="7239000" cy="1270000"/>
          </a:xfrm>
          <a:prstGeom prst="rect">
            <a:avLst/>
          </a:prstGeom>
          <a:solidFill>
            <a:srgbClr val="EBF0F7"/>
          </a:solidFill>
          <a:ln/>
        </p:spPr>
      </p:sp>
      <p:sp>
        <p:nvSpPr>
          <p:cNvPr id="41" name="Shape 39"/>
          <p:cNvSpPr/>
          <p:nvPr/>
        </p:nvSpPr>
        <p:spPr>
          <a:xfrm>
            <a:off x="8318500" y="4114800"/>
            <a:ext cx="50800" cy="1270000"/>
          </a:xfrm>
          <a:prstGeom prst="rect">
            <a:avLst/>
          </a:prstGeom>
          <a:solidFill>
            <a:srgbClr val="1B3A6B"/>
          </a:solidFill>
          <a:ln/>
        </p:spPr>
      </p:sp>
      <p:sp>
        <p:nvSpPr>
          <p:cNvPr id="42" name="Text 40"/>
          <p:cNvSpPr/>
          <p:nvPr/>
        </p:nvSpPr>
        <p:spPr>
          <a:xfrm>
            <a:off x="8483600" y="4191000"/>
            <a:ext cx="6908800" cy="279400"/>
          </a:xfrm>
          <a:prstGeom prst="rect">
            <a:avLst/>
          </a:prstGeom>
          <a:noFill/>
          <a:ln/>
        </p:spPr>
        <p:txBody>
          <a:bodyPr wrap="none" lIns="0" tIns="0" rIns="0" bIns="0" rtlCol="0" anchor="ctr"/>
          <a:lstStyle/>
          <a:p>
            <a:pPr algn="l">
              <a:lnSpc>
                <a:spcPct val="120000"/>
              </a:lnSpc>
            </a:pPr>
            <a:r>
              <a:rPr lang="en-US" sz="1400" b="1" dirty="0">
                <a:solidFill>
                  <a:srgbClr val="1B3A6B"/>
                </a:solidFill>
                <a:latin typeface="Sorts Mill Goudy" pitchFamily="34" charset="0"/>
                <a:ea typeface="Sorts Mill Goudy" pitchFamily="34" charset="-122"/>
                <a:cs typeface="Sorts Mill Goudy" pitchFamily="34" charset="-120"/>
              </a:rPr>
              <a:t>Product Optimization</a:t>
            </a:r>
            <a:endParaRPr lang="en-US" sz="1400" dirty="0"/>
          </a:p>
        </p:txBody>
      </p:sp>
      <p:sp>
        <p:nvSpPr>
          <p:cNvPr id="43" name="Text 41"/>
          <p:cNvSpPr/>
          <p:nvPr/>
        </p:nvSpPr>
        <p:spPr>
          <a:xfrm>
            <a:off x="8483600" y="4495800"/>
            <a:ext cx="6908800" cy="7874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Identification of top performers and underperformers guides inventory, pricing, and product development.</a:t>
            </a:r>
            <a:endParaRPr lang="en-US" sz="1300" dirty="0"/>
          </a:p>
        </p:txBody>
      </p:sp>
      <p:sp>
        <p:nvSpPr>
          <p:cNvPr id="44" name="Shape 42"/>
          <p:cNvSpPr/>
          <p:nvPr/>
        </p:nvSpPr>
        <p:spPr>
          <a:xfrm>
            <a:off x="8318500" y="5511800"/>
            <a:ext cx="7239000" cy="1270000"/>
          </a:xfrm>
          <a:prstGeom prst="rect">
            <a:avLst/>
          </a:prstGeom>
          <a:solidFill>
            <a:srgbClr val="EBF0F7"/>
          </a:solidFill>
          <a:ln/>
        </p:spPr>
      </p:sp>
      <p:sp>
        <p:nvSpPr>
          <p:cNvPr id="45" name="Shape 43"/>
          <p:cNvSpPr/>
          <p:nvPr/>
        </p:nvSpPr>
        <p:spPr>
          <a:xfrm>
            <a:off x="8318500" y="5511800"/>
            <a:ext cx="50800" cy="1270000"/>
          </a:xfrm>
          <a:prstGeom prst="rect">
            <a:avLst/>
          </a:prstGeom>
          <a:solidFill>
            <a:srgbClr val="C9963B"/>
          </a:solidFill>
          <a:ln/>
        </p:spPr>
      </p:sp>
      <p:sp>
        <p:nvSpPr>
          <p:cNvPr id="46" name="Text 44"/>
          <p:cNvSpPr/>
          <p:nvPr/>
        </p:nvSpPr>
        <p:spPr>
          <a:xfrm>
            <a:off x="8483600" y="5588000"/>
            <a:ext cx="6908800" cy="279400"/>
          </a:xfrm>
          <a:prstGeom prst="rect">
            <a:avLst/>
          </a:prstGeom>
          <a:noFill/>
          <a:ln/>
        </p:spPr>
        <p:txBody>
          <a:bodyPr wrap="none" lIns="0" tIns="0" rIns="0" bIns="0" rtlCol="0" anchor="ctr"/>
          <a:lstStyle/>
          <a:p>
            <a:pPr algn="l">
              <a:lnSpc>
                <a:spcPct val="120000"/>
              </a:lnSpc>
            </a:pPr>
            <a:r>
              <a:rPr lang="en-US" sz="1400" b="1" dirty="0">
                <a:solidFill>
                  <a:srgbClr val="C9963B"/>
                </a:solidFill>
                <a:latin typeface="Sorts Mill Goudy" pitchFamily="34" charset="0"/>
                <a:ea typeface="Sorts Mill Goudy" pitchFamily="34" charset="-122"/>
                <a:cs typeface="Sorts Mill Goudy" pitchFamily="34" charset="-120"/>
              </a:rPr>
              <a:t>Geographic Targeting</a:t>
            </a:r>
            <a:endParaRPr lang="en-US" sz="1400" dirty="0"/>
          </a:p>
        </p:txBody>
      </p:sp>
      <p:sp>
        <p:nvSpPr>
          <p:cNvPr id="47" name="Text 45"/>
          <p:cNvSpPr/>
          <p:nvPr/>
        </p:nvSpPr>
        <p:spPr>
          <a:xfrm>
            <a:off x="8483600" y="5892800"/>
            <a:ext cx="6908800" cy="7874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Country-level performance data informs market expansion, localization, and regional marketing investment.</a:t>
            </a:r>
            <a:endParaRPr lang="en-US" sz="1300" dirty="0"/>
          </a:p>
        </p:txBody>
      </p:sp>
      <p:sp>
        <p:nvSpPr>
          <p:cNvPr id="48" name="Shape 46"/>
          <p:cNvSpPr/>
          <p:nvPr/>
        </p:nvSpPr>
        <p:spPr>
          <a:xfrm>
            <a:off x="635000" y="8331200"/>
            <a:ext cx="14986000" cy="12700"/>
          </a:xfrm>
          <a:prstGeom prst="rect">
            <a:avLst/>
          </a:prstGeom>
          <a:solidFill>
            <a:srgbClr val="D0D8E4"/>
          </a:solidFill>
          <a:ln/>
        </p:spPr>
      </p:sp>
      <p:sp>
        <p:nvSpPr>
          <p:cNvPr id="49" name="Text 47"/>
          <p:cNvSpPr/>
          <p:nvPr/>
        </p:nvSpPr>
        <p:spPr>
          <a:xfrm>
            <a:off x="15240000" y="8432800"/>
            <a:ext cx="762000" cy="279400"/>
          </a:xfrm>
          <a:prstGeom prst="rect">
            <a:avLst/>
          </a:prstGeom>
          <a:noFill/>
          <a:ln/>
        </p:spPr>
        <p:txBody>
          <a:bodyPr wrap="none" lIns="0" tIns="0" rIns="0" bIns="0" rtlCol="0" anchor="ctr"/>
          <a:lstStyle/>
          <a:p>
            <a:pPr algn="r">
              <a:lnSpc>
                <a:spcPct val="120000"/>
              </a:lnSpc>
            </a:pPr>
            <a:r>
              <a:rPr lang="en-US" sz="1200" dirty="0">
                <a:solidFill>
                  <a:srgbClr val="8899AA"/>
                </a:solidFill>
                <a:latin typeface="MiSans" pitchFamily="34" charset="0"/>
                <a:ea typeface="MiSans" pitchFamily="34" charset="-122"/>
                <a:cs typeface="MiSans" pitchFamily="34" charset="-120"/>
              </a:rPr>
              <a:t>27</a:t>
            </a:r>
            <a:endParaRPr lang="en-US" sz="1200" dirty="0"/>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1B3A6B"/>
          </a:solidFill>
          <a:ln/>
        </p:spPr>
      </p:sp>
      <p:sp>
        <p:nvSpPr>
          <p:cNvPr id="3" name="Shape 1"/>
          <p:cNvSpPr/>
          <p:nvPr/>
        </p:nvSpPr>
        <p:spPr>
          <a:xfrm>
            <a:off x="635000" y="127000"/>
            <a:ext cx="50800" cy="685800"/>
          </a:xfrm>
          <a:prstGeom prst="rect">
            <a:avLst/>
          </a:prstGeom>
          <a:solidFill>
            <a:srgbClr val="C9963B"/>
          </a:solidFill>
          <a:ln/>
        </p:spPr>
      </p:sp>
      <p:sp>
        <p:nvSpPr>
          <p:cNvPr id="4" name="Text 2"/>
          <p:cNvSpPr/>
          <p:nvPr/>
        </p:nvSpPr>
        <p:spPr>
          <a:xfrm>
            <a:off x="787400" y="152400"/>
            <a:ext cx="14605000" cy="635000"/>
          </a:xfrm>
          <a:prstGeom prst="rect">
            <a:avLst/>
          </a:prstGeom>
          <a:noFill/>
          <a:ln/>
        </p:spPr>
        <p:txBody>
          <a:bodyPr wrap="square" lIns="0" tIns="0" rIns="0" bIns="0" rtlCol="0" anchor="ctr"/>
          <a:lstStyle/>
          <a:p>
            <a:pPr algn="l">
              <a:lnSpc>
                <a:spcPct val="120000"/>
              </a:lnSpc>
            </a:pPr>
            <a:r>
              <a:rPr lang="en-US" sz="2200" b="1" dirty="0">
                <a:solidFill>
                  <a:srgbClr val="0F2647"/>
                </a:solidFill>
                <a:latin typeface="Sorts Mill Goudy" pitchFamily="34" charset="0"/>
                <a:ea typeface="Sorts Mill Goudy" pitchFamily="34" charset="-122"/>
                <a:cs typeface="Sorts Mill Goudy" pitchFamily="34" charset="-120"/>
              </a:rPr>
              <a:t>Project successfully demonstrated end-to-end data analytics capabilities from ETL to interactive dashboard delivery</a:t>
            </a:r>
            <a:endParaRPr lang="en-US" sz="2200" dirty="0"/>
          </a:p>
        </p:txBody>
      </p:sp>
      <p:sp>
        <p:nvSpPr>
          <p:cNvPr id="5" name="Shape 3"/>
          <p:cNvSpPr/>
          <p:nvPr/>
        </p:nvSpPr>
        <p:spPr>
          <a:xfrm>
            <a:off x="635000" y="863600"/>
            <a:ext cx="14986000" cy="12700"/>
          </a:xfrm>
          <a:prstGeom prst="rect">
            <a:avLst/>
          </a:prstGeom>
          <a:solidFill>
            <a:srgbClr val="D0D8E4"/>
          </a:solidFill>
          <a:ln/>
        </p:spPr>
      </p:sp>
      <p:sp>
        <p:nvSpPr>
          <p:cNvPr id="6" name="Shape 4"/>
          <p:cNvSpPr/>
          <p:nvPr/>
        </p:nvSpPr>
        <p:spPr>
          <a:xfrm>
            <a:off x="635000" y="965200"/>
            <a:ext cx="7493000" cy="279400"/>
          </a:xfrm>
          <a:prstGeom prst="rect">
            <a:avLst/>
          </a:prstGeom>
          <a:solidFill>
            <a:srgbClr val="EBF0F7"/>
          </a:solidFill>
          <a:ln/>
        </p:spPr>
      </p:sp>
      <p:sp>
        <p:nvSpPr>
          <p:cNvPr id="7" name="Shape 5"/>
          <p:cNvSpPr/>
          <p:nvPr/>
        </p:nvSpPr>
        <p:spPr>
          <a:xfrm>
            <a:off x="635000" y="965200"/>
            <a:ext cx="38100" cy="279400"/>
          </a:xfrm>
          <a:prstGeom prst="rect">
            <a:avLst/>
          </a:prstGeom>
          <a:solidFill>
            <a:srgbClr val="C9963B"/>
          </a:solidFill>
          <a:ln/>
        </p:spPr>
      </p:sp>
      <p:sp>
        <p:nvSpPr>
          <p:cNvPr id="8" name="Text 6"/>
          <p:cNvSpPr/>
          <p:nvPr/>
        </p:nvSpPr>
        <p:spPr>
          <a:xfrm>
            <a:off x="736600" y="965200"/>
            <a:ext cx="7366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Project Achievements</a:t>
            </a:r>
            <a:endParaRPr lang="en-US" sz="1300" dirty="0"/>
          </a:p>
        </p:txBody>
      </p:sp>
      <p:sp>
        <p:nvSpPr>
          <p:cNvPr id="9" name="Shape 7"/>
          <p:cNvSpPr/>
          <p:nvPr/>
        </p:nvSpPr>
        <p:spPr>
          <a:xfrm>
            <a:off x="635000" y="1320800"/>
            <a:ext cx="7493000" cy="1270000"/>
          </a:xfrm>
          <a:prstGeom prst="rect">
            <a:avLst/>
          </a:prstGeom>
          <a:solidFill>
            <a:srgbClr val="EBF0F7"/>
          </a:solidFill>
          <a:ln/>
        </p:spPr>
      </p:sp>
      <p:sp>
        <p:nvSpPr>
          <p:cNvPr id="10" name="Shape 8"/>
          <p:cNvSpPr/>
          <p:nvPr/>
        </p:nvSpPr>
        <p:spPr>
          <a:xfrm>
            <a:off x="635000" y="1320800"/>
            <a:ext cx="7493000" cy="38100"/>
          </a:xfrm>
          <a:prstGeom prst="rect">
            <a:avLst/>
          </a:prstGeom>
          <a:solidFill>
            <a:srgbClr val="1B3A6B"/>
          </a:solidFill>
          <a:ln/>
        </p:spPr>
      </p:sp>
      <p:sp>
        <p:nvSpPr>
          <p:cNvPr id="11" name="Text 9"/>
          <p:cNvSpPr/>
          <p:nvPr/>
        </p:nvSpPr>
        <p:spPr>
          <a:xfrm>
            <a:off x="787400" y="1447800"/>
            <a:ext cx="7188200" cy="279400"/>
          </a:xfrm>
          <a:prstGeom prst="rect">
            <a:avLst/>
          </a:prstGeom>
          <a:noFill/>
          <a:ln/>
        </p:spPr>
        <p:txBody>
          <a:bodyPr wrap="none" lIns="0" tIns="0" rIns="0" bIns="0" rtlCol="0" anchor="ctr"/>
          <a:lstStyle/>
          <a:p>
            <a:pPr algn="l">
              <a:lnSpc>
                <a:spcPct val="120000"/>
              </a:lnSpc>
            </a:pPr>
            <a:r>
              <a:rPr lang="en-US" sz="1500" b="1" dirty="0">
                <a:solidFill>
                  <a:srgbClr val="1B3A6B"/>
                </a:solidFill>
                <a:latin typeface="Sorts Mill Goudy" pitchFamily="34" charset="0"/>
                <a:ea typeface="Sorts Mill Goudy" pitchFamily="34" charset="-122"/>
                <a:cs typeface="Sorts Mill Goudy" pitchFamily="34" charset="-120"/>
              </a:rPr>
              <a:t>Successfully Handled Huge Datasets</a:t>
            </a:r>
            <a:endParaRPr lang="en-US" sz="1500" dirty="0"/>
          </a:p>
        </p:txBody>
      </p:sp>
      <p:sp>
        <p:nvSpPr>
          <p:cNvPr id="12" name="Text 10"/>
          <p:cNvSpPr/>
          <p:nvPr/>
        </p:nvSpPr>
        <p:spPr>
          <a:xfrm>
            <a:off x="787400" y="1778000"/>
            <a:ext cx="7188200" cy="7112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Managed large-scale retail transaction data with millions of records using MySQL's robust storage and querying capabilities.</a:t>
            </a:r>
            <a:endParaRPr lang="en-US" sz="1300" dirty="0"/>
          </a:p>
        </p:txBody>
      </p:sp>
      <p:sp>
        <p:nvSpPr>
          <p:cNvPr id="13" name="Shape 11"/>
          <p:cNvSpPr/>
          <p:nvPr/>
        </p:nvSpPr>
        <p:spPr>
          <a:xfrm>
            <a:off x="635000" y="2717800"/>
            <a:ext cx="7493000" cy="1270000"/>
          </a:xfrm>
          <a:prstGeom prst="rect">
            <a:avLst/>
          </a:prstGeom>
          <a:solidFill>
            <a:srgbClr val="EBF0F7"/>
          </a:solidFill>
          <a:ln/>
        </p:spPr>
      </p:sp>
      <p:sp>
        <p:nvSpPr>
          <p:cNvPr id="14" name="Shape 12"/>
          <p:cNvSpPr/>
          <p:nvPr/>
        </p:nvSpPr>
        <p:spPr>
          <a:xfrm>
            <a:off x="635000" y="2717800"/>
            <a:ext cx="7493000" cy="38100"/>
          </a:xfrm>
          <a:prstGeom prst="rect">
            <a:avLst/>
          </a:prstGeom>
          <a:solidFill>
            <a:srgbClr val="C9963B"/>
          </a:solidFill>
          <a:ln/>
        </p:spPr>
      </p:sp>
      <p:sp>
        <p:nvSpPr>
          <p:cNvPr id="15" name="Text 13"/>
          <p:cNvSpPr/>
          <p:nvPr/>
        </p:nvSpPr>
        <p:spPr>
          <a:xfrm>
            <a:off x="787400" y="2844800"/>
            <a:ext cx="7188200" cy="279400"/>
          </a:xfrm>
          <a:prstGeom prst="rect">
            <a:avLst/>
          </a:prstGeom>
          <a:noFill/>
          <a:ln/>
        </p:spPr>
        <p:txBody>
          <a:bodyPr wrap="none" lIns="0" tIns="0" rIns="0" bIns="0" rtlCol="0" anchor="ctr"/>
          <a:lstStyle/>
          <a:p>
            <a:pPr algn="l">
              <a:lnSpc>
                <a:spcPct val="120000"/>
              </a:lnSpc>
            </a:pPr>
            <a:r>
              <a:rPr lang="en-US" sz="1500" b="1" dirty="0">
                <a:solidFill>
                  <a:srgbClr val="C9963B"/>
                </a:solidFill>
                <a:latin typeface="Sorts Mill Goudy" pitchFamily="34" charset="0"/>
                <a:ea typeface="Sorts Mill Goudy" pitchFamily="34" charset="-122"/>
                <a:cs typeface="Sorts Mill Goudy" pitchFamily="34" charset="-120"/>
              </a:rPr>
              <a:t>Performed SQL-Based Retail Analysis</a:t>
            </a:r>
            <a:endParaRPr lang="en-US" sz="1500" dirty="0"/>
          </a:p>
        </p:txBody>
      </p:sp>
      <p:sp>
        <p:nvSpPr>
          <p:cNvPr id="16" name="Text 14"/>
          <p:cNvSpPr/>
          <p:nvPr/>
        </p:nvSpPr>
        <p:spPr>
          <a:xfrm>
            <a:off x="787400" y="3175000"/>
            <a:ext cx="7188200" cy="7112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Executed comprehensive ETL workflow including data cleaning, transformation, merging, and multi-dimensional analytical queries.</a:t>
            </a:r>
            <a:endParaRPr lang="en-US" sz="1300" dirty="0"/>
          </a:p>
        </p:txBody>
      </p:sp>
      <p:sp>
        <p:nvSpPr>
          <p:cNvPr id="17" name="Shape 15"/>
          <p:cNvSpPr/>
          <p:nvPr/>
        </p:nvSpPr>
        <p:spPr>
          <a:xfrm>
            <a:off x="635000" y="4114800"/>
            <a:ext cx="7493000" cy="1270000"/>
          </a:xfrm>
          <a:prstGeom prst="rect">
            <a:avLst/>
          </a:prstGeom>
          <a:solidFill>
            <a:srgbClr val="EBF0F7"/>
          </a:solidFill>
          <a:ln/>
        </p:spPr>
      </p:sp>
      <p:sp>
        <p:nvSpPr>
          <p:cNvPr id="18" name="Shape 16"/>
          <p:cNvSpPr/>
          <p:nvPr/>
        </p:nvSpPr>
        <p:spPr>
          <a:xfrm>
            <a:off x="635000" y="4114800"/>
            <a:ext cx="7493000" cy="38100"/>
          </a:xfrm>
          <a:prstGeom prst="rect">
            <a:avLst/>
          </a:prstGeom>
          <a:solidFill>
            <a:srgbClr val="1B3A6B"/>
          </a:solidFill>
          <a:ln/>
        </p:spPr>
      </p:sp>
      <p:sp>
        <p:nvSpPr>
          <p:cNvPr id="19" name="Text 17"/>
          <p:cNvSpPr/>
          <p:nvPr/>
        </p:nvSpPr>
        <p:spPr>
          <a:xfrm>
            <a:off x="787400" y="4241800"/>
            <a:ext cx="7188200" cy="279400"/>
          </a:xfrm>
          <a:prstGeom prst="rect">
            <a:avLst/>
          </a:prstGeom>
          <a:noFill/>
          <a:ln/>
        </p:spPr>
        <p:txBody>
          <a:bodyPr wrap="none" lIns="0" tIns="0" rIns="0" bIns="0" rtlCol="0" anchor="ctr"/>
          <a:lstStyle/>
          <a:p>
            <a:pPr algn="l">
              <a:lnSpc>
                <a:spcPct val="120000"/>
              </a:lnSpc>
            </a:pPr>
            <a:r>
              <a:rPr lang="en-US" sz="1500" b="1" dirty="0">
                <a:solidFill>
                  <a:srgbClr val="1B3A6B"/>
                </a:solidFill>
                <a:latin typeface="Sorts Mill Goudy" pitchFamily="34" charset="0"/>
                <a:ea typeface="Sorts Mill Goudy" pitchFamily="34" charset="-122"/>
                <a:cs typeface="Sorts Mill Goudy" pitchFamily="34" charset="-120"/>
              </a:rPr>
              <a:t>Built Interactive Power BI Dashboard</a:t>
            </a:r>
            <a:endParaRPr lang="en-US" sz="1500" dirty="0"/>
          </a:p>
        </p:txBody>
      </p:sp>
      <p:sp>
        <p:nvSpPr>
          <p:cNvPr id="20" name="Text 18"/>
          <p:cNvSpPr/>
          <p:nvPr/>
        </p:nvSpPr>
        <p:spPr>
          <a:xfrm>
            <a:off x="787400" y="4572000"/>
            <a:ext cx="7188200" cy="7112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Developed professional four-page dashboard with KPIs, charts, maps, and interactive slicers for comprehensive business reporting.</a:t>
            </a:r>
            <a:endParaRPr lang="en-US" sz="1300" dirty="0"/>
          </a:p>
        </p:txBody>
      </p:sp>
      <p:sp>
        <p:nvSpPr>
          <p:cNvPr id="21" name="Shape 19"/>
          <p:cNvSpPr/>
          <p:nvPr/>
        </p:nvSpPr>
        <p:spPr>
          <a:xfrm>
            <a:off x="635000" y="5511800"/>
            <a:ext cx="7493000" cy="1270000"/>
          </a:xfrm>
          <a:prstGeom prst="rect">
            <a:avLst/>
          </a:prstGeom>
          <a:solidFill>
            <a:srgbClr val="EBF0F7"/>
          </a:solidFill>
          <a:ln/>
        </p:spPr>
      </p:sp>
      <p:sp>
        <p:nvSpPr>
          <p:cNvPr id="22" name="Shape 20"/>
          <p:cNvSpPr/>
          <p:nvPr/>
        </p:nvSpPr>
        <p:spPr>
          <a:xfrm>
            <a:off x="635000" y="5511800"/>
            <a:ext cx="7493000" cy="38100"/>
          </a:xfrm>
          <a:prstGeom prst="rect">
            <a:avLst/>
          </a:prstGeom>
          <a:solidFill>
            <a:srgbClr val="C9963B"/>
          </a:solidFill>
          <a:ln/>
        </p:spPr>
      </p:sp>
      <p:sp>
        <p:nvSpPr>
          <p:cNvPr id="23" name="Text 21"/>
          <p:cNvSpPr/>
          <p:nvPr/>
        </p:nvSpPr>
        <p:spPr>
          <a:xfrm>
            <a:off x="787400" y="5638800"/>
            <a:ext cx="7188200" cy="279400"/>
          </a:xfrm>
          <a:prstGeom prst="rect">
            <a:avLst/>
          </a:prstGeom>
          <a:noFill/>
          <a:ln/>
        </p:spPr>
        <p:txBody>
          <a:bodyPr wrap="none" lIns="0" tIns="0" rIns="0" bIns="0" rtlCol="0" anchor="ctr"/>
          <a:lstStyle/>
          <a:p>
            <a:pPr algn="l">
              <a:lnSpc>
                <a:spcPct val="120000"/>
              </a:lnSpc>
            </a:pPr>
            <a:r>
              <a:rPr lang="en-US" sz="1500" b="1" dirty="0">
                <a:solidFill>
                  <a:srgbClr val="C9963B"/>
                </a:solidFill>
                <a:latin typeface="Sorts Mill Goudy" pitchFamily="34" charset="0"/>
                <a:ea typeface="Sorts Mill Goudy" pitchFamily="34" charset="-122"/>
                <a:cs typeface="Sorts Mill Goudy" pitchFamily="34" charset="-120"/>
              </a:rPr>
              <a:t>Generated Meaningful Business Insights</a:t>
            </a:r>
            <a:endParaRPr lang="en-US" sz="1500" dirty="0"/>
          </a:p>
        </p:txBody>
      </p:sp>
      <p:sp>
        <p:nvSpPr>
          <p:cNvPr id="24" name="Text 22"/>
          <p:cNvSpPr/>
          <p:nvPr/>
        </p:nvSpPr>
        <p:spPr>
          <a:xfrm>
            <a:off x="787400" y="5969000"/>
            <a:ext cx="7188200" cy="7112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Extracted actionable insights on product performance, customer behavior, geographic trends, and seasonal patterns.</a:t>
            </a:r>
            <a:endParaRPr lang="en-US" sz="1300" dirty="0"/>
          </a:p>
        </p:txBody>
      </p:sp>
      <p:sp>
        <p:nvSpPr>
          <p:cNvPr id="25" name="Shape 23"/>
          <p:cNvSpPr/>
          <p:nvPr/>
        </p:nvSpPr>
        <p:spPr>
          <a:xfrm>
            <a:off x="8255000" y="965200"/>
            <a:ext cx="7366000" cy="279400"/>
          </a:xfrm>
          <a:prstGeom prst="rect">
            <a:avLst/>
          </a:prstGeom>
          <a:solidFill>
            <a:srgbClr val="EBF0F7"/>
          </a:solidFill>
          <a:ln/>
        </p:spPr>
      </p:sp>
      <p:sp>
        <p:nvSpPr>
          <p:cNvPr id="26" name="Shape 24"/>
          <p:cNvSpPr/>
          <p:nvPr/>
        </p:nvSpPr>
        <p:spPr>
          <a:xfrm>
            <a:off x="8255000" y="965200"/>
            <a:ext cx="38100" cy="279400"/>
          </a:xfrm>
          <a:prstGeom prst="rect">
            <a:avLst/>
          </a:prstGeom>
          <a:solidFill>
            <a:srgbClr val="C9963B"/>
          </a:solidFill>
          <a:ln/>
        </p:spPr>
      </p:sp>
      <p:sp>
        <p:nvSpPr>
          <p:cNvPr id="27" name="Text 25"/>
          <p:cNvSpPr/>
          <p:nvPr/>
        </p:nvSpPr>
        <p:spPr>
          <a:xfrm>
            <a:off x="8356600" y="965200"/>
            <a:ext cx="7239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Skills Demonstrated</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8318500" y="1320800"/>
          <a:ext cx="7239000" cy="3556000"/>
        </p:xfrm>
        <a:graphic>
          <a:graphicData uri="http://schemas.openxmlformats.org/drawingml/2006/table">
            <a:tbl>
              <a:tblPr/>
              <a:tblGrid>
                <a:gridCol w="28956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tblGrid>
              <a:tr h="593852">
                <a:tc>
                  <a:txBody>
                    <a:bodyPr/>
                    <a:lstStyle/>
                    <a:p>
                      <a:pPr algn="ctr"/>
                      <a:r>
                        <a:rPr lang="en-US" sz="1400" b="1" dirty="0">
                          <a:solidFill>
                            <a:srgbClr val="FFFFFF"/>
                          </a:solidFill>
                          <a:latin typeface="Liter" pitchFamily="34" charset="0"/>
                          <a:ea typeface="Liter" pitchFamily="34" charset="-122"/>
                          <a:cs typeface="Liter" pitchFamily="34" charset="-120"/>
                        </a:rPr>
                        <a:t>Skill</a:t>
                      </a:r>
                      <a:endParaRPr lang="en-US" sz="1400" dirty="0">
                        <a:latin typeface="Liter" charset="0"/>
                        <a:ea typeface="Liter" charset="0"/>
                        <a:cs typeface="Liter" charset="0"/>
                      </a:endParaRPr>
                    </a:p>
                  </a:txBody>
                  <a:tcPr marL="54864" marR="54864"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1B3A6B"/>
                    </a:solidFill>
                  </a:tcPr>
                </a:tc>
                <a:tc>
                  <a:txBody>
                    <a:bodyPr/>
                    <a:lstStyle/>
                    <a:p>
                      <a:pPr algn="ctr"/>
                      <a:r>
                        <a:rPr lang="en-US" sz="1400" b="1" dirty="0">
                          <a:solidFill>
                            <a:srgbClr val="FFFFFF"/>
                          </a:solidFill>
                          <a:latin typeface="Liter" pitchFamily="34" charset="0"/>
                          <a:ea typeface="Liter" pitchFamily="34" charset="-122"/>
                          <a:cs typeface="Liter" pitchFamily="34" charset="-120"/>
                        </a:rPr>
                        <a:t>Application</a:t>
                      </a:r>
                      <a:endParaRPr lang="en-US" sz="1400" dirty="0">
                        <a:latin typeface="Liter" charset="0"/>
                        <a:ea typeface="Liter" charset="0"/>
                        <a:cs typeface="Liter" charset="0"/>
                      </a:endParaRPr>
                    </a:p>
                  </a:txBody>
                  <a:tcPr marL="54864" marR="54864"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593852">
                <a:tc>
                  <a:txBody>
                    <a:bodyPr/>
                    <a:lstStyle/>
                    <a:p>
                      <a:pPr algn="ctr"/>
                      <a:r>
                        <a:rPr lang="en-US" sz="1400" dirty="0">
                          <a:solidFill>
                            <a:srgbClr val="2D2D2D"/>
                          </a:solidFill>
                          <a:latin typeface="Liter" pitchFamily="34" charset="0"/>
                          <a:ea typeface="Liter" pitchFamily="34" charset="-122"/>
                          <a:cs typeface="Liter" pitchFamily="34" charset="-120"/>
                        </a:rPr>
                        <a:t>SQL Querying</a:t>
                      </a:r>
                      <a:endParaRPr lang="en-US" sz="1400" dirty="0">
                        <a:latin typeface="Liter" charset="0"/>
                        <a:ea typeface="Liter" charset="0"/>
                        <a:cs typeface="Liter" charset="0"/>
                      </a:endParaRPr>
                    </a:p>
                  </a:txBody>
                  <a:tcPr marL="54864" marR="54864"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tc>
                  <a:txBody>
                    <a:bodyPr/>
                    <a:lstStyle/>
                    <a:p>
                      <a:pPr algn="ctr"/>
                      <a:r>
                        <a:rPr lang="en-US" sz="1400" dirty="0">
                          <a:solidFill>
                            <a:srgbClr val="2D2D2D"/>
                          </a:solidFill>
                          <a:latin typeface="Liter" pitchFamily="34" charset="0"/>
                          <a:ea typeface="Liter" pitchFamily="34" charset="-122"/>
                          <a:cs typeface="Liter" pitchFamily="34" charset="-120"/>
                        </a:rPr>
                        <a:t>ETL, analysis, reporting queries</a:t>
                      </a:r>
                      <a:endParaRPr lang="en-US" sz="1400" dirty="0">
                        <a:latin typeface="Liter" charset="0"/>
                        <a:ea typeface="Liter" charset="0"/>
                        <a:cs typeface="Liter" charset="0"/>
                      </a:endParaRPr>
                    </a:p>
                  </a:txBody>
                  <a:tcPr marL="54864" marR="54864"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3852">
                <a:tc>
                  <a:txBody>
                    <a:bodyPr/>
                    <a:lstStyle/>
                    <a:p>
                      <a:pPr algn="ctr"/>
                      <a:r>
                        <a:rPr lang="en-US" sz="1400" dirty="0">
                          <a:solidFill>
                            <a:srgbClr val="2D2D2D"/>
                          </a:solidFill>
                          <a:latin typeface="Liter" pitchFamily="34" charset="0"/>
                          <a:ea typeface="Liter" pitchFamily="34" charset="-122"/>
                          <a:cs typeface="Liter" pitchFamily="34" charset="-120"/>
                        </a:rPr>
                        <a:t>Data Cleaning</a:t>
                      </a:r>
                      <a:endParaRPr lang="en-US" sz="1400" dirty="0">
                        <a:latin typeface="Liter" charset="0"/>
                        <a:ea typeface="Liter" charset="0"/>
                        <a:cs typeface="Liter" charset="0"/>
                      </a:endParaRPr>
                    </a:p>
                  </a:txBody>
                  <a:tcPr marL="54864" marR="54864"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tc>
                  <a:txBody>
                    <a:bodyPr/>
                    <a:lstStyle/>
                    <a:p>
                      <a:pPr algn="ctr"/>
                      <a:r>
                        <a:rPr lang="en-US" sz="1400" dirty="0">
                          <a:solidFill>
                            <a:srgbClr val="2D2D2D"/>
                          </a:solidFill>
                          <a:latin typeface="Liter" pitchFamily="34" charset="0"/>
                          <a:ea typeface="Liter" pitchFamily="34" charset="-122"/>
                          <a:cs typeface="Liter" pitchFamily="34" charset="-120"/>
                        </a:rPr>
                        <a:t>Null removal, format standardization</a:t>
                      </a:r>
                      <a:endParaRPr lang="en-US" sz="1400" dirty="0">
                        <a:latin typeface="Liter" charset="0"/>
                        <a:ea typeface="Liter" charset="0"/>
                        <a:cs typeface="Liter" charset="0"/>
                      </a:endParaRPr>
                    </a:p>
                  </a:txBody>
                  <a:tcPr marL="54864" marR="54864"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extLst>
                  <a:ext uri="{0D108BD9-81ED-4DB2-BD59-A6C34878D82A}">
                    <a16:rowId xmlns:a16="http://schemas.microsoft.com/office/drawing/2014/main" val="10002"/>
                  </a:ext>
                </a:extLst>
              </a:tr>
              <a:tr h="593852">
                <a:tc>
                  <a:txBody>
                    <a:bodyPr/>
                    <a:lstStyle/>
                    <a:p>
                      <a:pPr algn="ctr"/>
                      <a:r>
                        <a:rPr lang="en-US" sz="1400" dirty="0">
                          <a:solidFill>
                            <a:srgbClr val="2D2D2D"/>
                          </a:solidFill>
                          <a:latin typeface="Liter" pitchFamily="34" charset="0"/>
                          <a:ea typeface="Liter" pitchFamily="34" charset="-122"/>
                          <a:cs typeface="Liter" pitchFamily="34" charset="-120"/>
                        </a:rPr>
                        <a:t>ETL Workflow</a:t>
                      </a:r>
                      <a:endParaRPr lang="en-US" sz="1400" dirty="0">
                        <a:latin typeface="Liter" charset="0"/>
                        <a:ea typeface="Liter" charset="0"/>
                        <a:cs typeface="Liter" charset="0"/>
                      </a:endParaRPr>
                    </a:p>
                  </a:txBody>
                  <a:tcPr marL="54864" marR="54864"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tc>
                  <a:txBody>
                    <a:bodyPr/>
                    <a:lstStyle/>
                    <a:p>
                      <a:pPr algn="ctr"/>
                      <a:r>
                        <a:rPr lang="en-US" sz="1400" dirty="0">
                          <a:solidFill>
                            <a:srgbClr val="2D2D2D"/>
                          </a:solidFill>
                          <a:latin typeface="Liter" pitchFamily="34" charset="0"/>
                          <a:ea typeface="Liter" pitchFamily="34" charset="-122"/>
                          <a:cs typeface="Liter" pitchFamily="34" charset="-120"/>
                        </a:rPr>
                        <a:t>End-to-end data pipeline design</a:t>
                      </a:r>
                      <a:endParaRPr lang="en-US" sz="1400" dirty="0">
                        <a:latin typeface="Liter" charset="0"/>
                        <a:ea typeface="Liter" charset="0"/>
                        <a:cs typeface="Liter" charset="0"/>
                      </a:endParaRPr>
                    </a:p>
                  </a:txBody>
                  <a:tcPr marL="54864" marR="54864"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3852">
                <a:tc>
                  <a:txBody>
                    <a:bodyPr/>
                    <a:lstStyle/>
                    <a:p>
                      <a:pPr algn="ctr"/>
                      <a:r>
                        <a:rPr lang="en-US" sz="1400" dirty="0">
                          <a:solidFill>
                            <a:srgbClr val="2D2D2D"/>
                          </a:solidFill>
                          <a:latin typeface="Liter" pitchFamily="34" charset="0"/>
                          <a:ea typeface="Liter" pitchFamily="34" charset="-122"/>
                          <a:cs typeface="Liter" pitchFamily="34" charset="-120"/>
                        </a:rPr>
                        <a:t>Power BI Visualization</a:t>
                      </a:r>
                      <a:endParaRPr lang="en-US" sz="1400" dirty="0">
                        <a:latin typeface="Liter" charset="0"/>
                        <a:ea typeface="Liter" charset="0"/>
                        <a:cs typeface="Liter" charset="0"/>
                      </a:endParaRPr>
                    </a:p>
                  </a:txBody>
                  <a:tcPr marL="54864" marR="54864"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tc>
                  <a:txBody>
                    <a:bodyPr/>
                    <a:lstStyle/>
                    <a:p>
                      <a:pPr algn="ctr"/>
                      <a:r>
                        <a:rPr lang="en-US" sz="1400" dirty="0">
                          <a:solidFill>
                            <a:srgbClr val="2D2D2D"/>
                          </a:solidFill>
                          <a:latin typeface="Liter" pitchFamily="34" charset="0"/>
                          <a:ea typeface="Liter" pitchFamily="34" charset="-122"/>
                          <a:cs typeface="Liter" pitchFamily="34" charset="-120"/>
                        </a:rPr>
                        <a:t>Dashboards, DAX, interactive filters</a:t>
                      </a:r>
                      <a:endParaRPr lang="en-US" sz="1400" dirty="0">
                        <a:latin typeface="Liter" charset="0"/>
                        <a:ea typeface="Liter" charset="0"/>
                        <a:cs typeface="Liter" charset="0"/>
                      </a:endParaRPr>
                    </a:p>
                  </a:txBody>
                  <a:tcPr marL="54864" marR="54864"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extLst>
                  <a:ext uri="{0D108BD9-81ED-4DB2-BD59-A6C34878D82A}">
                    <a16:rowId xmlns:a16="http://schemas.microsoft.com/office/drawing/2014/main" val="10004"/>
                  </a:ext>
                </a:extLst>
              </a:tr>
              <a:tr h="586740">
                <a:tc>
                  <a:txBody>
                    <a:bodyPr/>
                    <a:lstStyle/>
                    <a:p>
                      <a:pPr algn="ctr"/>
                      <a:r>
                        <a:rPr lang="en-US" sz="1400" dirty="0">
                          <a:solidFill>
                            <a:srgbClr val="2D2D2D"/>
                          </a:solidFill>
                          <a:latin typeface="Liter" pitchFamily="34" charset="0"/>
                          <a:ea typeface="Liter" pitchFamily="34" charset="-122"/>
                          <a:cs typeface="Liter" pitchFamily="34" charset="-120"/>
                        </a:rPr>
                        <a:t>Business Intelligence</a:t>
                      </a:r>
                      <a:endParaRPr lang="en-US" sz="1400" dirty="0">
                        <a:latin typeface="Liter" charset="0"/>
                        <a:ea typeface="Liter" charset="0"/>
                        <a:cs typeface="Liter" charset="0"/>
                      </a:endParaRPr>
                    </a:p>
                  </a:txBody>
                  <a:tcPr marL="54864" marR="54864"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tc>
                  <a:txBody>
                    <a:bodyPr/>
                    <a:lstStyle/>
                    <a:p>
                      <a:pPr algn="ctr"/>
                      <a:r>
                        <a:rPr lang="en-US" sz="1400" dirty="0">
                          <a:solidFill>
                            <a:srgbClr val="2D2D2D"/>
                          </a:solidFill>
                          <a:latin typeface="Liter" pitchFamily="34" charset="0"/>
                          <a:ea typeface="Liter" pitchFamily="34" charset="-122"/>
                          <a:cs typeface="Liter" pitchFamily="34" charset="-120"/>
                        </a:rPr>
                        <a:t>Insight extraction, KPI design</a:t>
                      </a:r>
                      <a:endParaRPr lang="en-US" sz="1400" dirty="0">
                        <a:latin typeface="Liter" charset="0"/>
                        <a:ea typeface="Liter" charset="0"/>
                        <a:cs typeface="Liter" charset="0"/>
                      </a:endParaRPr>
                    </a:p>
                  </a:txBody>
                  <a:tcPr marL="54864" marR="54864"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8" name="Text 26"/>
          <p:cNvSpPr/>
          <p:nvPr/>
        </p:nvSpPr>
        <p:spPr>
          <a:xfrm>
            <a:off x="8356600" y="5080000"/>
            <a:ext cx="7239000" cy="2032000"/>
          </a:xfrm>
          <a:prstGeom prst="rect">
            <a:avLst/>
          </a:prstGeom>
          <a:noFill/>
          <a:ln/>
        </p:spPr>
        <p:txBody>
          <a:bodyPr wrap="square" lIns="0" tIns="0" rIns="0" bIns="0" rtlCol="0" anchor="t"/>
          <a:lstStyle/>
          <a:p>
            <a:pPr algn="l">
              <a:lnSpc>
                <a:spcPct val="160000"/>
              </a:lnSpc>
            </a:pPr>
            <a:r>
              <a:rPr lang="en-US" sz="1400" b="1" dirty="0">
                <a:solidFill>
                  <a:srgbClr val="2D2D2D"/>
                </a:solidFill>
                <a:latin typeface="Liter" pitchFamily="34" charset="0"/>
                <a:ea typeface="Liter" pitchFamily="34" charset="-122"/>
                <a:cs typeface="Liter" pitchFamily="34" charset="-120"/>
              </a:rPr>
              <a:t>Competency Summary</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This project demonstrates proficiency across the full data analytics lifecycle — from raw data ingestion through SQL-based transformation to interactive business intelligence delivery. The combination of technical SQL skills with Power BI visualization creates a complete analytics solution suitable for real-world business applications.</a:t>
            </a:r>
            <a:endParaRPr lang="en-US" sz="1400" dirty="0"/>
          </a:p>
        </p:txBody>
      </p:sp>
      <p:sp>
        <p:nvSpPr>
          <p:cNvPr id="30" name="Shape 27"/>
          <p:cNvSpPr/>
          <p:nvPr/>
        </p:nvSpPr>
        <p:spPr>
          <a:xfrm>
            <a:off x="635000" y="8331200"/>
            <a:ext cx="14986000" cy="12700"/>
          </a:xfrm>
          <a:prstGeom prst="rect">
            <a:avLst/>
          </a:prstGeom>
          <a:solidFill>
            <a:srgbClr val="D0D8E4"/>
          </a:solidFill>
          <a:ln/>
        </p:spPr>
      </p:sp>
      <p:sp>
        <p:nvSpPr>
          <p:cNvPr id="31" name="Text 28"/>
          <p:cNvSpPr/>
          <p:nvPr/>
        </p:nvSpPr>
        <p:spPr>
          <a:xfrm>
            <a:off x="15240000" y="8432800"/>
            <a:ext cx="762000" cy="279400"/>
          </a:xfrm>
          <a:prstGeom prst="rect">
            <a:avLst/>
          </a:prstGeom>
          <a:noFill/>
          <a:ln/>
        </p:spPr>
        <p:txBody>
          <a:bodyPr wrap="none" lIns="0" tIns="0" rIns="0" bIns="0" rtlCol="0" anchor="ctr"/>
          <a:lstStyle/>
          <a:p>
            <a:pPr algn="r">
              <a:lnSpc>
                <a:spcPct val="120000"/>
              </a:lnSpc>
            </a:pPr>
            <a:r>
              <a:rPr lang="en-US" sz="1200" dirty="0">
                <a:solidFill>
                  <a:srgbClr val="8899AA"/>
                </a:solidFill>
                <a:latin typeface="MiSans" pitchFamily="34" charset="0"/>
                <a:ea typeface="MiSans" pitchFamily="34" charset="-122"/>
                <a:cs typeface="MiSans" pitchFamily="34" charset="-120"/>
              </a:rPr>
              <a:t>28</a:t>
            </a:r>
            <a:endParaRPr lang="en-US" sz="1200" dirty="0"/>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1B3A6B"/>
          </a:solidFill>
          <a:ln/>
        </p:spPr>
      </p:sp>
      <p:sp>
        <p:nvSpPr>
          <p:cNvPr id="3" name="Shape 1"/>
          <p:cNvSpPr/>
          <p:nvPr/>
        </p:nvSpPr>
        <p:spPr>
          <a:xfrm>
            <a:off x="635000" y="127000"/>
            <a:ext cx="50800" cy="685800"/>
          </a:xfrm>
          <a:prstGeom prst="rect">
            <a:avLst/>
          </a:prstGeom>
          <a:solidFill>
            <a:srgbClr val="C9963B"/>
          </a:solidFill>
          <a:ln/>
        </p:spPr>
      </p:sp>
      <p:sp>
        <p:nvSpPr>
          <p:cNvPr id="4" name="Text 2"/>
          <p:cNvSpPr/>
          <p:nvPr/>
        </p:nvSpPr>
        <p:spPr>
          <a:xfrm>
            <a:off x="787400" y="152400"/>
            <a:ext cx="14605000" cy="635000"/>
          </a:xfrm>
          <a:prstGeom prst="rect">
            <a:avLst/>
          </a:prstGeom>
          <a:noFill/>
          <a:ln/>
        </p:spPr>
        <p:txBody>
          <a:bodyPr wrap="square" lIns="0" tIns="0" rIns="0" bIns="0" rtlCol="0" anchor="ctr"/>
          <a:lstStyle/>
          <a:p>
            <a:pPr algn="l">
              <a:lnSpc>
                <a:spcPct val="120000"/>
              </a:lnSpc>
            </a:pPr>
            <a:r>
              <a:rPr lang="en-US" sz="2200" b="1" dirty="0">
                <a:solidFill>
                  <a:srgbClr val="0F2647"/>
                </a:solidFill>
                <a:latin typeface="Sorts Mill Goudy" pitchFamily="34" charset="0"/>
                <a:ea typeface="Sorts Mill Goudy" pitchFamily="34" charset="-122"/>
                <a:cs typeface="Sorts Mill Goudy" pitchFamily="34" charset="-120"/>
              </a:rPr>
              <a:t>Six enhancement opportunities identified to extend project capabilities into predictive and real-time analytics</a:t>
            </a:r>
            <a:endParaRPr lang="en-US" sz="2200" dirty="0"/>
          </a:p>
        </p:txBody>
      </p:sp>
      <p:sp>
        <p:nvSpPr>
          <p:cNvPr id="5" name="Shape 3"/>
          <p:cNvSpPr/>
          <p:nvPr/>
        </p:nvSpPr>
        <p:spPr>
          <a:xfrm>
            <a:off x="635000" y="863600"/>
            <a:ext cx="14986000" cy="12700"/>
          </a:xfrm>
          <a:prstGeom prst="rect">
            <a:avLst/>
          </a:prstGeom>
          <a:solidFill>
            <a:srgbClr val="D0D8E4"/>
          </a:solidFill>
          <a:ln/>
        </p:spPr>
      </p:sp>
      <p:sp>
        <p:nvSpPr>
          <p:cNvPr id="6" name="Shape 4"/>
          <p:cNvSpPr/>
          <p:nvPr/>
        </p:nvSpPr>
        <p:spPr>
          <a:xfrm>
            <a:off x="635000" y="965200"/>
            <a:ext cx="4826000" cy="279400"/>
          </a:xfrm>
          <a:prstGeom prst="rect">
            <a:avLst/>
          </a:prstGeom>
          <a:solidFill>
            <a:srgbClr val="EBF0F7"/>
          </a:solidFill>
          <a:ln/>
        </p:spPr>
      </p:sp>
      <p:sp>
        <p:nvSpPr>
          <p:cNvPr id="7" name="Shape 5"/>
          <p:cNvSpPr/>
          <p:nvPr/>
        </p:nvSpPr>
        <p:spPr>
          <a:xfrm>
            <a:off x="635000" y="965200"/>
            <a:ext cx="38100" cy="279400"/>
          </a:xfrm>
          <a:prstGeom prst="rect">
            <a:avLst/>
          </a:prstGeom>
          <a:solidFill>
            <a:srgbClr val="C9963B"/>
          </a:solidFill>
          <a:ln/>
        </p:spPr>
      </p:sp>
      <p:sp>
        <p:nvSpPr>
          <p:cNvPr id="8" name="Text 6"/>
          <p:cNvSpPr/>
          <p:nvPr/>
        </p:nvSpPr>
        <p:spPr>
          <a:xfrm>
            <a:off x="736600" y="965200"/>
            <a:ext cx="4699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Enhancement</a:t>
            </a:r>
            <a:endParaRPr lang="en-US" sz="1300" dirty="0"/>
          </a:p>
        </p:txBody>
      </p:sp>
      <p:sp>
        <p:nvSpPr>
          <p:cNvPr id="9" name="Shape 7"/>
          <p:cNvSpPr/>
          <p:nvPr/>
        </p:nvSpPr>
        <p:spPr>
          <a:xfrm>
            <a:off x="5461000" y="965200"/>
            <a:ext cx="5334000" cy="279400"/>
          </a:xfrm>
          <a:prstGeom prst="rect">
            <a:avLst/>
          </a:prstGeom>
          <a:solidFill>
            <a:srgbClr val="EBF0F7"/>
          </a:solidFill>
          <a:ln/>
        </p:spPr>
      </p:sp>
      <p:sp>
        <p:nvSpPr>
          <p:cNvPr id="10" name="Shape 8"/>
          <p:cNvSpPr/>
          <p:nvPr/>
        </p:nvSpPr>
        <p:spPr>
          <a:xfrm>
            <a:off x="5461000" y="965200"/>
            <a:ext cx="38100" cy="279400"/>
          </a:xfrm>
          <a:prstGeom prst="rect">
            <a:avLst/>
          </a:prstGeom>
          <a:solidFill>
            <a:srgbClr val="C9963B"/>
          </a:solidFill>
          <a:ln/>
        </p:spPr>
      </p:sp>
      <p:sp>
        <p:nvSpPr>
          <p:cNvPr id="11" name="Text 9"/>
          <p:cNvSpPr/>
          <p:nvPr/>
        </p:nvSpPr>
        <p:spPr>
          <a:xfrm>
            <a:off x="5562600" y="965200"/>
            <a:ext cx="5207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Description</a:t>
            </a:r>
            <a:endParaRPr lang="en-US" sz="1300" dirty="0"/>
          </a:p>
        </p:txBody>
      </p:sp>
      <p:sp>
        <p:nvSpPr>
          <p:cNvPr id="12" name="Shape 10"/>
          <p:cNvSpPr/>
          <p:nvPr/>
        </p:nvSpPr>
        <p:spPr>
          <a:xfrm>
            <a:off x="10795000" y="965200"/>
            <a:ext cx="4826000" cy="279400"/>
          </a:xfrm>
          <a:prstGeom prst="rect">
            <a:avLst/>
          </a:prstGeom>
          <a:solidFill>
            <a:srgbClr val="EBF0F7"/>
          </a:solidFill>
          <a:ln/>
        </p:spPr>
      </p:sp>
      <p:sp>
        <p:nvSpPr>
          <p:cNvPr id="13" name="Shape 11"/>
          <p:cNvSpPr/>
          <p:nvPr/>
        </p:nvSpPr>
        <p:spPr>
          <a:xfrm>
            <a:off x="10795000" y="965200"/>
            <a:ext cx="38100" cy="279400"/>
          </a:xfrm>
          <a:prstGeom prst="rect">
            <a:avLst/>
          </a:prstGeom>
          <a:solidFill>
            <a:srgbClr val="C9963B"/>
          </a:solidFill>
          <a:ln/>
        </p:spPr>
      </p:sp>
      <p:sp>
        <p:nvSpPr>
          <p:cNvPr id="14" name="Text 12"/>
          <p:cNvSpPr/>
          <p:nvPr/>
        </p:nvSpPr>
        <p:spPr>
          <a:xfrm>
            <a:off x="10896600" y="965200"/>
            <a:ext cx="4699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Expected Impact</a:t>
            </a:r>
            <a:endParaRPr lang="en-US" sz="1300" dirty="0"/>
          </a:p>
        </p:txBody>
      </p:sp>
      <p:sp>
        <p:nvSpPr>
          <p:cNvPr id="15" name="Shape 13"/>
          <p:cNvSpPr/>
          <p:nvPr/>
        </p:nvSpPr>
        <p:spPr>
          <a:xfrm>
            <a:off x="635000" y="1320800"/>
            <a:ext cx="4826000" cy="1270000"/>
          </a:xfrm>
          <a:prstGeom prst="rect">
            <a:avLst/>
          </a:prstGeom>
          <a:solidFill>
            <a:srgbClr val="EBF0F7"/>
          </a:solidFill>
          <a:ln/>
        </p:spPr>
      </p:sp>
      <p:sp>
        <p:nvSpPr>
          <p:cNvPr id="16" name="Shape 14"/>
          <p:cNvSpPr/>
          <p:nvPr/>
        </p:nvSpPr>
        <p:spPr>
          <a:xfrm>
            <a:off x="635000" y="1320800"/>
            <a:ext cx="4826000" cy="38100"/>
          </a:xfrm>
          <a:prstGeom prst="rect">
            <a:avLst/>
          </a:prstGeom>
          <a:solidFill>
            <a:srgbClr val="1B3A6B"/>
          </a:solidFill>
          <a:ln/>
        </p:spPr>
      </p:sp>
      <p:sp>
        <p:nvSpPr>
          <p:cNvPr id="17" name="Text 15"/>
          <p:cNvSpPr/>
          <p:nvPr/>
        </p:nvSpPr>
        <p:spPr>
          <a:xfrm>
            <a:off x="736600" y="1422400"/>
            <a:ext cx="4622800" cy="279400"/>
          </a:xfrm>
          <a:prstGeom prst="rect">
            <a:avLst/>
          </a:prstGeom>
          <a:noFill/>
          <a:ln/>
        </p:spPr>
        <p:txBody>
          <a:bodyPr wrap="none" lIns="0" tIns="0" rIns="0" bIns="0" rtlCol="0" anchor="ctr"/>
          <a:lstStyle/>
          <a:p>
            <a:pPr algn="l">
              <a:lnSpc>
                <a:spcPct val="120000"/>
              </a:lnSpc>
            </a:pPr>
            <a:r>
              <a:rPr lang="en-US" sz="1400" b="1" dirty="0">
                <a:solidFill>
                  <a:srgbClr val="1B3A6B"/>
                </a:solidFill>
                <a:latin typeface="Sorts Mill Goudy" pitchFamily="34" charset="0"/>
                <a:ea typeface="Sorts Mill Goudy" pitchFamily="34" charset="-122"/>
                <a:cs typeface="Sorts Mill Goudy" pitchFamily="34" charset="-120"/>
              </a:rPr>
              <a:t>1. Sales Forecasting</a:t>
            </a:r>
            <a:endParaRPr lang="en-US" sz="1400" dirty="0"/>
          </a:p>
        </p:txBody>
      </p:sp>
      <p:sp>
        <p:nvSpPr>
          <p:cNvPr id="18" name="Text 16"/>
          <p:cNvSpPr/>
          <p:nvPr/>
        </p:nvSpPr>
        <p:spPr>
          <a:xfrm>
            <a:off x="736600" y="1752600"/>
            <a:ext cx="4622800" cy="762000"/>
          </a:xfrm>
          <a:prstGeom prst="rect">
            <a:avLst/>
          </a:prstGeom>
          <a:noFill/>
          <a:ln/>
        </p:spPr>
        <p:txBody>
          <a:bodyPr wrap="square" lIns="0" tIns="0" rIns="0" bIns="0" rtlCol="0" anchor="t"/>
          <a:lstStyle/>
          <a:p>
            <a:pPr algn="l">
              <a:lnSpc>
                <a:spcPct val="140000"/>
              </a:lnSpc>
            </a:pPr>
            <a:r>
              <a:rPr lang="en-US" sz="1200" dirty="0">
                <a:solidFill>
                  <a:srgbClr val="555555"/>
                </a:solidFill>
                <a:latin typeface="Liter" pitchFamily="34" charset="0"/>
                <a:ea typeface="Liter" pitchFamily="34" charset="-122"/>
                <a:cs typeface="Liter" pitchFamily="34" charset="-120"/>
              </a:rPr>
              <a:t>Time-series models to predict future sales trends and seasonal demand patterns.</a:t>
            </a:r>
            <a:endParaRPr lang="en-US" sz="1200" dirty="0"/>
          </a:p>
        </p:txBody>
      </p:sp>
      <p:sp>
        <p:nvSpPr>
          <p:cNvPr id="19" name="Shape 17"/>
          <p:cNvSpPr/>
          <p:nvPr/>
        </p:nvSpPr>
        <p:spPr>
          <a:xfrm>
            <a:off x="5461000" y="1320800"/>
            <a:ext cx="5334000" cy="1270000"/>
          </a:xfrm>
          <a:prstGeom prst="rect">
            <a:avLst/>
          </a:prstGeom>
          <a:solidFill>
            <a:srgbClr val="EBF0F7"/>
          </a:solidFill>
          <a:ln/>
        </p:spPr>
      </p:sp>
      <p:sp>
        <p:nvSpPr>
          <p:cNvPr id="20" name="Text 18"/>
          <p:cNvSpPr/>
          <p:nvPr/>
        </p:nvSpPr>
        <p:spPr>
          <a:xfrm>
            <a:off x="5562600" y="1397000"/>
            <a:ext cx="5130800" cy="1117600"/>
          </a:xfrm>
          <a:prstGeom prst="rect">
            <a:avLst/>
          </a:prstGeom>
          <a:noFill/>
          <a:ln/>
        </p:spPr>
        <p:txBody>
          <a:bodyPr wrap="square" lIns="0" tIns="0" rIns="0" bIns="0" rtlCol="0" anchor="t"/>
          <a:lstStyle/>
          <a:p>
            <a:pPr algn="l">
              <a:lnSpc>
                <a:spcPct val="140000"/>
              </a:lnSpc>
            </a:pPr>
            <a:r>
              <a:rPr lang="en-US" sz="1200" dirty="0">
                <a:solidFill>
                  <a:srgbClr val="555555"/>
                </a:solidFill>
                <a:latin typeface="Liter" pitchFamily="34" charset="0"/>
                <a:ea typeface="Liter" pitchFamily="34" charset="-122"/>
                <a:cs typeface="Liter" pitchFamily="34" charset="-120"/>
              </a:rPr>
              <a:t>Enable proactive inventory planning and resource allocation based on predicted demand.</a:t>
            </a:r>
            <a:endParaRPr lang="en-US" sz="1200" dirty="0"/>
          </a:p>
        </p:txBody>
      </p:sp>
      <p:sp>
        <p:nvSpPr>
          <p:cNvPr id="21" name="Shape 19"/>
          <p:cNvSpPr/>
          <p:nvPr/>
        </p:nvSpPr>
        <p:spPr>
          <a:xfrm>
            <a:off x="10795000" y="1320800"/>
            <a:ext cx="4826000" cy="1270000"/>
          </a:xfrm>
          <a:prstGeom prst="rect">
            <a:avLst/>
          </a:prstGeom>
          <a:solidFill>
            <a:srgbClr val="EBF0F7"/>
          </a:solidFill>
          <a:ln/>
        </p:spPr>
      </p:sp>
      <p:sp>
        <p:nvSpPr>
          <p:cNvPr id="22" name="Text 20"/>
          <p:cNvSpPr/>
          <p:nvPr/>
        </p:nvSpPr>
        <p:spPr>
          <a:xfrm>
            <a:off x="10896600" y="1397000"/>
            <a:ext cx="4622800" cy="1117600"/>
          </a:xfrm>
          <a:prstGeom prst="rect">
            <a:avLst/>
          </a:prstGeom>
          <a:noFill/>
          <a:ln/>
        </p:spPr>
        <p:txBody>
          <a:bodyPr wrap="square" lIns="0" tIns="0" rIns="0" bIns="0" rtlCol="0" anchor="t"/>
          <a:lstStyle/>
          <a:p>
            <a:pPr algn="l">
              <a:lnSpc>
                <a:spcPct val="140000"/>
              </a:lnSpc>
            </a:pPr>
            <a:r>
              <a:rPr lang="en-US" sz="1200" b="1" dirty="0">
                <a:solidFill>
                  <a:srgbClr val="C9963B"/>
                </a:solidFill>
                <a:latin typeface="Liter" pitchFamily="34" charset="0"/>
                <a:ea typeface="Liter" pitchFamily="34" charset="-122"/>
                <a:cs typeface="Liter" pitchFamily="34" charset="-120"/>
              </a:rPr>
              <a:t>High Priority</a:t>
            </a:r>
            <a:endParaRPr lang="en-US" sz="1200" dirty="0"/>
          </a:p>
          <a:p>
            <a:pPr algn="l">
              <a:lnSpc>
                <a:spcPct val="140000"/>
              </a:lnSpc>
            </a:pPr>
            <a:r>
              <a:rPr lang="en-US" sz="1200" dirty="0">
                <a:solidFill>
                  <a:srgbClr val="2D2D2D"/>
                </a:solidFill>
                <a:latin typeface="Liter" pitchFamily="34" charset="0"/>
                <a:ea typeface="Liter" pitchFamily="34" charset="-122"/>
                <a:cs typeface="Liter" pitchFamily="34" charset="-120"/>
              </a:rPr>
              <a:t>Tools: Python, ARIMA, Prophet</a:t>
            </a:r>
            <a:endParaRPr lang="en-US" sz="1200" dirty="0"/>
          </a:p>
        </p:txBody>
      </p:sp>
      <p:sp>
        <p:nvSpPr>
          <p:cNvPr id="23" name="Shape 21"/>
          <p:cNvSpPr/>
          <p:nvPr/>
        </p:nvSpPr>
        <p:spPr>
          <a:xfrm>
            <a:off x="635000" y="2692400"/>
            <a:ext cx="4826000" cy="1270000"/>
          </a:xfrm>
          <a:prstGeom prst="rect">
            <a:avLst/>
          </a:prstGeom>
          <a:solidFill>
            <a:srgbClr val="EBF0F7"/>
          </a:solidFill>
          <a:ln/>
        </p:spPr>
      </p:sp>
      <p:sp>
        <p:nvSpPr>
          <p:cNvPr id="24" name="Shape 22"/>
          <p:cNvSpPr/>
          <p:nvPr/>
        </p:nvSpPr>
        <p:spPr>
          <a:xfrm>
            <a:off x="635000" y="2692400"/>
            <a:ext cx="4826000" cy="38100"/>
          </a:xfrm>
          <a:prstGeom prst="rect">
            <a:avLst/>
          </a:prstGeom>
          <a:solidFill>
            <a:srgbClr val="C9963B"/>
          </a:solidFill>
          <a:ln/>
        </p:spPr>
      </p:sp>
      <p:sp>
        <p:nvSpPr>
          <p:cNvPr id="25" name="Text 23"/>
          <p:cNvSpPr/>
          <p:nvPr/>
        </p:nvSpPr>
        <p:spPr>
          <a:xfrm>
            <a:off x="736600" y="2794000"/>
            <a:ext cx="4622800" cy="279400"/>
          </a:xfrm>
          <a:prstGeom prst="rect">
            <a:avLst/>
          </a:prstGeom>
          <a:noFill/>
          <a:ln/>
        </p:spPr>
        <p:txBody>
          <a:bodyPr wrap="none" lIns="0" tIns="0" rIns="0" bIns="0" rtlCol="0" anchor="ctr"/>
          <a:lstStyle/>
          <a:p>
            <a:pPr algn="l">
              <a:lnSpc>
                <a:spcPct val="120000"/>
              </a:lnSpc>
            </a:pPr>
            <a:r>
              <a:rPr lang="en-US" sz="1400" b="1" dirty="0">
                <a:solidFill>
                  <a:srgbClr val="C9963B"/>
                </a:solidFill>
                <a:latin typeface="Sorts Mill Goudy" pitchFamily="34" charset="0"/>
                <a:ea typeface="Sorts Mill Goudy" pitchFamily="34" charset="-122"/>
                <a:cs typeface="Sorts Mill Goudy" pitchFamily="34" charset="-120"/>
              </a:rPr>
              <a:t>2. ML Integration</a:t>
            </a:r>
            <a:endParaRPr lang="en-US" sz="1400" dirty="0"/>
          </a:p>
        </p:txBody>
      </p:sp>
      <p:sp>
        <p:nvSpPr>
          <p:cNvPr id="26" name="Text 24"/>
          <p:cNvSpPr/>
          <p:nvPr/>
        </p:nvSpPr>
        <p:spPr>
          <a:xfrm>
            <a:off x="736600" y="3124200"/>
            <a:ext cx="4622800" cy="762000"/>
          </a:xfrm>
          <a:prstGeom prst="rect">
            <a:avLst/>
          </a:prstGeom>
          <a:noFill/>
          <a:ln/>
        </p:spPr>
        <p:txBody>
          <a:bodyPr wrap="square" lIns="0" tIns="0" rIns="0" bIns="0" rtlCol="0" anchor="t"/>
          <a:lstStyle/>
          <a:p>
            <a:pPr algn="l">
              <a:lnSpc>
                <a:spcPct val="140000"/>
              </a:lnSpc>
            </a:pPr>
            <a:r>
              <a:rPr lang="en-US" sz="1200" dirty="0">
                <a:solidFill>
                  <a:srgbClr val="555555"/>
                </a:solidFill>
                <a:latin typeface="Liter" pitchFamily="34" charset="0"/>
                <a:ea typeface="Liter" pitchFamily="34" charset="-122"/>
                <a:cs typeface="Liter" pitchFamily="34" charset="-120"/>
              </a:rPr>
              <a:t>Customer segmentation, churn prediction, and recommendation engines.</a:t>
            </a:r>
            <a:endParaRPr lang="en-US" sz="1200" dirty="0"/>
          </a:p>
        </p:txBody>
      </p:sp>
      <p:sp>
        <p:nvSpPr>
          <p:cNvPr id="27" name="Shape 25"/>
          <p:cNvSpPr/>
          <p:nvPr/>
        </p:nvSpPr>
        <p:spPr>
          <a:xfrm>
            <a:off x="5461000" y="2692400"/>
            <a:ext cx="5334000" cy="1270000"/>
          </a:xfrm>
          <a:prstGeom prst="rect">
            <a:avLst/>
          </a:prstGeom>
          <a:solidFill>
            <a:srgbClr val="EBF0F7"/>
          </a:solidFill>
          <a:ln/>
        </p:spPr>
      </p:sp>
      <p:sp>
        <p:nvSpPr>
          <p:cNvPr id="28" name="Text 26"/>
          <p:cNvSpPr/>
          <p:nvPr/>
        </p:nvSpPr>
        <p:spPr>
          <a:xfrm>
            <a:off x="5562600" y="2768600"/>
            <a:ext cx="5130800" cy="1117600"/>
          </a:xfrm>
          <a:prstGeom prst="rect">
            <a:avLst/>
          </a:prstGeom>
          <a:noFill/>
          <a:ln/>
        </p:spPr>
        <p:txBody>
          <a:bodyPr wrap="square" lIns="0" tIns="0" rIns="0" bIns="0" rtlCol="0" anchor="t"/>
          <a:lstStyle/>
          <a:p>
            <a:pPr algn="l">
              <a:lnSpc>
                <a:spcPct val="140000"/>
              </a:lnSpc>
            </a:pPr>
            <a:r>
              <a:rPr lang="en-US" sz="1200" dirty="0">
                <a:solidFill>
                  <a:srgbClr val="555555"/>
                </a:solidFill>
                <a:latin typeface="Liter" pitchFamily="34" charset="0"/>
                <a:ea typeface="Liter" pitchFamily="34" charset="-122"/>
                <a:cs typeface="Liter" pitchFamily="34" charset="-120"/>
              </a:rPr>
              <a:t>Personalized marketing, customer retention, and product recommendations.</a:t>
            </a:r>
            <a:endParaRPr lang="en-US" sz="1200" dirty="0"/>
          </a:p>
        </p:txBody>
      </p:sp>
      <p:sp>
        <p:nvSpPr>
          <p:cNvPr id="29" name="Shape 27"/>
          <p:cNvSpPr/>
          <p:nvPr/>
        </p:nvSpPr>
        <p:spPr>
          <a:xfrm>
            <a:off x="10795000" y="2692400"/>
            <a:ext cx="4826000" cy="1270000"/>
          </a:xfrm>
          <a:prstGeom prst="rect">
            <a:avLst/>
          </a:prstGeom>
          <a:solidFill>
            <a:srgbClr val="EBF0F7"/>
          </a:solidFill>
          <a:ln/>
        </p:spPr>
      </p:sp>
      <p:sp>
        <p:nvSpPr>
          <p:cNvPr id="30" name="Text 28"/>
          <p:cNvSpPr/>
          <p:nvPr/>
        </p:nvSpPr>
        <p:spPr>
          <a:xfrm>
            <a:off x="10896600" y="2768600"/>
            <a:ext cx="4622800" cy="1117600"/>
          </a:xfrm>
          <a:prstGeom prst="rect">
            <a:avLst/>
          </a:prstGeom>
          <a:noFill/>
          <a:ln/>
        </p:spPr>
        <p:txBody>
          <a:bodyPr wrap="square" lIns="0" tIns="0" rIns="0" bIns="0" rtlCol="0" anchor="t"/>
          <a:lstStyle/>
          <a:p>
            <a:pPr algn="l">
              <a:lnSpc>
                <a:spcPct val="140000"/>
              </a:lnSpc>
            </a:pPr>
            <a:r>
              <a:rPr lang="en-US" sz="1200" b="1" dirty="0">
                <a:solidFill>
                  <a:srgbClr val="C9963B"/>
                </a:solidFill>
                <a:latin typeface="Liter" pitchFamily="34" charset="0"/>
                <a:ea typeface="Liter" pitchFamily="34" charset="-122"/>
                <a:cs typeface="Liter" pitchFamily="34" charset="-120"/>
              </a:rPr>
              <a:t>High Priority</a:t>
            </a:r>
            <a:endParaRPr lang="en-US" sz="1200" dirty="0"/>
          </a:p>
          <a:p>
            <a:pPr algn="l">
              <a:lnSpc>
                <a:spcPct val="140000"/>
              </a:lnSpc>
            </a:pPr>
            <a:r>
              <a:rPr lang="en-US" sz="1200" dirty="0">
                <a:solidFill>
                  <a:srgbClr val="2D2D2D"/>
                </a:solidFill>
                <a:latin typeface="Liter" pitchFamily="34" charset="0"/>
                <a:ea typeface="Liter" pitchFamily="34" charset="-122"/>
                <a:cs typeface="Liter" pitchFamily="34" charset="-120"/>
              </a:rPr>
              <a:t>Tools: Python, scikit-learn</a:t>
            </a:r>
            <a:endParaRPr lang="en-US" sz="1200" dirty="0"/>
          </a:p>
        </p:txBody>
      </p:sp>
      <p:sp>
        <p:nvSpPr>
          <p:cNvPr id="31" name="Shape 29"/>
          <p:cNvSpPr/>
          <p:nvPr/>
        </p:nvSpPr>
        <p:spPr>
          <a:xfrm>
            <a:off x="635000" y="4064000"/>
            <a:ext cx="4826000" cy="1016000"/>
          </a:xfrm>
          <a:prstGeom prst="rect">
            <a:avLst/>
          </a:prstGeom>
          <a:solidFill>
            <a:srgbClr val="EBF0F7"/>
          </a:solidFill>
          <a:ln/>
        </p:spPr>
      </p:sp>
      <p:sp>
        <p:nvSpPr>
          <p:cNvPr id="32" name="Shape 30"/>
          <p:cNvSpPr/>
          <p:nvPr/>
        </p:nvSpPr>
        <p:spPr>
          <a:xfrm>
            <a:off x="635000" y="4064000"/>
            <a:ext cx="4826000" cy="38100"/>
          </a:xfrm>
          <a:prstGeom prst="rect">
            <a:avLst/>
          </a:prstGeom>
          <a:solidFill>
            <a:srgbClr val="1B3A6B"/>
          </a:solidFill>
          <a:ln/>
        </p:spPr>
      </p:sp>
      <p:sp>
        <p:nvSpPr>
          <p:cNvPr id="33" name="Text 31"/>
          <p:cNvSpPr/>
          <p:nvPr/>
        </p:nvSpPr>
        <p:spPr>
          <a:xfrm>
            <a:off x="736600" y="4165600"/>
            <a:ext cx="4622800" cy="279400"/>
          </a:xfrm>
          <a:prstGeom prst="rect">
            <a:avLst/>
          </a:prstGeom>
          <a:noFill/>
          <a:ln/>
        </p:spPr>
        <p:txBody>
          <a:bodyPr wrap="none" lIns="0" tIns="0" rIns="0" bIns="0" rtlCol="0" anchor="ctr"/>
          <a:lstStyle/>
          <a:p>
            <a:pPr algn="l">
              <a:lnSpc>
                <a:spcPct val="120000"/>
              </a:lnSpc>
            </a:pPr>
            <a:r>
              <a:rPr lang="en-US" sz="1400" b="1" dirty="0">
                <a:solidFill>
                  <a:srgbClr val="1B3A6B"/>
                </a:solidFill>
                <a:latin typeface="Sorts Mill Goudy" pitchFamily="34" charset="0"/>
                <a:ea typeface="Sorts Mill Goudy" pitchFamily="34" charset="-122"/>
                <a:cs typeface="Sorts Mill Goudy" pitchFamily="34" charset="-120"/>
              </a:rPr>
              <a:t>3. Real-Time Dashboards</a:t>
            </a:r>
            <a:endParaRPr lang="en-US" sz="1400" dirty="0"/>
          </a:p>
        </p:txBody>
      </p:sp>
      <p:sp>
        <p:nvSpPr>
          <p:cNvPr id="34" name="Text 32"/>
          <p:cNvSpPr/>
          <p:nvPr/>
        </p:nvSpPr>
        <p:spPr>
          <a:xfrm>
            <a:off x="736600" y="4495800"/>
            <a:ext cx="4622800" cy="508000"/>
          </a:xfrm>
          <a:prstGeom prst="rect">
            <a:avLst/>
          </a:prstGeom>
          <a:noFill/>
          <a:ln/>
        </p:spPr>
        <p:txBody>
          <a:bodyPr wrap="square" lIns="0" tIns="0" rIns="0" bIns="0" rtlCol="0" anchor="t"/>
          <a:lstStyle/>
          <a:p>
            <a:pPr algn="l">
              <a:lnSpc>
                <a:spcPct val="140000"/>
              </a:lnSpc>
            </a:pPr>
            <a:r>
              <a:rPr lang="en-US" sz="1200" dirty="0">
                <a:solidFill>
                  <a:srgbClr val="555555"/>
                </a:solidFill>
                <a:latin typeface="Liter" pitchFamily="34" charset="0"/>
                <a:ea typeface="Liter" pitchFamily="34" charset="-122"/>
                <a:cs typeface="Liter" pitchFamily="34" charset="-120"/>
              </a:rPr>
              <a:t>Live data streaming for up-to-the-minute business monitoring.</a:t>
            </a:r>
            <a:endParaRPr lang="en-US" sz="1200" dirty="0"/>
          </a:p>
        </p:txBody>
      </p:sp>
      <p:sp>
        <p:nvSpPr>
          <p:cNvPr id="35" name="Shape 33"/>
          <p:cNvSpPr/>
          <p:nvPr/>
        </p:nvSpPr>
        <p:spPr>
          <a:xfrm>
            <a:off x="5461000" y="4064000"/>
            <a:ext cx="5334000" cy="1016000"/>
          </a:xfrm>
          <a:prstGeom prst="rect">
            <a:avLst/>
          </a:prstGeom>
          <a:solidFill>
            <a:srgbClr val="EBF0F7"/>
          </a:solidFill>
          <a:ln/>
        </p:spPr>
      </p:sp>
      <p:sp>
        <p:nvSpPr>
          <p:cNvPr id="36" name="Text 34"/>
          <p:cNvSpPr/>
          <p:nvPr/>
        </p:nvSpPr>
        <p:spPr>
          <a:xfrm>
            <a:off x="5562600" y="4140200"/>
            <a:ext cx="5130800" cy="736600"/>
          </a:xfrm>
          <a:prstGeom prst="rect">
            <a:avLst/>
          </a:prstGeom>
          <a:noFill/>
          <a:ln/>
        </p:spPr>
        <p:txBody>
          <a:bodyPr wrap="square" lIns="0" tIns="0" rIns="0" bIns="0" rtlCol="0" anchor="t"/>
          <a:lstStyle/>
          <a:p>
            <a:pPr algn="l">
              <a:lnSpc>
                <a:spcPct val="140000"/>
              </a:lnSpc>
            </a:pPr>
            <a:r>
              <a:rPr lang="en-US" sz="1200" dirty="0">
                <a:solidFill>
                  <a:srgbClr val="555555"/>
                </a:solidFill>
                <a:latin typeface="Liter" pitchFamily="34" charset="0"/>
                <a:ea typeface="Liter" pitchFamily="34" charset="-122"/>
                <a:cs typeface="Liter" pitchFamily="34" charset="-120"/>
              </a:rPr>
              <a:t>Immediate visibility into sales performance and anomaly detection.</a:t>
            </a:r>
            <a:endParaRPr lang="en-US" sz="1200" dirty="0"/>
          </a:p>
        </p:txBody>
      </p:sp>
      <p:sp>
        <p:nvSpPr>
          <p:cNvPr id="37" name="Shape 35"/>
          <p:cNvSpPr/>
          <p:nvPr/>
        </p:nvSpPr>
        <p:spPr>
          <a:xfrm>
            <a:off x="10795000" y="4064000"/>
            <a:ext cx="4826000" cy="1016000"/>
          </a:xfrm>
          <a:prstGeom prst="rect">
            <a:avLst/>
          </a:prstGeom>
          <a:solidFill>
            <a:srgbClr val="EBF0F7"/>
          </a:solidFill>
          <a:ln/>
        </p:spPr>
      </p:sp>
      <p:sp>
        <p:nvSpPr>
          <p:cNvPr id="38" name="Text 36"/>
          <p:cNvSpPr/>
          <p:nvPr/>
        </p:nvSpPr>
        <p:spPr>
          <a:xfrm>
            <a:off x="10896600" y="4140200"/>
            <a:ext cx="4622800" cy="736600"/>
          </a:xfrm>
          <a:prstGeom prst="rect">
            <a:avLst/>
          </a:prstGeom>
          <a:noFill/>
          <a:ln/>
        </p:spPr>
        <p:txBody>
          <a:bodyPr wrap="square" lIns="0" tIns="0" rIns="0" bIns="0" rtlCol="0" anchor="t"/>
          <a:lstStyle/>
          <a:p>
            <a:pPr algn="l">
              <a:lnSpc>
                <a:spcPct val="140000"/>
              </a:lnSpc>
            </a:pPr>
            <a:r>
              <a:rPr lang="en-US" sz="1200" b="1" dirty="0">
                <a:solidFill>
                  <a:srgbClr val="1B3A6B"/>
                </a:solidFill>
                <a:latin typeface="Liter" pitchFamily="34" charset="0"/>
                <a:ea typeface="Liter" pitchFamily="34" charset="-122"/>
                <a:cs typeface="Liter" pitchFamily="34" charset="-120"/>
              </a:rPr>
              <a:t>Medium Priority</a:t>
            </a:r>
            <a:endParaRPr lang="en-US" sz="1200" dirty="0"/>
          </a:p>
          <a:p>
            <a:pPr algn="l">
              <a:lnSpc>
                <a:spcPct val="140000"/>
              </a:lnSpc>
            </a:pPr>
            <a:r>
              <a:rPr lang="en-US" sz="1200" dirty="0">
                <a:solidFill>
                  <a:srgbClr val="2D2D2D"/>
                </a:solidFill>
                <a:latin typeface="Liter" pitchFamily="34" charset="0"/>
                <a:ea typeface="Liter" pitchFamily="34" charset="-122"/>
                <a:cs typeface="Liter" pitchFamily="34" charset="-120"/>
              </a:rPr>
              <a:t>Tools: Power BI Streaming</a:t>
            </a:r>
            <a:endParaRPr lang="en-US" sz="1200" dirty="0"/>
          </a:p>
        </p:txBody>
      </p:sp>
      <p:sp>
        <p:nvSpPr>
          <p:cNvPr id="39" name="Shape 37"/>
          <p:cNvSpPr/>
          <p:nvPr/>
        </p:nvSpPr>
        <p:spPr>
          <a:xfrm>
            <a:off x="635000" y="5181600"/>
            <a:ext cx="4826000" cy="1016000"/>
          </a:xfrm>
          <a:prstGeom prst="rect">
            <a:avLst/>
          </a:prstGeom>
          <a:solidFill>
            <a:srgbClr val="EBF0F7"/>
          </a:solidFill>
          <a:ln/>
        </p:spPr>
      </p:sp>
      <p:sp>
        <p:nvSpPr>
          <p:cNvPr id="40" name="Shape 38"/>
          <p:cNvSpPr/>
          <p:nvPr/>
        </p:nvSpPr>
        <p:spPr>
          <a:xfrm>
            <a:off x="635000" y="5181600"/>
            <a:ext cx="4826000" cy="38100"/>
          </a:xfrm>
          <a:prstGeom prst="rect">
            <a:avLst/>
          </a:prstGeom>
          <a:solidFill>
            <a:srgbClr val="C9963B"/>
          </a:solidFill>
          <a:ln/>
        </p:spPr>
      </p:sp>
      <p:sp>
        <p:nvSpPr>
          <p:cNvPr id="41" name="Text 39"/>
          <p:cNvSpPr/>
          <p:nvPr/>
        </p:nvSpPr>
        <p:spPr>
          <a:xfrm>
            <a:off x="736600" y="5283200"/>
            <a:ext cx="4622800" cy="279400"/>
          </a:xfrm>
          <a:prstGeom prst="rect">
            <a:avLst/>
          </a:prstGeom>
          <a:noFill/>
          <a:ln/>
        </p:spPr>
        <p:txBody>
          <a:bodyPr wrap="none" lIns="0" tIns="0" rIns="0" bIns="0" rtlCol="0" anchor="ctr"/>
          <a:lstStyle/>
          <a:p>
            <a:pPr algn="l">
              <a:lnSpc>
                <a:spcPct val="120000"/>
              </a:lnSpc>
            </a:pPr>
            <a:r>
              <a:rPr lang="en-US" sz="1400" b="1" dirty="0">
                <a:solidFill>
                  <a:srgbClr val="C9963B"/>
                </a:solidFill>
                <a:latin typeface="Sorts Mill Goudy" pitchFamily="34" charset="0"/>
                <a:ea typeface="Sorts Mill Goudy" pitchFamily="34" charset="-122"/>
                <a:cs typeface="Sorts Mill Goudy" pitchFamily="34" charset="-120"/>
              </a:rPr>
              <a:t>4. Inventory Analysis</a:t>
            </a:r>
            <a:endParaRPr lang="en-US" sz="1400" dirty="0"/>
          </a:p>
        </p:txBody>
      </p:sp>
      <p:sp>
        <p:nvSpPr>
          <p:cNvPr id="42" name="Text 40"/>
          <p:cNvSpPr/>
          <p:nvPr/>
        </p:nvSpPr>
        <p:spPr>
          <a:xfrm>
            <a:off x="736600" y="5613400"/>
            <a:ext cx="4622800" cy="508000"/>
          </a:xfrm>
          <a:prstGeom prst="rect">
            <a:avLst/>
          </a:prstGeom>
          <a:noFill/>
          <a:ln/>
        </p:spPr>
        <p:txBody>
          <a:bodyPr wrap="square" lIns="0" tIns="0" rIns="0" bIns="0" rtlCol="0" anchor="t"/>
          <a:lstStyle/>
          <a:p>
            <a:pPr algn="l">
              <a:lnSpc>
                <a:spcPct val="140000"/>
              </a:lnSpc>
            </a:pPr>
            <a:r>
              <a:rPr lang="en-US" sz="1200" dirty="0">
                <a:solidFill>
                  <a:srgbClr val="555555"/>
                </a:solidFill>
                <a:latin typeface="Liter" pitchFamily="34" charset="0"/>
                <a:ea typeface="Liter" pitchFamily="34" charset="-122"/>
                <a:cs typeface="Liter" pitchFamily="34" charset="-120"/>
              </a:rPr>
              <a:t>Stock levels, turnover rates, and reorder point optimization.</a:t>
            </a:r>
            <a:endParaRPr lang="en-US" sz="1200" dirty="0"/>
          </a:p>
        </p:txBody>
      </p:sp>
      <p:sp>
        <p:nvSpPr>
          <p:cNvPr id="43" name="Shape 41"/>
          <p:cNvSpPr/>
          <p:nvPr/>
        </p:nvSpPr>
        <p:spPr>
          <a:xfrm>
            <a:off x="5461000" y="5181600"/>
            <a:ext cx="5334000" cy="1016000"/>
          </a:xfrm>
          <a:prstGeom prst="rect">
            <a:avLst/>
          </a:prstGeom>
          <a:solidFill>
            <a:srgbClr val="EBF0F7"/>
          </a:solidFill>
          <a:ln/>
        </p:spPr>
      </p:sp>
      <p:sp>
        <p:nvSpPr>
          <p:cNvPr id="44" name="Text 42"/>
          <p:cNvSpPr/>
          <p:nvPr/>
        </p:nvSpPr>
        <p:spPr>
          <a:xfrm>
            <a:off x="5562600" y="5257800"/>
            <a:ext cx="5130800" cy="863600"/>
          </a:xfrm>
          <a:prstGeom prst="rect">
            <a:avLst/>
          </a:prstGeom>
          <a:noFill/>
          <a:ln/>
        </p:spPr>
        <p:txBody>
          <a:bodyPr wrap="square" lIns="0" tIns="0" rIns="0" bIns="0" rtlCol="0" anchor="t"/>
          <a:lstStyle/>
          <a:p>
            <a:pPr algn="l">
              <a:lnSpc>
                <a:spcPct val="140000"/>
              </a:lnSpc>
            </a:pPr>
            <a:r>
              <a:rPr lang="en-US" sz="1200" dirty="0">
                <a:solidFill>
                  <a:srgbClr val="555555"/>
                </a:solidFill>
                <a:latin typeface="Liter" pitchFamily="34" charset="0"/>
                <a:ea typeface="Liter" pitchFamily="34" charset="-122"/>
                <a:cs typeface="Liter" pitchFamily="34" charset="-120"/>
              </a:rPr>
              <a:t>Reduce carrying costs and prevent stockouts through data-driven inventory management.</a:t>
            </a:r>
            <a:endParaRPr lang="en-US" sz="1200" dirty="0"/>
          </a:p>
        </p:txBody>
      </p:sp>
      <p:sp>
        <p:nvSpPr>
          <p:cNvPr id="45" name="Shape 43"/>
          <p:cNvSpPr/>
          <p:nvPr/>
        </p:nvSpPr>
        <p:spPr>
          <a:xfrm>
            <a:off x="10795000" y="5181600"/>
            <a:ext cx="4826000" cy="1016000"/>
          </a:xfrm>
          <a:prstGeom prst="rect">
            <a:avLst/>
          </a:prstGeom>
          <a:solidFill>
            <a:srgbClr val="EBF0F7"/>
          </a:solidFill>
          <a:ln/>
        </p:spPr>
      </p:sp>
      <p:sp>
        <p:nvSpPr>
          <p:cNvPr id="46" name="Text 44"/>
          <p:cNvSpPr/>
          <p:nvPr/>
        </p:nvSpPr>
        <p:spPr>
          <a:xfrm>
            <a:off x="10896600" y="5257800"/>
            <a:ext cx="4622800" cy="863600"/>
          </a:xfrm>
          <a:prstGeom prst="rect">
            <a:avLst/>
          </a:prstGeom>
          <a:noFill/>
          <a:ln/>
        </p:spPr>
        <p:txBody>
          <a:bodyPr wrap="square" lIns="0" tIns="0" rIns="0" bIns="0" rtlCol="0" anchor="t"/>
          <a:lstStyle/>
          <a:p>
            <a:pPr algn="l">
              <a:lnSpc>
                <a:spcPct val="140000"/>
              </a:lnSpc>
            </a:pPr>
            <a:r>
              <a:rPr lang="en-US" sz="1200" b="1" dirty="0">
                <a:solidFill>
                  <a:srgbClr val="1B3A6B"/>
                </a:solidFill>
                <a:latin typeface="Liter" pitchFamily="34" charset="0"/>
                <a:ea typeface="Liter" pitchFamily="34" charset="-122"/>
                <a:cs typeface="Liter" pitchFamily="34" charset="-120"/>
              </a:rPr>
              <a:t>Medium Priority</a:t>
            </a:r>
            <a:endParaRPr lang="en-US" sz="1200" dirty="0"/>
          </a:p>
          <a:p>
            <a:pPr algn="l">
              <a:lnSpc>
                <a:spcPct val="140000"/>
              </a:lnSpc>
            </a:pPr>
            <a:r>
              <a:rPr lang="en-US" sz="1200" dirty="0">
                <a:solidFill>
                  <a:srgbClr val="2D2D2D"/>
                </a:solidFill>
                <a:latin typeface="Liter" pitchFamily="34" charset="0"/>
                <a:ea typeface="Liter" pitchFamily="34" charset="-122"/>
                <a:cs typeface="Liter" pitchFamily="34" charset="-120"/>
              </a:rPr>
              <a:t>Tools: SQL, Power BI</a:t>
            </a:r>
            <a:endParaRPr lang="en-US" sz="1200" dirty="0"/>
          </a:p>
        </p:txBody>
      </p:sp>
      <p:sp>
        <p:nvSpPr>
          <p:cNvPr id="47" name="Shape 45"/>
          <p:cNvSpPr/>
          <p:nvPr/>
        </p:nvSpPr>
        <p:spPr>
          <a:xfrm>
            <a:off x="635000" y="6299200"/>
            <a:ext cx="4826000" cy="1016000"/>
          </a:xfrm>
          <a:prstGeom prst="rect">
            <a:avLst/>
          </a:prstGeom>
          <a:solidFill>
            <a:srgbClr val="EBF0F7"/>
          </a:solidFill>
          <a:ln/>
        </p:spPr>
      </p:sp>
      <p:sp>
        <p:nvSpPr>
          <p:cNvPr id="48" name="Shape 46"/>
          <p:cNvSpPr/>
          <p:nvPr/>
        </p:nvSpPr>
        <p:spPr>
          <a:xfrm>
            <a:off x="635000" y="6299200"/>
            <a:ext cx="4826000" cy="38100"/>
          </a:xfrm>
          <a:prstGeom prst="rect">
            <a:avLst/>
          </a:prstGeom>
          <a:solidFill>
            <a:srgbClr val="1B3A6B"/>
          </a:solidFill>
          <a:ln/>
        </p:spPr>
      </p:sp>
      <p:sp>
        <p:nvSpPr>
          <p:cNvPr id="49" name="Text 47"/>
          <p:cNvSpPr/>
          <p:nvPr/>
        </p:nvSpPr>
        <p:spPr>
          <a:xfrm>
            <a:off x="736600" y="6400800"/>
            <a:ext cx="4622800" cy="279400"/>
          </a:xfrm>
          <a:prstGeom prst="rect">
            <a:avLst/>
          </a:prstGeom>
          <a:noFill/>
          <a:ln/>
        </p:spPr>
        <p:txBody>
          <a:bodyPr wrap="none" lIns="0" tIns="0" rIns="0" bIns="0" rtlCol="0" anchor="ctr"/>
          <a:lstStyle/>
          <a:p>
            <a:pPr algn="l">
              <a:lnSpc>
                <a:spcPct val="120000"/>
              </a:lnSpc>
            </a:pPr>
            <a:r>
              <a:rPr lang="en-US" sz="1400" b="1" dirty="0">
                <a:solidFill>
                  <a:srgbClr val="1B3A6B"/>
                </a:solidFill>
                <a:latin typeface="Sorts Mill Goudy" pitchFamily="34" charset="0"/>
                <a:ea typeface="Sorts Mill Goudy" pitchFamily="34" charset="-122"/>
                <a:cs typeface="Sorts Mill Goudy" pitchFamily="34" charset="-120"/>
              </a:rPr>
              <a:t>5. Profit Margin Analysis</a:t>
            </a:r>
            <a:endParaRPr lang="en-US" sz="1400" dirty="0"/>
          </a:p>
        </p:txBody>
      </p:sp>
      <p:sp>
        <p:nvSpPr>
          <p:cNvPr id="50" name="Text 48"/>
          <p:cNvSpPr/>
          <p:nvPr/>
        </p:nvSpPr>
        <p:spPr>
          <a:xfrm>
            <a:off x="736600" y="6731000"/>
            <a:ext cx="4622800" cy="508000"/>
          </a:xfrm>
          <a:prstGeom prst="rect">
            <a:avLst/>
          </a:prstGeom>
          <a:noFill/>
          <a:ln/>
        </p:spPr>
        <p:txBody>
          <a:bodyPr wrap="square" lIns="0" tIns="0" rIns="0" bIns="0" rtlCol="0" anchor="t"/>
          <a:lstStyle/>
          <a:p>
            <a:pPr algn="l">
              <a:lnSpc>
                <a:spcPct val="140000"/>
              </a:lnSpc>
            </a:pPr>
            <a:r>
              <a:rPr lang="en-US" sz="1200" dirty="0">
                <a:solidFill>
                  <a:srgbClr val="555555"/>
                </a:solidFill>
                <a:latin typeface="Liter" pitchFamily="34" charset="0"/>
                <a:ea typeface="Liter" pitchFamily="34" charset="-122"/>
                <a:cs typeface="Liter" pitchFamily="34" charset="-120"/>
              </a:rPr>
              <a:t>Cost data integration for true profitability assessment by product.</a:t>
            </a:r>
            <a:endParaRPr lang="en-US" sz="1200" dirty="0"/>
          </a:p>
        </p:txBody>
      </p:sp>
      <p:sp>
        <p:nvSpPr>
          <p:cNvPr id="51" name="Shape 49"/>
          <p:cNvSpPr/>
          <p:nvPr/>
        </p:nvSpPr>
        <p:spPr>
          <a:xfrm>
            <a:off x="5461000" y="6299200"/>
            <a:ext cx="5334000" cy="1016000"/>
          </a:xfrm>
          <a:prstGeom prst="rect">
            <a:avLst/>
          </a:prstGeom>
          <a:solidFill>
            <a:srgbClr val="EBF0F7"/>
          </a:solidFill>
          <a:ln/>
        </p:spPr>
      </p:sp>
      <p:sp>
        <p:nvSpPr>
          <p:cNvPr id="52" name="Text 50"/>
          <p:cNvSpPr/>
          <p:nvPr/>
        </p:nvSpPr>
        <p:spPr>
          <a:xfrm>
            <a:off x="5562600" y="6375400"/>
            <a:ext cx="5130800" cy="863600"/>
          </a:xfrm>
          <a:prstGeom prst="rect">
            <a:avLst/>
          </a:prstGeom>
          <a:noFill/>
          <a:ln/>
        </p:spPr>
        <p:txBody>
          <a:bodyPr wrap="square" lIns="0" tIns="0" rIns="0" bIns="0" rtlCol="0" anchor="t"/>
          <a:lstStyle/>
          <a:p>
            <a:pPr algn="l">
              <a:lnSpc>
                <a:spcPct val="140000"/>
              </a:lnSpc>
            </a:pPr>
            <a:r>
              <a:rPr lang="en-US" sz="1200" dirty="0">
                <a:solidFill>
                  <a:srgbClr val="555555"/>
                </a:solidFill>
                <a:latin typeface="Liter" pitchFamily="34" charset="0"/>
                <a:ea typeface="Liter" pitchFamily="34" charset="-122"/>
                <a:cs typeface="Liter" pitchFamily="34" charset="-120"/>
              </a:rPr>
              <a:t>Identify most and least profitable products for strategic portfolio decisions.</a:t>
            </a:r>
            <a:endParaRPr lang="en-US" sz="1200" dirty="0"/>
          </a:p>
        </p:txBody>
      </p:sp>
      <p:sp>
        <p:nvSpPr>
          <p:cNvPr id="53" name="Shape 51"/>
          <p:cNvSpPr/>
          <p:nvPr/>
        </p:nvSpPr>
        <p:spPr>
          <a:xfrm>
            <a:off x="10795000" y="6299200"/>
            <a:ext cx="4826000" cy="1016000"/>
          </a:xfrm>
          <a:prstGeom prst="rect">
            <a:avLst/>
          </a:prstGeom>
          <a:solidFill>
            <a:srgbClr val="EBF0F7"/>
          </a:solidFill>
          <a:ln/>
        </p:spPr>
      </p:sp>
      <p:sp>
        <p:nvSpPr>
          <p:cNvPr id="54" name="Text 52"/>
          <p:cNvSpPr/>
          <p:nvPr/>
        </p:nvSpPr>
        <p:spPr>
          <a:xfrm>
            <a:off x="10896600" y="6375400"/>
            <a:ext cx="4622800" cy="863600"/>
          </a:xfrm>
          <a:prstGeom prst="rect">
            <a:avLst/>
          </a:prstGeom>
          <a:noFill/>
          <a:ln/>
        </p:spPr>
        <p:txBody>
          <a:bodyPr wrap="square" lIns="0" tIns="0" rIns="0" bIns="0" rtlCol="0" anchor="t"/>
          <a:lstStyle/>
          <a:p>
            <a:pPr algn="l">
              <a:lnSpc>
                <a:spcPct val="140000"/>
              </a:lnSpc>
            </a:pPr>
            <a:r>
              <a:rPr lang="en-US" sz="1200" b="1" dirty="0">
                <a:solidFill>
                  <a:srgbClr val="1B3A6B"/>
                </a:solidFill>
                <a:latin typeface="Liter" pitchFamily="34" charset="0"/>
                <a:ea typeface="Liter" pitchFamily="34" charset="-122"/>
                <a:cs typeface="Liter" pitchFamily="34" charset="-120"/>
              </a:rPr>
              <a:t>Medium Priority</a:t>
            </a:r>
            <a:endParaRPr lang="en-US" sz="1200" dirty="0"/>
          </a:p>
          <a:p>
            <a:pPr algn="l">
              <a:lnSpc>
                <a:spcPct val="140000"/>
              </a:lnSpc>
            </a:pPr>
            <a:r>
              <a:rPr lang="en-US" sz="1200" dirty="0">
                <a:solidFill>
                  <a:srgbClr val="2D2D2D"/>
                </a:solidFill>
                <a:latin typeface="Liter" pitchFamily="34" charset="0"/>
                <a:ea typeface="Liter" pitchFamily="34" charset="-122"/>
                <a:cs typeface="Liter" pitchFamily="34" charset="-120"/>
              </a:rPr>
              <a:t>Tools: SQL, Cost Database</a:t>
            </a:r>
            <a:endParaRPr lang="en-US" sz="1200" dirty="0"/>
          </a:p>
        </p:txBody>
      </p:sp>
      <p:sp>
        <p:nvSpPr>
          <p:cNvPr id="55" name="Shape 53"/>
          <p:cNvSpPr/>
          <p:nvPr/>
        </p:nvSpPr>
        <p:spPr>
          <a:xfrm>
            <a:off x="635000" y="7416800"/>
            <a:ext cx="4826000" cy="711200"/>
          </a:xfrm>
          <a:prstGeom prst="rect">
            <a:avLst/>
          </a:prstGeom>
          <a:solidFill>
            <a:srgbClr val="EBF0F7"/>
          </a:solidFill>
          <a:ln/>
        </p:spPr>
      </p:sp>
      <p:sp>
        <p:nvSpPr>
          <p:cNvPr id="56" name="Shape 54"/>
          <p:cNvSpPr/>
          <p:nvPr/>
        </p:nvSpPr>
        <p:spPr>
          <a:xfrm>
            <a:off x="635000" y="7416800"/>
            <a:ext cx="4826000" cy="38100"/>
          </a:xfrm>
          <a:prstGeom prst="rect">
            <a:avLst/>
          </a:prstGeom>
          <a:solidFill>
            <a:srgbClr val="C9963B"/>
          </a:solidFill>
          <a:ln/>
        </p:spPr>
      </p:sp>
      <p:sp>
        <p:nvSpPr>
          <p:cNvPr id="57" name="Text 55"/>
          <p:cNvSpPr/>
          <p:nvPr/>
        </p:nvSpPr>
        <p:spPr>
          <a:xfrm>
            <a:off x="736600" y="7493000"/>
            <a:ext cx="4622800" cy="279400"/>
          </a:xfrm>
          <a:prstGeom prst="rect">
            <a:avLst/>
          </a:prstGeom>
          <a:noFill/>
          <a:ln/>
        </p:spPr>
        <p:txBody>
          <a:bodyPr wrap="none" lIns="0" tIns="0" rIns="0" bIns="0" rtlCol="0" anchor="ctr"/>
          <a:lstStyle/>
          <a:p>
            <a:pPr algn="l">
              <a:lnSpc>
                <a:spcPct val="120000"/>
              </a:lnSpc>
            </a:pPr>
            <a:r>
              <a:rPr lang="en-US" sz="1400" b="1" dirty="0">
                <a:solidFill>
                  <a:srgbClr val="C9963B"/>
                </a:solidFill>
                <a:latin typeface="Sorts Mill Goudy" pitchFamily="34" charset="0"/>
                <a:ea typeface="Sorts Mill Goudy" pitchFamily="34" charset="-122"/>
                <a:cs typeface="Sorts Mill Goudy" pitchFamily="34" charset="-120"/>
              </a:rPr>
              <a:t>6. Customer Segmentation</a:t>
            </a:r>
            <a:endParaRPr lang="en-US" sz="1400" dirty="0"/>
          </a:p>
        </p:txBody>
      </p:sp>
      <p:sp>
        <p:nvSpPr>
          <p:cNvPr id="58" name="Text 56"/>
          <p:cNvSpPr/>
          <p:nvPr/>
        </p:nvSpPr>
        <p:spPr>
          <a:xfrm>
            <a:off x="736600" y="7797800"/>
            <a:ext cx="4622800" cy="279400"/>
          </a:xfrm>
          <a:prstGeom prst="rect">
            <a:avLst/>
          </a:prstGeom>
          <a:noFill/>
          <a:ln/>
        </p:spPr>
        <p:txBody>
          <a:bodyPr wrap="none" lIns="0" tIns="0" rIns="0" bIns="0" rtlCol="0" anchor="t"/>
          <a:lstStyle/>
          <a:p>
            <a:pPr algn="l">
              <a:lnSpc>
                <a:spcPct val="120000"/>
              </a:lnSpc>
            </a:pPr>
            <a:r>
              <a:rPr lang="en-US" sz="1200" dirty="0">
                <a:solidFill>
                  <a:srgbClr val="555555"/>
                </a:solidFill>
                <a:latin typeface="Liter" pitchFamily="34" charset="0"/>
                <a:ea typeface="Liter" pitchFamily="34" charset="-122"/>
                <a:cs typeface="Liter" pitchFamily="34" charset="-120"/>
              </a:rPr>
              <a:t>RFM analysis for customer lifetime value tiers.</a:t>
            </a:r>
            <a:endParaRPr lang="en-US" sz="1200" dirty="0"/>
          </a:p>
        </p:txBody>
      </p:sp>
      <p:sp>
        <p:nvSpPr>
          <p:cNvPr id="59" name="Shape 57"/>
          <p:cNvSpPr/>
          <p:nvPr/>
        </p:nvSpPr>
        <p:spPr>
          <a:xfrm>
            <a:off x="5461000" y="7416800"/>
            <a:ext cx="5334000" cy="711200"/>
          </a:xfrm>
          <a:prstGeom prst="rect">
            <a:avLst/>
          </a:prstGeom>
          <a:solidFill>
            <a:srgbClr val="EBF0F7"/>
          </a:solidFill>
          <a:ln/>
        </p:spPr>
      </p:sp>
      <p:sp>
        <p:nvSpPr>
          <p:cNvPr id="60" name="Text 58"/>
          <p:cNvSpPr/>
          <p:nvPr/>
        </p:nvSpPr>
        <p:spPr>
          <a:xfrm>
            <a:off x="5562600" y="7493000"/>
            <a:ext cx="5130800" cy="558800"/>
          </a:xfrm>
          <a:prstGeom prst="rect">
            <a:avLst/>
          </a:prstGeom>
          <a:noFill/>
          <a:ln/>
        </p:spPr>
        <p:txBody>
          <a:bodyPr wrap="square" lIns="0" tIns="0" rIns="0" bIns="0" rtlCol="0" anchor="t"/>
          <a:lstStyle/>
          <a:p>
            <a:pPr algn="l">
              <a:lnSpc>
                <a:spcPct val="140000"/>
              </a:lnSpc>
            </a:pPr>
            <a:r>
              <a:rPr lang="en-US" sz="1200" dirty="0">
                <a:solidFill>
                  <a:srgbClr val="555555"/>
                </a:solidFill>
                <a:latin typeface="Liter" pitchFamily="34" charset="0"/>
                <a:ea typeface="Liter" pitchFamily="34" charset="-122"/>
                <a:cs typeface="Liter" pitchFamily="34" charset="-120"/>
              </a:rPr>
              <a:t>Targeted campaigns and personalized experiences per segment.</a:t>
            </a:r>
            <a:endParaRPr lang="en-US" sz="1200" dirty="0"/>
          </a:p>
        </p:txBody>
      </p:sp>
      <p:sp>
        <p:nvSpPr>
          <p:cNvPr id="61" name="Shape 59"/>
          <p:cNvSpPr/>
          <p:nvPr/>
        </p:nvSpPr>
        <p:spPr>
          <a:xfrm>
            <a:off x="10795000" y="7416800"/>
            <a:ext cx="4826000" cy="711200"/>
          </a:xfrm>
          <a:prstGeom prst="rect">
            <a:avLst/>
          </a:prstGeom>
          <a:solidFill>
            <a:srgbClr val="EBF0F7"/>
          </a:solidFill>
          <a:ln/>
        </p:spPr>
      </p:sp>
      <p:sp>
        <p:nvSpPr>
          <p:cNvPr id="62" name="Text 60"/>
          <p:cNvSpPr/>
          <p:nvPr/>
        </p:nvSpPr>
        <p:spPr>
          <a:xfrm>
            <a:off x="10896600" y="7493000"/>
            <a:ext cx="4622800" cy="558800"/>
          </a:xfrm>
          <a:prstGeom prst="rect">
            <a:avLst/>
          </a:prstGeom>
          <a:noFill/>
          <a:ln/>
        </p:spPr>
        <p:txBody>
          <a:bodyPr wrap="square" lIns="0" tIns="0" rIns="0" bIns="0" rtlCol="0" anchor="t"/>
          <a:lstStyle/>
          <a:p>
            <a:pPr algn="l">
              <a:lnSpc>
                <a:spcPct val="140000"/>
              </a:lnSpc>
            </a:pPr>
            <a:r>
              <a:rPr lang="en-US" sz="1200" b="1" dirty="0">
                <a:solidFill>
                  <a:srgbClr val="C9963B"/>
                </a:solidFill>
                <a:latin typeface="Liter" pitchFamily="34" charset="0"/>
                <a:ea typeface="Liter" pitchFamily="34" charset="-122"/>
                <a:cs typeface="Liter" pitchFamily="34" charset="-120"/>
              </a:rPr>
              <a:t>High Priority</a:t>
            </a:r>
            <a:endParaRPr lang="en-US" sz="1200" dirty="0"/>
          </a:p>
          <a:p>
            <a:pPr algn="l">
              <a:lnSpc>
                <a:spcPct val="140000"/>
              </a:lnSpc>
            </a:pPr>
            <a:r>
              <a:rPr lang="en-US" sz="1200" dirty="0">
                <a:solidFill>
                  <a:srgbClr val="2D2D2D"/>
                </a:solidFill>
                <a:latin typeface="Liter" pitchFamily="34" charset="0"/>
                <a:ea typeface="Liter" pitchFamily="34" charset="-122"/>
                <a:cs typeface="Liter" pitchFamily="34" charset="-120"/>
              </a:rPr>
              <a:t>Tools: Python, RFM</a:t>
            </a:r>
            <a:endParaRPr lang="en-US" sz="1200" dirty="0"/>
          </a:p>
        </p:txBody>
      </p:sp>
      <p:sp>
        <p:nvSpPr>
          <p:cNvPr id="63" name="Shape 61"/>
          <p:cNvSpPr/>
          <p:nvPr/>
        </p:nvSpPr>
        <p:spPr>
          <a:xfrm>
            <a:off x="635000" y="8331200"/>
            <a:ext cx="14986000" cy="12700"/>
          </a:xfrm>
          <a:prstGeom prst="rect">
            <a:avLst/>
          </a:prstGeom>
          <a:solidFill>
            <a:srgbClr val="D0D8E4"/>
          </a:solidFill>
          <a:ln/>
        </p:spPr>
      </p:sp>
      <p:sp>
        <p:nvSpPr>
          <p:cNvPr id="64" name="Text 62"/>
          <p:cNvSpPr/>
          <p:nvPr/>
        </p:nvSpPr>
        <p:spPr>
          <a:xfrm>
            <a:off x="15240000" y="8432800"/>
            <a:ext cx="762000" cy="279400"/>
          </a:xfrm>
          <a:prstGeom prst="rect">
            <a:avLst/>
          </a:prstGeom>
          <a:noFill/>
          <a:ln/>
        </p:spPr>
        <p:txBody>
          <a:bodyPr wrap="none" lIns="0" tIns="0" rIns="0" bIns="0" rtlCol="0" anchor="ctr"/>
          <a:lstStyle/>
          <a:p>
            <a:pPr algn="r">
              <a:lnSpc>
                <a:spcPct val="120000"/>
              </a:lnSpc>
            </a:pPr>
            <a:r>
              <a:rPr lang="en-US" sz="1200" dirty="0">
                <a:solidFill>
                  <a:srgbClr val="8899AA"/>
                </a:solidFill>
                <a:latin typeface="MiSans" pitchFamily="34" charset="0"/>
                <a:ea typeface="MiSans" pitchFamily="34" charset="-122"/>
                <a:cs typeface="MiSans" pitchFamily="34" charset="-120"/>
              </a:rPr>
              <a:t>29</a:t>
            </a:r>
            <a:endParaRPr lang="en-US" sz="1200" dirty="0"/>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1B3A6B"/>
          </a:solidFill>
          <a:ln/>
        </p:spPr>
      </p:sp>
      <p:sp>
        <p:nvSpPr>
          <p:cNvPr id="3" name="Shape 1"/>
          <p:cNvSpPr/>
          <p:nvPr/>
        </p:nvSpPr>
        <p:spPr>
          <a:xfrm>
            <a:off x="635000" y="127000"/>
            <a:ext cx="50800" cy="685800"/>
          </a:xfrm>
          <a:prstGeom prst="rect">
            <a:avLst/>
          </a:prstGeom>
          <a:solidFill>
            <a:srgbClr val="C9963B"/>
          </a:solidFill>
          <a:ln/>
        </p:spPr>
      </p:sp>
      <p:sp>
        <p:nvSpPr>
          <p:cNvPr id="4" name="Text 2"/>
          <p:cNvSpPr/>
          <p:nvPr/>
        </p:nvSpPr>
        <p:spPr>
          <a:xfrm>
            <a:off x="787400" y="152400"/>
            <a:ext cx="14605000" cy="635000"/>
          </a:xfrm>
          <a:prstGeom prst="rect">
            <a:avLst/>
          </a:prstGeom>
          <a:noFill/>
          <a:ln/>
        </p:spPr>
        <p:txBody>
          <a:bodyPr wrap="square" lIns="0" tIns="0" rIns="0" bIns="0" rtlCol="0" anchor="ctr"/>
          <a:lstStyle/>
          <a:p>
            <a:pPr algn="l">
              <a:lnSpc>
                <a:spcPct val="120000"/>
              </a:lnSpc>
            </a:pPr>
            <a:r>
              <a:rPr lang="en-US" sz="2000" b="1" dirty="0">
                <a:solidFill>
                  <a:srgbClr val="0F2647"/>
                </a:solidFill>
                <a:latin typeface="Sorts Mill Goudy" pitchFamily="34" charset="0"/>
                <a:ea typeface="Sorts Mill Goudy" pitchFamily="34" charset="-122"/>
                <a:cs typeface="Sorts Mill Goudy" pitchFamily="34" charset="-120"/>
              </a:rPr>
              <a:t>End-to-end retail analytics project successfully completed, delivering professional SQL-driven insights and interactive reporting</a:t>
            </a:r>
            <a:endParaRPr lang="en-US" sz="2000" dirty="0"/>
          </a:p>
        </p:txBody>
      </p:sp>
      <p:sp>
        <p:nvSpPr>
          <p:cNvPr id="5" name="Shape 3"/>
          <p:cNvSpPr/>
          <p:nvPr/>
        </p:nvSpPr>
        <p:spPr>
          <a:xfrm>
            <a:off x="635000" y="863600"/>
            <a:ext cx="14986000" cy="12700"/>
          </a:xfrm>
          <a:prstGeom prst="rect">
            <a:avLst/>
          </a:prstGeom>
          <a:solidFill>
            <a:srgbClr val="D0D8E4"/>
          </a:solidFill>
          <a:ln/>
        </p:spPr>
      </p:sp>
      <p:sp>
        <p:nvSpPr>
          <p:cNvPr id="6" name="Shape 4"/>
          <p:cNvSpPr/>
          <p:nvPr/>
        </p:nvSpPr>
        <p:spPr>
          <a:xfrm>
            <a:off x="635000" y="965200"/>
            <a:ext cx="7493000" cy="279400"/>
          </a:xfrm>
          <a:prstGeom prst="rect">
            <a:avLst/>
          </a:prstGeom>
          <a:solidFill>
            <a:srgbClr val="EBF0F7"/>
          </a:solidFill>
          <a:ln/>
        </p:spPr>
      </p:sp>
      <p:sp>
        <p:nvSpPr>
          <p:cNvPr id="7" name="Shape 5"/>
          <p:cNvSpPr/>
          <p:nvPr/>
        </p:nvSpPr>
        <p:spPr>
          <a:xfrm>
            <a:off x="635000" y="965200"/>
            <a:ext cx="38100" cy="279400"/>
          </a:xfrm>
          <a:prstGeom prst="rect">
            <a:avLst/>
          </a:prstGeom>
          <a:solidFill>
            <a:srgbClr val="C9963B"/>
          </a:solidFill>
          <a:ln/>
        </p:spPr>
      </p:sp>
      <p:sp>
        <p:nvSpPr>
          <p:cNvPr id="8" name="Text 6"/>
          <p:cNvSpPr/>
          <p:nvPr/>
        </p:nvSpPr>
        <p:spPr>
          <a:xfrm>
            <a:off x="736600" y="965200"/>
            <a:ext cx="7366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Project Summary</a:t>
            </a:r>
            <a:endParaRPr lang="en-US" sz="1300" dirty="0"/>
          </a:p>
        </p:txBody>
      </p:sp>
      <p:sp>
        <p:nvSpPr>
          <p:cNvPr id="9" name="Shape 7"/>
          <p:cNvSpPr/>
          <p:nvPr/>
        </p:nvSpPr>
        <p:spPr>
          <a:xfrm>
            <a:off x="635000" y="1320800"/>
            <a:ext cx="7493000" cy="1270000"/>
          </a:xfrm>
          <a:prstGeom prst="rect">
            <a:avLst/>
          </a:prstGeom>
          <a:solidFill>
            <a:srgbClr val="EBF0F7"/>
          </a:solidFill>
          <a:ln/>
        </p:spPr>
      </p:sp>
      <p:sp>
        <p:nvSpPr>
          <p:cNvPr id="10" name="Shape 8"/>
          <p:cNvSpPr/>
          <p:nvPr/>
        </p:nvSpPr>
        <p:spPr>
          <a:xfrm>
            <a:off x="635000" y="1320800"/>
            <a:ext cx="50800" cy="1270000"/>
          </a:xfrm>
          <a:prstGeom prst="rect">
            <a:avLst/>
          </a:prstGeom>
          <a:solidFill>
            <a:srgbClr val="1B3A6B"/>
          </a:solidFill>
          <a:ln/>
        </p:spPr>
      </p:sp>
      <p:sp>
        <p:nvSpPr>
          <p:cNvPr id="11" name="Text 9"/>
          <p:cNvSpPr/>
          <p:nvPr/>
        </p:nvSpPr>
        <p:spPr>
          <a:xfrm>
            <a:off x="787400" y="1397000"/>
            <a:ext cx="7188200" cy="279400"/>
          </a:xfrm>
          <a:prstGeom prst="rect">
            <a:avLst/>
          </a:prstGeom>
          <a:noFill/>
          <a:ln/>
        </p:spPr>
        <p:txBody>
          <a:bodyPr wrap="none" lIns="0" tIns="0" rIns="0" bIns="0" rtlCol="0" anchor="ctr"/>
          <a:lstStyle/>
          <a:p>
            <a:pPr algn="l">
              <a:lnSpc>
                <a:spcPct val="120000"/>
              </a:lnSpc>
            </a:pPr>
            <a:r>
              <a:rPr lang="en-US" sz="1500" b="1" dirty="0">
                <a:solidFill>
                  <a:srgbClr val="1B3A6B"/>
                </a:solidFill>
                <a:latin typeface="Sorts Mill Goudy" pitchFamily="34" charset="0"/>
                <a:ea typeface="Sorts Mill Goudy" pitchFamily="34" charset="-122"/>
                <a:cs typeface="Sorts Mill Goudy" pitchFamily="34" charset="-120"/>
              </a:rPr>
              <a:t>End-to-End Retail Analytics Completed</a:t>
            </a:r>
            <a:endParaRPr lang="en-US" sz="1500" dirty="0"/>
          </a:p>
        </p:txBody>
      </p:sp>
      <p:sp>
        <p:nvSpPr>
          <p:cNvPr id="12" name="Text 10"/>
          <p:cNvSpPr/>
          <p:nvPr/>
        </p:nvSpPr>
        <p:spPr>
          <a:xfrm>
            <a:off x="787400" y="1701800"/>
            <a:ext cx="7188200" cy="7874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Successfully built a complete analytics pipeline from raw data ingestion through SQL transformation to interactive Power BI dashboard delivery.</a:t>
            </a:r>
            <a:endParaRPr lang="en-US" sz="1300" dirty="0"/>
          </a:p>
        </p:txBody>
      </p:sp>
      <p:sp>
        <p:nvSpPr>
          <p:cNvPr id="13" name="Shape 11"/>
          <p:cNvSpPr/>
          <p:nvPr/>
        </p:nvSpPr>
        <p:spPr>
          <a:xfrm>
            <a:off x="635000" y="2717800"/>
            <a:ext cx="7493000" cy="1270000"/>
          </a:xfrm>
          <a:prstGeom prst="rect">
            <a:avLst/>
          </a:prstGeom>
          <a:solidFill>
            <a:srgbClr val="EBF0F7"/>
          </a:solidFill>
          <a:ln/>
        </p:spPr>
      </p:sp>
      <p:sp>
        <p:nvSpPr>
          <p:cNvPr id="14" name="Shape 12"/>
          <p:cNvSpPr/>
          <p:nvPr/>
        </p:nvSpPr>
        <p:spPr>
          <a:xfrm>
            <a:off x="635000" y="2717800"/>
            <a:ext cx="50800" cy="1270000"/>
          </a:xfrm>
          <a:prstGeom prst="rect">
            <a:avLst/>
          </a:prstGeom>
          <a:solidFill>
            <a:srgbClr val="C9963B"/>
          </a:solidFill>
          <a:ln/>
        </p:spPr>
      </p:sp>
      <p:sp>
        <p:nvSpPr>
          <p:cNvPr id="15" name="Text 13"/>
          <p:cNvSpPr/>
          <p:nvPr/>
        </p:nvSpPr>
        <p:spPr>
          <a:xfrm>
            <a:off x="787400" y="2794000"/>
            <a:ext cx="7188200" cy="279400"/>
          </a:xfrm>
          <a:prstGeom prst="rect">
            <a:avLst/>
          </a:prstGeom>
          <a:noFill/>
          <a:ln/>
        </p:spPr>
        <p:txBody>
          <a:bodyPr wrap="none" lIns="0" tIns="0" rIns="0" bIns="0" rtlCol="0" anchor="ctr"/>
          <a:lstStyle/>
          <a:p>
            <a:pPr algn="l">
              <a:lnSpc>
                <a:spcPct val="120000"/>
              </a:lnSpc>
            </a:pPr>
            <a:r>
              <a:rPr lang="en-US" sz="1500" b="1" dirty="0">
                <a:solidFill>
                  <a:srgbClr val="C9963B"/>
                </a:solidFill>
                <a:latin typeface="Sorts Mill Goudy" pitchFamily="34" charset="0"/>
                <a:ea typeface="Sorts Mill Goudy" pitchFamily="34" charset="-122"/>
                <a:cs typeface="Sorts Mill Goudy" pitchFamily="34" charset="-120"/>
              </a:rPr>
              <a:t>MySQL for Large-Scale Data Processing</a:t>
            </a:r>
            <a:endParaRPr lang="en-US" sz="1500" dirty="0"/>
          </a:p>
        </p:txBody>
      </p:sp>
      <p:sp>
        <p:nvSpPr>
          <p:cNvPr id="16" name="Text 14"/>
          <p:cNvSpPr/>
          <p:nvPr/>
        </p:nvSpPr>
        <p:spPr>
          <a:xfrm>
            <a:off x="787400" y="3098800"/>
            <a:ext cx="7188200" cy="7874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Demonstrated database design, bulk import, data cleaning, transformation, and complex analytical querying on production-scale datasets.</a:t>
            </a:r>
            <a:endParaRPr lang="en-US" sz="1300" dirty="0"/>
          </a:p>
        </p:txBody>
      </p:sp>
      <p:sp>
        <p:nvSpPr>
          <p:cNvPr id="17" name="Shape 15"/>
          <p:cNvSpPr/>
          <p:nvPr/>
        </p:nvSpPr>
        <p:spPr>
          <a:xfrm>
            <a:off x="635000" y="4114800"/>
            <a:ext cx="7493000" cy="1270000"/>
          </a:xfrm>
          <a:prstGeom prst="rect">
            <a:avLst/>
          </a:prstGeom>
          <a:solidFill>
            <a:srgbClr val="EBF0F7"/>
          </a:solidFill>
          <a:ln/>
        </p:spPr>
      </p:sp>
      <p:sp>
        <p:nvSpPr>
          <p:cNvPr id="18" name="Shape 16"/>
          <p:cNvSpPr/>
          <p:nvPr/>
        </p:nvSpPr>
        <p:spPr>
          <a:xfrm>
            <a:off x="635000" y="4114800"/>
            <a:ext cx="50800" cy="1270000"/>
          </a:xfrm>
          <a:prstGeom prst="rect">
            <a:avLst/>
          </a:prstGeom>
          <a:solidFill>
            <a:srgbClr val="1B3A6B"/>
          </a:solidFill>
          <a:ln/>
        </p:spPr>
      </p:sp>
      <p:sp>
        <p:nvSpPr>
          <p:cNvPr id="19" name="Text 17"/>
          <p:cNvSpPr/>
          <p:nvPr/>
        </p:nvSpPr>
        <p:spPr>
          <a:xfrm>
            <a:off x="787400" y="4191000"/>
            <a:ext cx="7188200" cy="279400"/>
          </a:xfrm>
          <a:prstGeom prst="rect">
            <a:avLst/>
          </a:prstGeom>
          <a:noFill/>
          <a:ln/>
        </p:spPr>
        <p:txBody>
          <a:bodyPr wrap="none" lIns="0" tIns="0" rIns="0" bIns="0" rtlCol="0" anchor="ctr"/>
          <a:lstStyle/>
          <a:p>
            <a:pPr algn="l">
              <a:lnSpc>
                <a:spcPct val="120000"/>
              </a:lnSpc>
            </a:pPr>
            <a:r>
              <a:rPr lang="en-US" sz="1500" b="1" dirty="0">
                <a:solidFill>
                  <a:srgbClr val="1B3A6B"/>
                </a:solidFill>
                <a:latin typeface="Sorts Mill Goudy" pitchFamily="34" charset="0"/>
                <a:ea typeface="Sorts Mill Goudy" pitchFamily="34" charset="-122"/>
                <a:cs typeface="Sorts Mill Goudy" pitchFamily="34" charset="-120"/>
              </a:rPr>
              <a:t>Power BI for Interactive Dashboards</a:t>
            </a:r>
            <a:endParaRPr lang="en-US" sz="1500" dirty="0"/>
          </a:p>
        </p:txBody>
      </p:sp>
      <p:sp>
        <p:nvSpPr>
          <p:cNvPr id="20" name="Text 18"/>
          <p:cNvSpPr/>
          <p:nvPr/>
        </p:nvSpPr>
        <p:spPr>
          <a:xfrm>
            <a:off x="787400" y="4495800"/>
            <a:ext cx="7188200" cy="7874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Created a professional four-page dashboard with DAX measures, dynamic filtering, and comprehensive visualizations for stakeholder reporting.</a:t>
            </a:r>
            <a:endParaRPr lang="en-US" sz="1300" dirty="0"/>
          </a:p>
        </p:txBody>
      </p:sp>
      <p:sp>
        <p:nvSpPr>
          <p:cNvPr id="21" name="Shape 19"/>
          <p:cNvSpPr/>
          <p:nvPr/>
        </p:nvSpPr>
        <p:spPr>
          <a:xfrm>
            <a:off x="635000" y="5511800"/>
            <a:ext cx="7493000" cy="1270000"/>
          </a:xfrm>
          <a:prstGeom prst="rect">
            <a:avLst/>
          </a:prstGeom>
          <a:solidFill>
            <a:srgbClr val="EBF0F7"/>
          </a:solidFill>
          <a:ln/>
        </p:spPr>
      </p:sp>
      <p:sp>
        <p:nvSpPr>
          <p:cNvPr id="22" name="Shape 20"/>
          <p:cNvSpPr/>
          <p:nvPr/>
        </p:nvSpPr>
        <p:spPr>
          <a:xfrm>
            <a:off x="635000" y="5511800"/>
            <a:ext cx="50800" cy="1270000"/>
          </a:xfrm>
          <a:prstGeom prst="rect">
            <a:avLst/>
          </a:prstGeom>
          <a:solidFill>
            <a:srgbClr val="C9963B"/>
          </a:solidFill>
          <a:ln/>
        </p:spPr>
      </p:sp>
      <p:sp>
        <p:nvSpPr>
          <p:cNvPr id="23" name="Text 21"/>
          <p:cNvSpPr/>
          <p:nvPr/>
        </p:nvSpPr>
        <p:spPr>
          <a:xfrm>
            <a:off x="787400" y="5588000"/>
            <a:ext cx="7188200" cy="279400"/>
          </a:xfrm>
          <a:prstGeom prst="rect">
            <a:avLst/>
          </a:prstGeom>
          <a:noFill/>
          <a:ln/>
        </p:spPr>
        <p:txBody>
          <a:bodyPr wrap="none" lIns="0" tIns="0" rIns="0" bIns="0" rtlCol="0" anchor="ctr"/>
          <a:lstStyle/>
          <a:p>
            <a:pPr algn="l">
              <a:lnSpc>
                <a:spcPct val="120000"/>
              </a:lnSpc>
            </a:pPr>
            <a:r>
              <a:rPr lang="en-US" sz="1500" b="1" dirty="0">
                <a:solidFill>
                  <a:srgbClr val="C9963B"/>
                </a:solidFill>
                <a:latin typeface="Sorts Mill Goudy" pitchFamily="34" charset="0"/>
                <a:ea typeface="Sorts Mill Goudy" pitchFamily="34" charset="-122"/>
                <a:cs typeface="Sorts Mill Goudy" pitchFamily="34" charset="-120"/>
              </a:rPr>
              <a:t>Business Insights from Transactions</a:t>
            </a:r>
            <a:endParaRPr lang="en-US" sz="1500" dirty="0"/>
          </a:p>
        </p:txBody>
      </p:sp>
      <p:sp>
        <p:nvSpPr>
          <p:cNvPr id="24" name="Text 22"/>
          <p:cNvSpPr/>
          <p:nvPr/>
        </p:nvSpPr>
        <p:spPr>
          <a:xfrm>
            <a:off x="787400" y="5892800"/>
            <a:ext cx="7188200" cy="787400"/>
          </a:xfrm>
          <a:prstGeom prst="rect">
            <a:avLst/>
          </a:prstGeom>
          <a:noFill/>
          <a:ln/>
        </p:spPr>
        <p:txBody>
          <a:bodyPr wrap="square" lIns="0" tIns="0" rIns="0" bIns="0" rtlCol="0" anchor="t"/>
          <a:lstStyle/>
          <a:p>
            <a:pPr algn="l">
              <a:lnSpc>
                <a:spcPct val="150000"/>
              </a:lnSpc>
            </a:pPr>
            <a:r>
              <a:rPr lang="en-US" sz="1300" dirty="0">
                <a:solidFill>
                  <a:srgbClr val="555555"/>
                </a:solidFill>
                <a:latin typeface="Liter" pitchFamily="34" charset="0"/>
                <a:ea typeface="Liter" pitchFamily="34" charset="-122"/>
                <a:cs typeface="Liter" pitchFamily="34" charset="-120"/>
              </a:rPr>
              <a:t>Extracted actionable insights on product performance, customer behavior, geographic trends, and seasonal patterns from retail data.</a:t>
            </a:r>
            <a:endParaRPr lang="en-US" sz="1300" dirty="0"/>
          </a:p>
        </p:txBody>
      </p:sp>
      <p:sp>
        <p:nvSpPr>
          <p:cNvPr id="25" name="Shape 23"/>
          <p:cNvSpPr/>
          <p:nvPr/>
        </p:nvSpPr>
        <p:spPr>
          <a:xfrm>
            <a:off x="8255000" y="965200"/>
            <a:ext cx="7366000" cy="279400"/>
          </a:xfrm>
          <a:prstGeom prst="rect">
            <a:avLst/>
          </a:prstGeom>
          <a:solidFill>
            <a:srgbClr val="EBF0F7"/>
          </a:solidFill>
          <a:ln/>
        </p:spPr>
      </p:sp>
      <p:sp>
        <p:nvSpPr>
          <p:cNvPr id="26" name="Shape 24"/>
          <p:cNvSpPr/>
          <p:nvPr/>
        </p:nvSpPr>
        <p:spPr>
          <a:xfrm>
            <a:off x="8255000" y="965200"/>
            <a:ext cx="38100" cy="279400"/>
          </a:xfrm>
          <a:prstGeom prst="rect">
            <a:avLst/>
          </a:prstGeom>
          <a:solidFill>
            <a:srgbClr val="C9963B"/>
          </a:solidFill>
          <a:ln/>
        </p:spPr>
      </p:sp>
      <p:sp>
        <p:nvSpPr>
          <p:cNvPr id="27" name="Text 25"/>
          <p:cNvSpPr/>
          <p:nvPr/>
        </p:nvSpPr>
        <p:spPr>
          <a:xfrm>
            <a:off x="8356600" y="965200"/>
            <a:ext cx="7239000" cy="279400"/>
          </a:xfrm>
          <a:prstGeom prst="rect">
            <a:avLst/>
          </a:prstGeom>
          <a:noFill/>
          <a:ln/>
        </p:spPr>
        <p:txBody>
          <a:bodyPr wrap="none" lIns="0" tIns="0" rIns="0" bIns="0" rtlCol="0" anchor="ctr"/>
          <a:lstStyle/>
          <a:p>
            <a:pPr algn="l">
              <a:lnSpc>
                <a:spcPct val="120000"/>
              </a:lnSpc>
            </a:pPr>
            <a:r>
              <a:rPr lang="en-US" sz="1300" b="1" dirty="0">
                <a:solidFill>
                  <a:srgbClr val="0F2647"/>
                </a:solidFill>
                <a:latin typeface="Liter" pitchFamily="34" charset="0"/>
                <a:ea typeface="Liter" pitchFamily="34" charset="-122"/>
                <a:cs typeface="Liter" pitchFamily="34" charset="-120"/>
              </a:rPr>
              <a:t>Final Outcome</a:t>
            </a:r>
            <a:endParaRPr lang="en-US" sz="1300" dirty="0"/>
          </a:p>
        </p:txBody>
      </p:sp>
      <p:sp>
        <p:nvSpPr>
          <p:cNvPr id="28" name="Shape 26"/>
          <p:cNvSpPr/>
          <p:nvPr/>
        </p:nvSpPr>
        <p:spPr>
          <a:xfrm>
            <a:off x="8318500" y="1320800"/>
            <a:ext cx="7239000" cy="2667000"/>
          </a:xfrm>
          <a:prstGeom prst="rect">
            <a:avLst/>
          </a:prstGeom>
          <a:solidFill>
            <a:srgbClr val="0F2647"/>
          </a:solidFill>
          <a:ln/>
        </p:spPr>
      </p:sp>
      <p:sp>
        <p:nvSpPr>
          <p:cNvPr id="29" name="Shape 27"/>
          <p:cNvSpPr/>
          <p:nvPr/>
        </p:nvSpPr>
        <p:spPr>
          <a:xfrm>
            <a:off x="8318500" y="1320800"/>
            <a:ext cx="7239000" cy="50800"/>
          </a:xfrm>
          <a:prstGeom prst="rect">
            <a:avLst/>
          </a:prstGeom>
          <a:solidFill>
            <a:srgbClr val="C9963B"/>
          </a:solidFill>
          <a:ln/>
        </p:spPr>
      </p:sp>
      <p:sp>
        <p:nvSpPr>
          <p:cNvPr id="30" name="Text 28"/>
          <p:cNvSpPr/>
          <p:nvPr/>
        </p:nvSpPr>
        <p:spPr>
          <a:xfrm>
            <a:off x="8534400" y="1498600"/>
            <a:ext cx="6832600" cy="381000"/>
          </a:xfrm>
          <a:prstGeom prst="rect">
            <a:avLst/>
          </a:prstGeom>
          <a:noFill/>
          <a:ln/>
        </p:spPr>
        <p:txBody>
          <a:bodyPr wrap="none" lIns="0" tIns="0" rIns="0" bIns="0" rtlCol="0" anchor="ctr"/>
          <a:lstStyle/>
          <a:p>
            <a:pPr algn="l">
              <a:lnSpc>
                <a:spcPct val="120000"/>
              </a:lnSpc>
            </a:pPr>
            <a:r>
              <a:rPr lang="en-US" sz="2000" b="1" dirty="0">
                <a:solidFill>
                  <a:srgbClr val="FFFFFF"/>
                </a:solidFill>
                <a:latin typeface="Sorts Mill Goudy" pitchFamily="34" charset="0"/>
                <a:ea typeface="Sorts Mill Goudy" pitchFamily="34" charset="-122"/>
                <a:cs typeface="Sorts Mill Goudy" pitchFamily="34" charset="-120"/>
              </a:rPr>
              <a:t>Project Deliverables</a:t>
            </a:r>
            <a:endParaRPr lang="en-US" sz="2000" dirty="0"/>
          </a:p>
        </p:txBody>
      </p:sp>
      <p:sp>
        <p:nvSpPr>
          <p:cNvPr id="31" name="Text 29"/>
          <p:cNvSpPr/>
          <p:nvPr/>
        </p:nvSpPr>
        <p:spPr>
          <a:xfrm>
            <a:off x="8534400" y="1981200"/>
            <a:ext cx="6832600" cy="1905000"/>
          </a:xfrm>
          <a:prstGeom prst="rect">
            <a:avLst/>
          </a:prstGeom>
          <a:noFill/>
          <a:ln/>
        </p:spPr>
        <p:txBody>
          <a:bodyPr wrap="square" lIns="0" tIns="0" rIns="0" bIns="0" rtlCol="0" anchor="t"/>
          <a:lstStyle/>
          <a:p>
            <a:pPr algn="l">
              <a:lnSpc>
                <a:spcPct val="170000"/>
              </a:lnSpc>
            </a:pPr>
            <a:r>
              <a:rPr lang="en-US" sz="1400" dirty="0">
                <a:solidFill>
                  <a:srgbClr val="FFFFFF">
                    <a:alpha val="80000"/>
                  </a:srgbClr>
                </a:solidFill>
                <a:latin typeface="Liter" pitchFamily="34" charset="0"/>
                <a:ea typeface="Liter" pitchFamily="34" charset="-122"/>
                <a:cs typeface="Liter" pitchFamily="34" charset="-120"/>
              </a:rPr>
              <a:t>■ Professional retail sales dashboard</a:t>
            </a:r>
            <a:endParaRPr lang="en-US" sz="1400" dirty="0"/>
          </a:p>
          <a:p>
            <a:pPr algn="l">
              <a:lnSpc>
                <a:spcPct val="170000"/>
              </a:lnSpc>
            </a:pPr>
            <a:r>
              <a:rPr lang="en-US" sz="1400" dirty="0">
                <a:solidFill>
                  <a:srgbClr val="FFFFFF">
                    <a:alpha val="80000"/>
                  </a:srgbClr>
                </a:solidFill>
                <a:latin typeface="Liter" pitchFamily="34" charset="0"/>
                <a:ea typeface="Liter" pitchFamily="34" charset="-122"/>
                <a:cs typeface="Liter" pitchFamily="34" charset="-120"/>
              </a:rPr>
              <a:t>■ Interactive reporting solution</a:t>
            </a:r>
            <a:endParaRPr lang="en-US" sz="1400" dirty="0"/>
          </a:p>
          <a:p>
            <a:pPr algn="l">
              <a:lnSpc>
                <a:spcPct val="170000"/>
              </a:lnSpc>
            </a:pPr>
            <a:r>
              <a:rPr lang="en-US" sz="1400" dirty="0">
                <a:solidFill>
                  <a:srgbClr val="FFFFFF">
                    <a:alpha val="80000"/>
                  </a:srgbClr>
                </a:solidFill>
                <a:latin typeface="Liter" pitchFamily="34" charset="0"/>
                <a:ea typeface="Liter" pitchFamily="34" charset="-122"/>
                <a:cs typeface="Liter" pitchFamily="34" charset="-120"/>
              </a:rPr>
              <a:t>■ Data-driven business analysis</a:t>
            </a:r>
            <a:endParaRPr lang="en-US" sz="1400" dirty="0"/>
          </a:p>
          <a:p>
            <a:pPr algn="l">
              <a:lnSpc>
                <a:spcPct val="170000"/>
              </a:lnSpc>
            </a:pPr>
            <a:r>
              <a:rPr lang="en-US" sz="1400" dirty="0">
                <a:solidFill>
                  <a:srgbClr val="FFFFFF">
                    <a:alpha val="80000"/>
                  </a:srgbClr>
                </a:solidFill>
                <a:latin typeface="Liter" pitchFamily="34" charset="0"/>
                <a:ea typeface="Liter" pitchFamily="34" charset="-122"/>
                <a:cs typeface="Liter" pitchFamily="34" charset="-120"/>
              </a:rPr>
              <a:t>■ Complete ETL documentation</a:t>
            </a:r>
            <a:endParaRPr lang="en-US" sz="1400" dirty="0"/>
          </a:p>
          <a:p>
            <a:pPr algn="l">
              <a:lnSpc>
                <a:spcPct val="170000"/>
              </a:lnSpc>
            </a:pPr>
            <a:r>
              <a:rPr lang="en-US" sz="1400" dirty="0">
                <a:solidFill>
                  <a:srgbClr val="FFFFFF">
                    <a:alpha val="80000"/>
                  </a:srgbClr>
                </a:solidFill>
                <a:latin typeface="Liter" pitchFamily="34" charset="0"/>
                <a:ea typeface="Liter" pitchFamily="34" charset="-122"/>
                <a:cs typeface="Liter" pitchFamily="34" charset="-120"/>
              </a:rPr>
              <a:t>■ SQL query library</a:t>
            </a:r>
            <a:endParaRPr lang="en-US" sz="1400" dirty="0"/>
          </a:p>
        </p:txBody>
      </p:sp>
      <p:sp>
        <p:nvSpPr>
          <p:cNvPr id="32" name="Text 30"/>
          <p:cNvSpPr/>
          <p:nvPr/>
        </p:nvSpPr>
        <p:spPr>
          <a:xfrm>
            <a:off x="8356600" y="4064000"/>
            <a:ext cx="7239000" cy="2794000"/>
          </a:xfrm>
          <a:prstGeom prst="rect">
            <a:avLst/>
          </a:prstGeom>
          <a:noFill/>
          <a:ln/>
        </p:spPr>
        <p:txBody>
          <a:bodyPr wrap="square" lIns="0" tIns="0" rIns="0" bIns="0" rtlCol="0" anchor="t"/>
          <a:lstStyle/>
          <a:p>
            <a:pPr algn="l">
              <a:lnSpc>
                <a:spcPct val="160000"/>
              </a:lnSpc>
            </a:pPr>
            <a:r>
              <a:rPr lang="en-US" sz="1400" b="1" dirty="0">
                <a:solidFill>
                  <a:srgbClr val="2D2D2D"/>
                </a:solidFill>
                <a:latin typeface="Liter" pitchFamily="34" charset="0"/>
                <a:ea typeface="Liter" pitchFamily="34" charset="-122"/>
                <a:cs typeface="Liter" pitchFamily="34" charset="-120"/>
              </a:rPr>
              <a:t>Key Learnings</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 Real-world data requires extensive cleaning before analysis</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 TSV format is more reliable than CSV for data transfer</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 Proper datatype assignment prevents downstream errors</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 DAX measures enable powerful dynamic calculations</a:t>
            </a:r>
            <a:endParaRPr lang="en-US" sz="1400" dirty="0"/>
          </a:p>
          <a:p>
            <a:pPr algn="l">
              <a:lnSpc>
                <a:spcPct val="160000"/>
              </a:lnSpc>
            </a:pPr>
            <a:r>
              <a:rPr lang="en-US" sz="1300" dirty="0">
                <a:solidFill>
                  <a:srgbClr val="555555"/>
                </a:solidFill>
                <a:latin typeface="Liter" pitchFamily="34" charset="0"/>
                <a:ea typeface="Liter" pitchFamily="34" charset="-122"/>
                <a:cs typeface="Liter" pitchFamily="34" charset="-120"/>
              </a:rPr>
              <a:t>■ Cross-page slicers create cohesive user experience</a:t>
            </a:r>
            <a:endParaRPr lang="en-US" sz="1400" dirty="0"/>
          </a:p>
        </p:txBody>
      </p:sp>
      <p:sp>
        <p:nvSpPr>
          <p:cNvPr id="33" name="Shape 31"/>
          <p:cNvSpPr/>
          <p:nvPr/>
        </p:nvSpPr>
        <p:spPr>
          <a:xfrm>
            <a:off x="635000" y="8331200"/>
            <a:ext cx="14986000" cy="12700"/>
          </a:xfrm>
          <a:prstGeom prst="rect">
            <a:avLst/>
          </a:prstGeom>
          <a:solidFill>
            <a:srgbClr val="D0D8E4"/>
          </a:solidFill>
          <a:ln/>
        </p:spPr>
      </p:sp>
      <p:sp>
        <p:nvSpPr>
          <p:cNvPr id="34" name="Text 32"/>
          <p:cNvSpPr/>
          <p:nvPr/>
        </p:nvSpPr>
        <p:spPr>
          <a:xfrm>
            <a:off x="15240000" y="8432800"/>
            <a:ext cx="762000" cy="279400"/>
          </a:xfrm>
          <a:prstGeom prst="rect">
            <a:avLst/>
          </a:prstGeom>
          <a:noFill/>
          <a:ln/>
        </p:spPr>
        <p:txBody>
          <a:bodyPr wrap="none" lIns="0" tIns="0" rIns="0" bIns="0" rtlCol="0" anchor="ctr"/>
          <a:lstStyle/>
          <a:p>
            <a:pPr algn="r">
              <a:lnSpc>
                <a:spcPct val="120000"/>
              </a:lnSpc>
            </a:pPr>
            <a:r>
              <a:rPr lang="en-US" sz="1200" dirty="0">
                <a:solidFill>
                  <a:srgbClr val="8899AA"/>
                </a:solidFill>
                <a:latin typeface="MiSans" pitchFamily="34" charset="0"/>
                <a:ea typeface="MiSans" pitchFamily="34" charset="-122"/>
                <a:cs typeface="MiSans" pitchFamily="34" charset="-120"/>
              </a:rPr>
              <a:t>30</a:t>
            </a:r>
            <a:endParaRPr lang="en-US" sz="1200" dirty="0"/>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00"/>
            <a:ext cx="16256000" cy="9321801"/>
          </a:xfrm>
          <a:prstGeom prst="rect">
            <a:avLst/>
          </a:prstGeom>
          <a:solidFill>
            <a:srgbClr val="0F2647"/>
          </a:solidFill>
          <a:ln/>
        </p:spPr>
        <p:txBody>
          <a:bodyPr/>
          <a:lstStyle/>
          <a:p>
            <a:endParaRPr lang="en-IN" dirty="0"/>
          </a:p>
        </p:txBody>
      </p:sp>
      <p:sp>
        <p:nvSpPr>
          <p:cNvPr id="3" name="Shape 1"/>
          <p:cNvSpPr/>
          <p:nvPr/>
        </p:nvSpPr>
        <p:spPr>
          <a:xfrm>
            <a:off x="0" y="0"/>
            <a:ext cx="8940800" cy="63500"/>
          </a:xfrm>
          <a:prstGeom prst="rect">
            <a:avLst/>
          </a:prstGeom>
          <a:solidFill>
            <a:srgbClr val="C9963B"/>
          </a:solidFill>
          <a:ln/>
        </p:spPr>
      </p:sp>
      <p:sp>
        <p:nvSpPr>
          <p:cNvPr id="4" name="Text 2"/>
          <p:cNvSpPr/>
          <p:nvPr/>
        </p:nvSpPr>
        <p:spPr>
          <a:xfrm>
            <a:off x="888999" y="2285999"/>
            <a:ext cx="14112103" cy="4360220"/>
          </a:xfrm>
          <a:prstGeom prst="rect">
            <a:avLst/>
          </a:prstGeom>
          <a:noFill/>
          <a:ln/>
        </p:spPr>
        <p:txBody>
          <a:bodyPr wrap="square" lIns="0" tIns="0" rIns="0" bIns="0" rtlCol="0" anchor="ctr"/>
          <a:lstStyle/>
          <a:p>
            <a:pPr algn="ctr">
              <a:lnSpc>
                <a:spcPct val="120000"/>
              </a:lnSpc>
            </a:pPr>
            <a:r>
              <a:rPr lang="en-US" sz="10000" b="1" dirty="0">
                <a:solidFill>
                  <a:srgbClr val="FFFFFF"/>
                </a:solidFill>
                <a:latin typeface="Sorts Mill Goudy" pitchFamily="34" charset="0"/>
                <a:ea typeface="Sorts Mill Goudy" pitchFamily="34" charset="-122"/>
                <a:cs typeface="Sorts Mill Goudy" pitchFamily="34" charset="-120"/>
              </a:rPr>
              <a:t>Thank You</a:t>
            </a:r>
            <a:endParaRPr lang="en-US" sz="10000" dirty="0"/>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3117</Words>
  <Application>Microsoft Office PowerPoint</Application>
  <PresentationFormat>Custom</PresentationFormat>
  <Paragraphs>486</Paragraphs>
  <Slides>31</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Liter</vt:lpstr>
      <vt:lpstr>MiSans</vt:lpstr>
      <vt:lpstr>Sorts Mill Goudy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Sales Analysis and Interactive Dashboard Development</dc:title>
  <dc:subject>Retail Sales Analysis and Interactive Dashboard Development</dc:subject>
  <dc:creator>Kimi</dc:creator>
  <cp:lastModifiedBy>praveena relangi</cp:lastModifiedBy>
  <cp:revision>2</cp:revision>
  <dcterms:created xsi:type="dcterms:W3CDTF">2026-06-13T19:23:33Z</dcterms:created>
  <dcterms:modified xsi:type="dcterms:W3CDTF">2026-06-13T20:34:12Z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{"Label":"Retail Sales Analysis and Interactive Dashboard Development","ContentProducer":"001191110108MACG2KBH8F10000","ProduceID":"19ec24b0-d512-8bab-8000-0000dcca670e","ReservedCode1":"","ContentPropagator":"001191110108MACG2KBH8F20000","PropagateID":"19ec2478-ca82-82b4-8000-0986f75deafb","ReservedCode2":""}</vt:lpwstr>
  </property>
</Properties>
</file>