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6" r:id="rId17"/>
    <p:sldId id="271" r:id="rId18"/>
    <p:sldId id="272" r:id="rId19"/>
    <p:sldId id="273" r:id="rId20"/>
    <p:sldId id="274" r:id="rId2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2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8798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9144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2515895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8957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9144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714842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285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4245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7465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66481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3632"/>
            <a:ext cx="3291840" cy="130302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220"/>
            <a:ext cx="4258818" cy="388848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3129"/>
            <a:ext cx="3291840" cy="282172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86088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71552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5869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1500"/>
            <a:ext cx="1971675" cy="405765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1500"/>
            <a:ext cx="5686425" cy="40576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7543800" y="44447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16226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994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7290055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3028"/>
            <a:ext cx="1615607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8A87A34-81AB-432B-8DAE-1953F412C126}" type="datetimeFigureOut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3028"/>
            <a:ext cx="4426094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3028"/>
            <a:ext cx="730250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5564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2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2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2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2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2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2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2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2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0"/>
            <a:ext cx="7315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18872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3017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CBD5E0"/>
                </a:solidFill>
              </a:rPr>
              <a:t>PROJECT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kern="0" spc="400" dirty="0">
                <a:solidFill>
                  <a:srgbClr val="CBD5E0"/>
                </a:solidFill>
              </a:rPr>
              <a:t>PRESENTATION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794760" y="82296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Airlines Performance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794760" y="1572768"/>
            <a:ext cx="5166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Delay Analysis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3794760" y="2304288"/>
            <a:ext cx="4114800" cy="274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94760" y="242316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0"/>
                </a:solidFill>
              </a:rPr>
              <a:t>Large-Scale Data Analytics using MySQL &amp; Power BI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94760" y="2971800"/>
            <a:ext cx="48463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77640" y="3008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</a:rPr>
              <a:t>Dataset: 5.8M Records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794760" y="3456432"/>
            <a:ext cx="48463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77640" y="3493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</a:rPr>
              <a:t>Tools: MySQL | Power BI | Git Bash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794760" y="3941064"/>
            <a:ext cx="48463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7764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</a:rPr>
              <a:t>Domain: Aviation Analytics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794760" y="46634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CE6CFBC2-393A-B2C6-BD0B-F67BAA952E93}"/>
              </a:ext>
            </a:extLst>
          </p:cNvPr>
          <p:cNvSpPr txBox="1"/>
          <p:nvPr/>
        </p:nvSpPr>
        <p:spPr>
          <a:xfrm>
            <a:off x="429064" y="525313"/>
            <a:ext cx="45720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Project Overview</a:t>
            </a:r>
          </a:p>
          <a:p>
            <a:pPr>
              <a:buNone/>
            </a:pP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  <a:p>
            <a:pPr>
              <a:buNone/>
            </a:pP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  <a:p>
            <a:pPr>
              <a:buNone/>
            </a:pPr>
            <a:r>
              <a:rPr lang="en-IN" b="1" dirty="0">
                <a:solidFill>
                  <a:schemeClr val="bg2">
                    <a:lumMod val="90000"/>
                  </a:schemeClr>
                </a:solidFill>
              </a:rPr>
              <a:t>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bg2">
                    <a:lumMod val="90000"/>
                  </a:schemeClr>
                </a:solidFill>
              </a:rPr>
              <a:t>Analyze</a:t>
            </a:r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 large-scale retail sales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Clean and transform raw transaction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Perform business analysis using 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Build interactive dashboards in Power BI</a:t>
            </a:r>
          </a:p>
          <a:p>
            <a:pPr>
              <a:buNone/>
            </a:pPr>
            <a:endParaRPr lang="en-IN" b="1" dirty="0">
              <a:solidFill>
                <a:schemeClr val="bg2">
                  <a:lumMod val="90000"/>
                </a:schemeClr>
              </a:solidFill>
            </a:endParaRPr>
          </a:p>
          <a:p>
            <a:pPr>
              <a:buNone/>
            </a:pPr>
            <a:r>
              <a:rPr lang="en-IN" b="1" dirty="0">
                <a:solidFill>
                  <a:schemeClr val="bg2">
                    <a:lumMod val="90000"/>
                  </a:schemeClr>
                </a:solidFill>
              </a:rPr>
              <a:t>Key Deliverables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SQL-based retail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Power BI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Customer and product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Geographic sales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</a:rPr>
              <a:t>Why this project matters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029200" cy="3566160"/>
          </a:xfrm>
          <a:prstGeom prst="rect">
            <a:avLst/>
          </a:prstGeom>
          <a:solidFill>
            <a:srgbClr val="0D3B6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344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</a:rPr>
              <a:t>The Challenge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46634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airlines generate millions of flight records daily — manually analyzing this data is impossible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&amp; cancellations cost airlines and passengers billions of dollars annually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visibility into which airlines, routes, or seasons perform worst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dataset (5.8M rows) cannot be processed in Excel or loaded directly into databases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root causes (weather, NAS, security, airline) are not easily distinguishable without proper analytics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14300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0" y="1143000"/>
            <a:ext cx="1645920" cy="2011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39903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65C0"/>
                </a:solidFill>
              </a:rPr>
              <a:t>5.8M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0" y="20391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</a:rPr>
              <a:t>Flight Records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52360" y="114300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52360" y="1143000"/>
            <a:ext cx="1645920" cy="2011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139903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65C0"/>
                </a:solidFill>
              </a:rPr>
              <a:t>~$33B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52360" y="20391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</a:rPr>
              <a:t>Annual Delay Cost (US)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278892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2788920"/>
            <a:ext cx="1645920" cy="2011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304495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65C0"/>
                </a:solidFill>
              </a:rPr>
              <a:t>3 CSVs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669280" y="36850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</a:rPr>
              <a:t>Raw Source Files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52360" y="278892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52360" y="2788920"/>
            <a:ext cx="1645920" cy="2011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304495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65C0"/>
                </a:solidFill>
              </a:rPr>
              <a:t>5 Types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52360" y="36850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</a:rPr>
              <a:t>Delay Categories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</a:rPr>
              <a:t>Speaker Note: Explain that this project solves a real-world big data problem faced by aviation analytics teams.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</a:rPr>
              <a:t>What this project aims to achieve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64008" cy="11155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" y="1362456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" y="1458468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52728" y="115214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Analyze Airline Performance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52728" y="1499616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flight operations, punctuality, and performance KPIs across all US airlines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07899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078992"/>
            <a:ext cx="64008" cy="111556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01184" y="1362456"/>
            <a:ext cx="548640" cy="54864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196" y="1458468"/>
            <a:ext cx="356616" cy="3566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96128" y="115214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Identify Delay Patterns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596128" y="1499616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delay trends by airline, month, route, and classify by delay cause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20040" y="2340864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2340864"/>
            <a:ext cx="64008" cy="111556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57784" y="2624328"/>
            <a:ext cx="548640" cy="54864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" y="2720340"/>
            <a:ext cx="356616" cy="35661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52728" y="241401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Handle Large-Scale Data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252728" y="2761488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Efficiently process 5.8M records using Git Bash splitting and MySQL optimizations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663440" y="2340864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63440" y="2340864"/>
            <a:ext cx="64008" cy="11155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901184" y="2624328"/>
            <a:ext cx="548640" cy="54864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196" y="2720340"/>
            <a:ext cx="356616" cy="35661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96128" y="241401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Build Interactive Dashboards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596128" y="2761488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Power BI reports with KPI cards, charts, maps, and slicers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20040" y="360273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0040" y="3602736"/>
            <a:ext cx="64008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57784" y="388620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" y="3982212"/>
            <a:ext cx="356616" cy="35661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252728" y="367588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Data Relationship Modeling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1252728" y="402336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flights, airports &amp; airlines tables using one-to-many cardinality in Power BI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4663440" y="360273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663440" y="3602736"/>
            <a:ext cx="64008" cy="1115568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4901184" y="3886200"/>
            <a:ext cx="548640" cy="548640"/>
          </a:xfrm>
          <a:prstGeom prst="ellipse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7196" y="3982212"/>
            <a:ext cx="356616" cy="35661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596128" y="367588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Derive Business Insights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5596128" y="402336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actionable insights on cancellations, peak delay seasons, and worst performers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</a:rPr>
              <a:t>Technology stack for this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8503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73152" cy="667512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156716"/>
            <a:ext cx="512064" cy="512064"/>
          </a:xfrm>
          <a:prstGeom prst="ellipse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" y="1246327"/>
            <a:ext cx="332842" cy="33284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1338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Git Bash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188720" y="1444752"/>
            <a:ext cx="155448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E05D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1444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D44"/>
                </a:solidFill>
              </a:rPr>
              <a:t>CSV File Splitting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017520" y="1188720"/>
            <a:ext cx="5623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</a:rPr>
              <a:t>Split 5.8M row CSV into 6 parts of ~1M rows each using shell commands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80360" y="1170432"/>
            <a:ext cx="18288" cy="4846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1837944"/>
            <a:ext cx="8503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1837944"/>
            <a:ext cx="73152" cy="667512"/>
          </a:xfrm>
          <a:prstGeom prst="rect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1915668"/>
            <a:ext cx="512064" cy="512064"/>
          </a:xfrm>
          <a:prstGeom prst="ellipse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" y="2005279"/>
            <a:ext cx="332842" cy="33284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88720" y="1892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MySQL Server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1188720" y="2203704"/>
            <a:ext cx="155448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758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188720" y="220370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58F"/>
                </a:solidFill>
              </a:rPr>
              <a:t>Data Storage &amp; Querying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017520" y="1947672"/>
            <a:ext cx="5623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</a:rPr>
              <a:t>MySQL 9.6 — stored and queried the entire 5.8M row dataset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2880360" y="1929384"/>
            <a:ext cx="18288" cy="4846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20040" y="2596896"/>
            <a:ext cx="8503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20040" y="2596896"/>
            <a:ext cx="73152" cy="667512"/>
          </a:xfrm>
          <a:prstGeom prst="rect">
            <a:avLst/>
          </a:prstGeom>
          <a:solidFill>
            <a:srgbClr val="F29111"/>
          </a:solidFill>
          <a:ln w="12700">
            <a:solidFill>
              <a:srgbClr val="F29111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02920" y="2674620"/>
            <a:ext cx="512064" cy="512064"/>
          </a:xfrm>
          <a:prstGeom prst="ellipse">
            <a:avLst/>
          </a:prstGeom>
          <a:solidFill>
            <a:srgbClr val="F29111"/>
          </a:solidFill>
          <a:ln w="12700">
            <a:solidFill>
              <a:srgbClr val="F29111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" y="2764231"/>
            <a:ext cx="332842" cy="33284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8872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MySQL Workbench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1188720" y="2962656"/>
            <a:ext cx="155448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F29111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188720" y="296265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9111"/>
                </a:solidFill>
              </a:rPr>
              <a:t>DB Management UI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3017520" y="2706624"/>
            <a:ext cx="5623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</a:rPr>
              <a:t>Visual SQL editor with timeout configuration for large queries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2880360" y="2688336"/>
            <a:ext cx="18288" cy="4846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20040" y="3355848"/>
            <a:ext cx="8503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320040" y="3355848"/>
            <a:ext cx="73152" cy="667512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02920" y="3433572"/>
            <a:ext cx="512064" cy="512064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31" y="3523183"/>
            <a:ext cx="332842" cy="33284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188720" y="3410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Power BI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1188720" y="3721608"/>
            <a:ext cx="155448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1188720" y="372160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C811"/>
                </a:solidFill>
              </a:rPr>
              <a:t>Dashboard &amp; Visualization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3017520" y="3465576"/>
            <a:ext cx="5623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</a:rPr>
              <a:t>DAX measures, data modeling, KPI cards, charts, and map visuals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2880360" y="3447288"/>
            <a:ext cx="18288" cy="4846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320040" y="4114800"/>
            <a:ext cx="8503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320040" y="4114800"/>
            <a:ext cx="73152" cy="667512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502920" y="4192524"/>
            <a:ext cx="512064" cy="512064"/>
          </a:xfrm>
          <a:prstGeom prst="ellipse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531" y="4282135"/>
            <a:ext cx="332842" cy="332842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1188720" y="4169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</a:rPr>
              <a:t>CSV Files</a:t>
            </a:r>
            <a:endParaRPr lang="en-US" sz="1400" dirty="0"/>
          </a:p>
        </p:txBody>
      </p:sp>
      <p:sp>
        <p:nvSpPr>
          <p:cNvPr id="47" name="Shape 40"/>
          <p:cNvSpPr/>
          <p:nvPr/>
        </p:nvSpPr>
        <p:spPr>
          <a:xfrm>
            <a:off x="1188720" y="4480560"/>
            <a:ext cx="155448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1188720" y="44805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8BB78"/>
                </a:solidFill>
              </a:rPr>
              <a:t>Source Data Format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3017520" y="4224528"/>
            <a:ext cx="5623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</a:rPr>
              <a:t>flights.csv (5.8M rows), airports.csv, airlines.csv as raw inputs</a:t>
            </a:r>
            <a:endParaRPr lang="en-US" sz="1200" dirty="0"/>
          </a:p>
        </p:txBody>
      </p:sp>
      <p:sp>
        <p:nvSpPr>
          <p:cNvPr id="50" name="Shape 43"/>
          <p:cNvSpPr/>
          <p:nvPr/>
        </p:nvSpPr>
        <p:spPr>
          <a:xfrm>
            <a:off x="2880360" y="4206240"/>
            <a:ext cx="18288" cy="4846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Information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</a:rPr>
              <a:t>Source data used in this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2697480" cy="50292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97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flights.csv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581912"/>
            <a:ext cx="269748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62763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</a:rPr>
              <a:t>Rows: ~5.8 Million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162763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</a:rPr>
              <a:t>Cols: 31 Columns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21214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Key Columns: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2395728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YEAR, MONTH, DAY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AIRLINE, FLIGHT_NUMBER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ORIGIN / DESTINATION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DEPARTURE / ARRIVAL DELAY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CANCELLATION_REASON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DELAY TYPES (5 categories)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72968" y="1078992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078992"/>
            <a:ext cx="2697480" cy="5029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2696" y="1097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airports.csv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172968" y="1581912"/>
            <a:ext cx="269748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82696" y="162763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55A"/>
                </a:solidFill>
              </a:rPr>
              <a:t>Rows: ~322 Airports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44568" y="162763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55A"/>
                </a:solidFill>
              </a:rPr>
              <a:t>Cols: 7 Columns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82696" y="21214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Key Columns: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82696" y="2395728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IATA_CODE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AIRPORT Name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CITY, STATE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COUNTRY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LATITUDE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LONGITUDE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25896" y="1078992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25896" y="1078992"/>
            <a:ext cx="2697480" cy="502920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35624" y="1097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airlines.csv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25896" y="1581912"/>
            <a:ext cx="269748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35624" y="162763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05AD5"/>
                </a:solidFill>
              </a:rPr>
              <a:t>Rows: ~14 Airlines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97496" y="162763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05AD5"/>
                </a:solidFill>
              </a:rPr>
              <a:t>Cols: 2 Columns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35624" y="21214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Key Columns: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35624" y="2395728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IATA_CODE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AIRLINE Name (Full)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590288"/>
            <a:ext cx="8503920" cy="365760"/>
          </a:xfrm>
          <a:prstGeom prst="rect">
            <a:avLst/>
          </a:prstGeom>
          <a:solidFill>
            <a:srgbClr val="FFF3C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4617720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56404"/>
                </a:solidFill>
              </a:rPr>
              <a:t>⚠  Primary challenge: flights.csv (5.8M rows) could NOT be opened in Excel or directly imported into MySQL — required Git Bash preprocessing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&amp;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</a:rPr>
              <a:t>End-to-end data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2728" y="1595628"/>
            <a:ext cx="109728" cy="5486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4401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0"/>
                </a:solidFill>
              </a:rPr>
              <a:t>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914400" cy="9601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1795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3716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Files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7099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flights.csv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airports.csv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airlines.csv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31720" y="1595628"/>
            <a:ext cx="109728" cy="5486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14401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0"/>
                </a:solidFill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99032" y="1143000"/>
            <a:ext cx="914400" cy="96012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99032" y="11795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99032" y="13716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99032" y="17099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Split + Header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Processing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10712" y="1595628"/>
            <a:ext cx="109728" cy="5486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38144" y="14401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0"/>
                </a:solidFill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478024" y="1143000"/>
            <a:ext cx="914400" cy="9601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78024" y="11795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78024" y="13716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Server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78024" y="17099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Table Design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&amp; LOAD DATA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89704" y="1595628"/>
            <a:ext cx="109728" cy="5486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14401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0"/>
                </a:solidFill>
              </a:rPr>
              <a:t>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557016" y="1143000"/>
            <a:ext cx="914400" cy="9601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557016" y="11795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57016" y="13716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57016" y="17099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NULL Handling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Date Conversion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68696" y="1595628"/>
            <a:ext cx="109728" cy="5486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96128" y="14401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0"/>
                </a:solidFill>
              </a:rPr>
              <a:t>›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636008" y="1143000"/>
            <a:ext cx="914400" cy="96012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36008" y="11795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36008" y="13716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36008" y="17099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Queries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VIEW Creation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47688" y="1595628"/>
            <a:ext cx="109728" cy="5486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14401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0"/>
                </a:solidFill>
              </a:rPr>
              <a:t>›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715000" y="1143000"/>
            <a:ext cx="914400" cy="9601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715000" y="11795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06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15000" y="13716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15000" y="17099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INTO OUTFILE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with headers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726680" y="1595628"/>
            <a:ext cx="109728" cy="5486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54112" y="14401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0"/>
                </a:solidFill>
              </a:rPr>
              <a:t>›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6793992" y="1143000"/>
            <a:ext cx="914400" cy="96012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793992" y="11795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07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93992" y="13716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93992" y="17099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Data 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+ DAX Measures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872984" y="1143000"/>
            <a:ext cx="914400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872984" y="11795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08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872984" y="13716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872984" y="17099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KPIs + Charts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+ Map Visuals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20040" y="21945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</a:rPr>
              <a:t>3 CSVs (5.8M rows)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399032" y="21945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</a:rPr>
              <a:t>6 × 1M row files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478024" y="21945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</a:rPr>
              <a:t>31-column table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557016" y="21945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</a:rPr>
              <a:t>Clean &amp; enrich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636008" y="21945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</a:rPr>
              <a:t>Analysis queries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715000" y="21945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</a:rPr>
              <a:t>flightsoutput.csv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793992" y="21945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</a:rPr>
              <a:t>DAX + relations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872984" y="21945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</a:rPr>
              <a:t>Business insights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0040" y="2926080"/>
            <a:ext cx="8503920" cy="502920"/>
          </a:xfrm>
          <a:prstGeom prst="rect">
            <a:avLst/>
          </a:prstGeom>
          <a:solidFill>
            <a:srgbClr val="0D3B6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57200" y="298094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Technologies: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188720" y="2999232"/>
            <a:ext cx="137160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88720" y="2999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Git Bash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200400" y="2999232"/>
            <a:ext cx="137160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0" y="2999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MySQL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120640" y="2999232"/>
            <a:ext cx="137160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0640" y="2999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SQL Queries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858000" y="2999232"/>
            <a:ext cx="137160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58000" y="2999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Power BI + DAX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20040" y="46177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</a:rPr>
              <a:t>Speaker Note: Walk through each step — emphasize that Git Bash was needed because Excel/MySQL couldn't handle 5.8M rows natively.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— Git Bash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</a:rPr>
              <a:t>Handling the 5.8M row CSV file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52144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7043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152144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</a:rPr>
              <a:t>Install Git Bash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517904"/>
            <a:ext cx="397764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5361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 from https://git-scm.com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965960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</a:rPr>
              <a:t>Required to run Unix-style shell commands on Windows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07899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152144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17043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57800" y="1152144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</a:rPr>
              <a:t>Move CSV to MySQL Uploads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1517904"/>
            <a:ext cx="397764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5361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C:/ProgramData/MySQL/MySQL Server 9.6/Uploads/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1965960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</a:rPr>
              <a:t>Required for secure MySQL LOAD DATA INFILE access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450592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46888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245059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</a:rPr>
              <a:t>Split CSV into 1M-row chunks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2816352"/>
            <a:ext cx="397764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 -l 1000000 flights.csv flights_part_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264408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</a:rPr>
              <a:t>Generates: flights_part_aa, ab, ac, ad, ae, af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37744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2450592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46888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57800" y="245059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</a:rPr>
              <a:t>Add .csv extension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2816352"/>
            <a:ext cx="397764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file in flights_part_*; do mv "$file" "$file.csv"; done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3264408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</a:rPr>
              <a:t>Renames all split files with .csv extension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675888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1480" y="3749040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76732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68680" y="374904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</a:rPr>
              <a:t>Extract &amp; add header row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1480" y="4114800"/>
            <a:ext cx="397764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" y="41330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-n 1 flights.csv &gt; header.csv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file in flights_part_*.csv; do cat header.csv "$file" &gt; temp &amp;&amp; mv temp "$file"; done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4562856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</a:rPr>
              <a:t>Each chunk needs column headers for MySQL import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3675888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3749040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76732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257800" y="374904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</a:rPr>
              <a:t>Remove duplicate header (first chunk)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00600" y="4114800"/>
            <a:ext cx="397764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73752" y="41330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-n +2 flights_part_aa.csv &gt; temp &amp;&amp; mv temp flights_part_aa.csv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00600" y="4562856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</a:rPr>
              <a:t>aa already had header — this removes the duplicate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Data Import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</a:rPr>
              <a:t>MySQL table creation and LOAD DATA INFILE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4846320" cy="379476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48463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7899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 TABLE flights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airline_project;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airline_project;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flights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 INT, MONTH INT, DAY INT,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DAY_OF_WEEK INT,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AIRLINE VARCHAR(10),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FLIGHT_NUMBER INT,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TAIL_NUMBER VARCHAR(20),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ORIGIN_AIRPORT VARCHAR(10),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DESTINATION_AIRPORT VARCHAR(10),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DEPARTURE_DELAY VARCHAR(10),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ARRIVAL_DELAY VARCHAR(10),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CANCELLED INT,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CANCELLATION_REASON VARCHAR(5),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AIR_SYSTEM_DELAY VARCHAR(10),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SECURITY_DELAY VARCHAR(10),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AIRLINE_DELAY VARCHAR(10),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LATE_AIRCRAFT_DELAY VARCHAR(10),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WEATHER_DELAY VARCHAR(10),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DISTANCE INT,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...31 columns total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49240" y="1078992"/>
            <a:ext cx="3474720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49240" y="1078992"/>
            <a:ext cx="34747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1078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 DATA INFILE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1481328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DATA INFILE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'C:/ProgramData/MySQL/...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/flights_part_aa.csv'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 TABLE flights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 TERMINATED BY ','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IGNORE 1 ROWS;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Repeated for: aa ab ac ad ae af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49240" y="2953512"/>
            <a:ext cx="34747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68112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E"/>
                </a:solidFill>
              </a:rPr>
              <a:t>Key Implementation Notes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68112" y="3401568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31-column schema designed to match CSV headers exactly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All delay columns stored as VARCHAR to handle empty strings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LOAD DATA INFILE used for bulk import performance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secure_file_priv verified before import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Process repeated 6 times (aa → af) for all chunks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Process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</a:rPr>
              <a:t>Ensuring data quality for accurate 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27432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Add FLIGHT_DATE Column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527048"/>
            <a:ext cx="2560320" cy="237744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572768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flights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COLUMN FLIGHT_DATE DATE;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flights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FLIGHT_DATE = STR_TO_DATE(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CONCAT(YEAR,'-',MONTH,'-',DAY),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'%Y-%m-%d'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MONTH = 1 AND DAY BETWEEN 1 AND 3;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3959352"/>
            <a:ext cx="2560320" cy="804672"/>
          </a:xfrm>
          <a:prstGeom prst="rect">
            <a:avLst/>
          </a:prstGeom>
          <a:solidFill>
            <a:srgbClr val="00000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" y="400507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02C"/>
                </a:solidFill>
              </a:rPr>
              <a:t>Run in monthly chunks to avoid timeout. Settings changed: read timeout → 600s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27832" y="1078992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1078992"/>
            <a:ext cx="274320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097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Handle NULL Values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19272" y="1527048"/>
            <a:ext cx="2560320" cy="237744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92424" y="1572768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flights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DEPARTURE_DELAY = NULL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DEPARTURE_DELAY = '';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Repeated for: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ARRIVAL_DELAY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AIRLINE_DELAY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WEATHER_DELAY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SECURITY_DELAY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AIR_SYSTEM_DELAY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19272" y="3959352"/>
            <a:ext cx="2560320" cy="804672"/>
          </a:xfrm>
          <a:prstGeom prst="rect">
            <a:avLst/>
          </a:prstGeom>
          <a:solidFill>
            <a:srgbClr val="000000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92424" y="400507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02C"/>
                </a:solidFill>
              </a:rPr>
              <a:t>6 delay columns had blank strings — converted to proper SQL NULLs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35624" y="1078992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35624" y="1078992"/>
            <a:ext cx="2743200" cy="38404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7064" y="1097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Duplicate Record Check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27064" y="1527048"/>
            <a:ext cx="2560320" cy="237744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1572768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YEAR, MONTH, DAY,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AIRLINE, FLIGHT_NUMBER,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ORIGIN_AIRPORT,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DESTINATION_AIRPORT,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SCHEDULED_DEPARTURE,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cnt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flights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YEAR,MONTH,DAY,...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C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1;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27064" y="3959352"/>
            <a:ext cx="2560320" cy="804672"/>
          </a:xfrm>
          <a:prstGeom prst="rect">
            <a:avLst/>
          </a:prstGeom>
          <a:solidFill>
            <a:srgbClr val="000000"/>
          </a:solidFill>
          <a:ln w="12700">
            <a:solidFill>
              <a:srgbClr val="2F85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0216" y="400507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02C"/>
                </a:solidFill>
              </a:rPr>
              <a:t>No duplicates found — dataset confirmed clean for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&amp;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</a:rPr>
              <a:t>Key analytical queries performed on the dataset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1155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</a:rPr>
              <a:t>Total Flights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444752"/>
            <a:ext cx="25603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49047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total_flights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flights;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1078992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1155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</a:rPr>
              <a:t>Avg Departure Delay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19272" y="1444752"/>
            <a:ext cx="25603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2424" y="149047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AVG(DEPARTURE_DELAY)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avg_delay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flights;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35624" y="1078992"/>
            <a:ext cx="2743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45352" y="11155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</a:rPr>
              <a:t>Cancellation Rate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27064" y="1444752"/>
            <a:ext cx="25603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49047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(COUNT(CASE WHEN CANCELLED=1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THEN 1 END)*100.0)/COUNT(*)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cancellation_rate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flights;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834640"/>
            <a:ext cx="8503920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34640"/>
            <a:ext cx="8503920" cy="347472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8346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 VIEW flight_analysis  —  Core Analysis 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236976"/>
            <a:ext cx="82296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flight_analysis 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WHEN DEPARTURE_DELAY &lt;= 0 THEN 'On Time'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WHEN DEPARTURE_DELAY BETWEEN 1 AND 15 THEN 'Minor Delay'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ELSE 'Major Delay' END AS DELAY_STATUS,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CANCELLATION_REASON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WHEN 'A' THEN 'Airline'  WHEN 'B' THEN 'Weather'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WHEN 'C' THEN 'NAS'      WHEN 'D' THEN 'Security'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ELSE 'Not Cancelled' END AS CANCELLATION_REASON_TEXT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5D3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flights;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Data Modeling &amp; DAX Measures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</a:rPr>
              <a:t>Building the analytical model in Power BI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40233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E"/>
                </a:solidFill>
              </a:rPr>
              <a:t>Data Relationship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1645920" cy="1463040"/>
          </a:xfrm>
          <a:prstGeom prst="rect">
            <a:avLst/>
          </a:prstGeom>
          <a:solidFill>
            <a:srgbClr val="EBF8FF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9105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8E5"/>
                </a:solidFill>
              </a:rPr>
              <a:t>airports.csv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92024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IATA_CODE (PK)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AIRPORT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CITY, STATE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LATITUDE, LONGITUDE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1572768"/>
            <a:ext cx="1645920" cy="1463040"/>
          </a:xfrm>
          <a:prstGeom prst="rect">
            <a:avLst/>
          </a:prstGeom>
          <a:solidFill>
            <a:srgbClr val="F0FFF4"/>
          </a:solidFill>
          <a:ln w="254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59105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855A"/>
                </a:solidFill>
              </a:rPr>
              <a:t>airlines.csv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87168" y="19202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IATA_CODE (PK)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AIRLINE (Full Name)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3456432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456432"/>
            <a:ext cx="356616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474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flightsoutput.csv  (FACT TABLE  — 5.8M rows)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8404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ORIGIN_AIRPORT → airports[IATA_CODE]   |   AIRLINE → airlines[IATA_CODE]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41330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One-to-Many cardinality  |  Cross-filter enabled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34440" y="30632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88E5"/>
                </a:solidFill>
              </a:rPr>
              <a:t>▼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154680" y="30632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F855A"/>
                </a:solidFill>
              </a:rPr>
              <a:t>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26280" y="1078992"/>
            <a:ext cx="429768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26280" y="1078992"/>
            <a:ext cx="4297680" cy="347472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107899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DAX Measures Created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1508760"/>
            <a:ext cx="4114800" cy="50292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1545336"/>
            <a:ext cx="3977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Flights = COUNT(flightsoutput[id])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048256"/>
            <a:ext cx="4114800" cy="50292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2084832"/>
            <a:ext cx="3977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Cancelled Flights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CALCULATE(COUNT(flightsoutput[id]),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flightsoutput[CANCELLED] = 1)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2587752"/>
            <a:ext cx="4114800" cy="50292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0872" y="2624328"/>
            <a:ext cx="3977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Departure Delay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AVERAGE(flightsoutput[DEPARTURE_DELAY])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3127248"/>
            <a:ext cx="4114800" cy="50292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3163824"/>
            <a:ext cx="3977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Arrival Delay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AVERAGE(flightsoutput[ARRIVAL_DELAY])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17720" y="3666744"/>
            <a:ext cx="4114800" cy="50292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0872" y="3703320"/>
            <a:ext cx="3977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Time Flights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CALCULATE(COUNT(flightsoutput[id]),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flightsoutput[DEPARTURE_DELAY] &lt;= 0)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4206240"/>
            <a:ext cx="4114800" cy="50292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4242816"/>
            <a:ext cx="3977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Flights_date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DATE(flightsoutput[YEAR],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flightsoutput[MONTH], flightsoutput[DAY])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KPIs &amp; Visuals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</a:rPr>
              <a:t>What the dashboard displays and how it was built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162763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7899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Total Flights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C0"/>
                </a:solidFill>
              </a:rPr>
              <a:t>5.8M+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196596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</a:rPr>
              <a:t>COUNT of all flight records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48256" y="1078992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48256" y="1078992"/>
            <a:ext cx="1627632" cy="25603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107899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Avg Departure Delay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48256" y="137160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3E3E"/>
                </a:solidFill>
              </a:rPr>
              <a:t>~11 min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048256" y="196596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</a:rPr>
              <a:t>AVERAGE(DEPARTURE_DELAY)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76472" y="1078992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76472" y="1078992"/>
            <a:ext cx="1627632" cy="25603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76472" y="107899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Avg Arrival Delay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76472" y="137160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D6B20"/>
                </a:solidFill>
              </a:rPr>
              <a:t>~6 min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776472" y="196596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</a:rPr>
              <a:t>AVERAGE(ARRIVAL_DELAY)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04688" y="1078992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04688" y="1078992"/>
            <a:ext cx="1627632" cy="25603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107899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On-Time Flights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04688" y="137160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855A"/>
                </a:solidFill>
              </a:rPr>
              <a:t>&gt; 55%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504688" y="196596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</a:rPr>
              <a:t>DEPARTURE_DELAY ≤ 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32904" y="1078992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32904" y="1078992"/>
            <a:ext cx="1627632" cy="256032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2904" y="107899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Cancelled Flights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32904" y="137160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05AD5"/>
                </a:solidFill>
              </a:rPr>
              <a:t>~1.5%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232904" y="196596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</a:rPr>
              <a:t>CANCELLED = 1 count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2651760"/>
            <a:ext cx="4160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27157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E"/>
                </a:solidFill>
              </a:rPr>
              <a:t>Dashboard Visuals Built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3072384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KPI Cards — Total Flights, Delays, Cancellations, On-Time %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Bar Chart — Airline-wise average departure delay comparison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Pie / Donut Chart — Cancellation reason breakdown (A/B/C/D)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Line Chart — Monthly flight count and delay trends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Map Visual — Airport locations using Latitude / Longitude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Slicers — Filter by Airline, Month, Year, Origin Airport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Stacked Bar — Delay type distribution (Weather / NAS / Security / Airline)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2651760"/>
            <a:ext cx="4160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00600" y="27157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E"/>
                </a:solidFill>
              </a:rPr>
              <a:t>Interactive Features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00600" y="3072384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Cross-filtering — clicking a chart filters all other visuals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Airline name lookup via airlines table relationship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Airport geo-mapping via airports latitude/longitude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Date hierarchy — drill down by Year → Month → Day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Custom date column Flights_date for time intelligence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Analysis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</a:rPr>
              <a:t>Business findings from the dashboard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420624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106424"/>
            <a:ext cx="329184" cy="32918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" y="1164031"/>
            <a:ext cx="213970" cy="21397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0392" y="113385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Airline Performance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517904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Significant variation in on-time performance across airlines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Some carriers show consistently higher avg departure delays (&gt; 15 min)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Low-cost carriers tend to have higher delay frequencies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Airlines with fewer routes show better punctuality metrics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07899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078992"/>
            <a:ext cx="420624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18888" y="1106424"/>
            <a:ext cx="329184" cy="32918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495" y="1164031"/>
            <a:ext cx="213970" cy="21397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39512" y="113385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Delay Root Causes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846320" y="1517904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Weather delays: uncontrollable but seasonally predictable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Airline operational issues: the largest controllable delay cause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NAS (National Airspace System): air traffic control related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Late aircraft cascades — one delayed flight causes downstream delays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20040" y="299923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2999232"/>
            <a:ext cx="4206240" cy="38404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29768" y="3026664"/>
            <a:ext cx="329184" cy="32918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" y="3084271"/>
            <a:ext cx="213970" cy="21397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0392" y="30540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Monthly &amp; Seasonal Trends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3438144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Summer months (June–August) show peak delay rates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Winter weather months (December–January) cause cancellations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Spring and Fall show relatively better on-time performance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Holiday seasons correlate with higher passenger volumes &amp; delays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709160" y="299923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9160" y="2999232"/>
            <a:ext cx="4206240" cy="384048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818888" y="3026664"/>
            <a:ext cx="329184" cy="32918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495" y="3084271"/>
            <a:ext cx="213970" cy="21397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39512" y="30540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Cancellation Analysis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846320" y="3438144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~1.5% overall cancellation rate across 5.8M flights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Weather (B) and Airline ops (A) are top cancellation causes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NAS cancellations (C) represent air traffic management failures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Security cancellations (D) are extremely rare outliers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598931-1959-159E-35D3-59EC2E04A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67" y="188789"/>
            <a:ext cx="8669814" cy="45823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1646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9B4530-CB12-6140-7D02-5C9B0BA661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245" y="1131570"/>
            <a:ext cx="5731510" cy="28803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8333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Outcomes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</a:rPr>
              <a:t>What was successfully achieved in this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269748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99032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" y="1511046"/>
            <a:ext cx="416052" cy="4160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33502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65C0"/>
                </a:solidFill>
              </a:rPr>
              <a:t>5.8M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1234440" y="190195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</a:rPr>
              <a:t>Records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</a:rPr>
              <a:t>Processed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27832" y="107899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27832" y="1078992"/>
            <a:ext cx="2697480" cy="7315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64992" y="1399032"/>
            <a:ext cx="640080" cy="64008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006" y="1511046"/>
            <a:ext cx="416052" cy="4160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42232" y="133502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F855A"/>
                </a:solidFill>
              </a:rPr>
              <a:t>31</a:t>
            </a:r>
            <a:endParaRPr lang="en-US" sz="3200" dirty="0"/>
          </a:p>
        </p:txBody>
      </p:sp>
      <p:sp>
        <p:nvSpPr>
          <p:cNvPr id="17" name="Text 13"/>
          <p:cNvSpPr/>
          <p:nvPr/>
        </p:nvSpPr>
        <p:spPr>
          <a:xfrm>
            <a:off x="4142232" y="190195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</a:rPr>
              <a:t>Column Schema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</a:rPr>
              <a:t>Designed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35624" y="107899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35624" y="1078992"/>
            <a:ext cx="2697480" cy="73152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72784" y="1399032"/>
            <a:ext cx="640080" cy="640080"/>
          </a:xfrm>
          <a:prstGeom prst="ellipse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798" y="1511046"/>
            <a:ext cx="416052" cy="4160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50024" y="133502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05AD5"/>
                </a:solidFill>
              </a:rPr>
              <a:t>6</a:t>
            </a:r>
            <a:endParaRPr lang="en-US" sz="3200" dirty="0"/>
          </a:p>
        </p:txBody>
      </p:sp>
      <p:sp>
        <p:nvSpPr>
          <p:cNvPr id="23" name="Text 18"/>
          <p:cNvSpPr/>
          <p:nvPr/>
        </p:nvSpPr>
        <p:spPr>
          <a:xfrm>
            <a:off x="7050024" y="190195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</a:rPr>
              <a:t>DAX Measures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</a:rPr>
              <a:t>Created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20040" y="295351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20040" y="2953512"/>
            <a:ext cx="2697480" cy="7315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57200" y="3273552"/>
            <a:ext cx="640080" cy="64008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214" y="3385566"/>
            <a:ext cx="416052" cy="41605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34440" y="320954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D6B20"/>
                </a:solidFill>
              </a:rPr>
              <a:t>5</a:t>
            </a:r>
            <a:endParaRPr lang="en-US" sz="3200" dirty="0"/>
          </a:p>
        </p:txBody>
      </p:sp>
      <p:sp>
        <p:nvSpPr>
          <p:cNvPr id="29" name="Text 23"/>
          <p:cNvSpPr/>
          <p:nvPr/>
        </p:nvSpPr>
        <p:spPr>
          <a:xfrm>
            <a:off x="1234440" y="3776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</a:rPr>
              <a:t>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</a:rPr>
              <a:t>Visual Types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227832" y="295351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27832" y="2953512"/>
            <a:ext cx="2697480" cy="7315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364992" y="3273552"/>
            <a:ext cx="640080" cy="640080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7006" y="3385566"/>
            <a:ext cx="416052" cy="41605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142232" y="320954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69E2E"/>
                </a:solidFill>
              </a:rPr>
              <a:t>3</a:t>
            </a:r>
            <a:endParaRPr lang="en-US" sz="3200" dirty="0"/>
          </a:p>
        </p:txBody>
      </p:sp>
      <p:sp>
        <p:nvSpPr>
          <p:cNvPr id="35" name="Text 28"/>
          <p:cNvSpPr/>
          <p:nvPr/>
        </p:nvSpPr>
        <p:spPr>
          <a:xfrm>
            <a:off x="4142232" y="3776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</a:rPr>
              <a:t>Datasets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</a:rPr>
              <a:t>Linked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135624" y="295351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135624" y="2953512"/>
            <a:ext cx="269748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272784" y="3273552"/>
            <a:ext cx="640080" cy="64008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4798" y="3385566"/>
            <a:ext cx="416052" cy="41605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050024" y="320954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53E3E"/>
                </a:solidFill>
              </a:rPr>
              <a:t>100%</a:t>
            </a:r>
            <a:endParaRPr lang="en-US" sz="3200" dirty="0"/>
          </a:p>
        </p:txBody>
      </p:sp>
      <p:sp>
        <p:nvSpPr>
          <p:cNvPr id="41" name="Text 33"/>
          <p:cNvSpPr/>
          <p:nvPr/>
        </p:nvSpPr>
        <p:spPr>
          <a:xfrm>
            <a:off x="7050024" y="3776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</a:rPr>
              <a:t>Clean Dataset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</a:rPr>
              <a:t>Delivered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solidFill>
            <a:srgbClr val="0D3B6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35"/>
          <p:cNvSpPr/>
          <p:nvPr/>
        </p:nvSpPr>
        <p:spPr>
          <a:xfrm>
            <a:off x="457200" y="468172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Successfully transformed 5.8M raw flight records into actionable business intelligence using MySQL + Power BI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</a:rPr>
              <a:t>Roadmap for extending this project further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4206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420624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78992"/>
            <a:ext cx="77724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3385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15214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Hadoop / Big Data Integration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517904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Load the 5.8M dataset into HDFS (Hadoop Distributed File System)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Use Apache Hive for SQL-like querying on distributed data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Compare performance: MySQL vs Hive query execution times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78992"/>
            <a:ext cx="4206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78992"/>
            <a:ext cx="4206240" cy="38404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078992"/>
            <a:ext cx="77724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13385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50408" y="115214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 &amp; Advanced Analytics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517904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Use Pandas &amp; NumPy for in-depth statistical delay analysis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Build ML models (Linear Regression, Random Forest) to predict delays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Apply time series forecasting (ARIMA) for seasonal delay prediction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980944"/>
            <a:ext cx="4206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80944"/>
            <a:ext cx="4206240" cy="384048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980944"/>
            <a:ext cx="77724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3580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61288" y="305409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Real-Time &amp; Cloud Integration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419856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Integrate real-time flight data via FAA / FlightAware APIs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Deploy MySQL on AWS RDS or Azure for cloud scalability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Build automated data refresh pipelines in Power BI Service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980944"/>
            <a:ext cx="4206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980944"/>
            <a:ext cx="420624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980944"/>
            <a:ext cx="77724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03580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50408" y="305409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 &amp; Reporting Improvements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419856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Add passenger satisfaction and baggage delay correlations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Implement row-level security in Power BI for multi-airline access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18096"/>
                </a:solidFill>
              </a:rPr>
              <a:t>Build a public-facing web dashboard using Power BI Embedded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25603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CBD5E0"/>
                </a:solidFill>
              </a:rPr>
              <a:t>PROJECT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kern="0" spc="300" dirty="0">
                <a:solidFill>
                  <a:srgbClr val="CBD5E0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474720" y="32004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474720" y="1051560"/>
            <a:ext cx="5394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analyzed 5.8 million US airline flight records end-to-end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Overcame real-world data engineering challenges (timeouts, large files, nulls)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Bash used innovatively to split oversized CSV beyond Excel/MySQL limits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provided robust storage and SQL-based analytical capabilities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transformed raw data into an interactive, insightful dashboard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demonstrates industry-level proficiency in SQL, BI, and data pipelines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74720" y="4023360"/>
            <a:ext cx="589788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0" y="4023360"/>
            <a:ext cx="5897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8E5"/>
                </a:solidFill>
              </a:rPr>
              <a:t>SQL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74236" y="4023360"/>
            <a:ext cx="1956816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74236" y="4023360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8E5"/>
                </a:solidFill>
              </a:rPr>
              <a:t>Data Engineering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40780" y="4023360"/>
            <a:ext cx="1115568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40780" y="402336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8E5"/>
                </a:solidFill>
              </a:rPr>
              <a:t>Power BI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66076" y="4023360"/>
            <a:ext cx="589788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66076" y="4023360"/>
            <a:ext cx="5897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8E5"/>
                </a:solidFill>
              </a:rPr>
              <a:t>DAX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74720" y="4370832"/>
            <a:ext cx="1115568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0" y="437083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8E5"/>
                </a:solidFill>
              </a:rPr>
              <a:t>Big Data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00016" y="4370832"/>
            <a:ext cx="2167128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00016" y="4370832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8E5"/>
                </a:solidFill>
              </a:rPr>
              <a:t>Data Visualization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76872" y="4370832"/>
            <a:ext cx="1115568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76872" y="437083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8E5"/>
                </a:solidFill>
              </a:rPr>
              <a:t>Git Bash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4114800"/>
            <a:ext cx="3657600" cy="365760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-457200"/>
            <a:ext cx="2194560" cy="21945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214884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BD5E0"/>
                </a:solidFill>
              </a:rPr>
              <a:t>US Airlines Performance &amp; Delay Analysis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28803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358</TotalTime>
  <Words>2369</Words>
  <Application>Microsoft Office PowerPoint</Application>
  <PresentationFormat>On-screen Show (16:9)</PresentationFormat>
  <Paragraphs>448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Consolas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Airlines Performance and Delay Analysis</dc:title>
  <dc:subject>PptxGenJS Presentation</dc:subject>
  <dc:creator>PptxGenJS</dc:creator>
  <cp:lastModifiedBy>praveena relangi</cp:lastModifiedBy>
  <cp:revision>3</cp:revision>
  <dcterms:created xsi:type="dcterms:W3CDTF">2026-05-25T09:07:47Z</dcterms:created>
  <dcterms:modified xsi:type="dcterms:W3CDTF">2026-06-13T19:06:36Z</dcterms:modified>
</cp:coreProperties>
</file>